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Recibir a la sala. La lámina está en pantalla mientras los participantes llegan; no se presenta.
TIEMPO: Previo al inicio y 0:00–0:02 (palabras de la CHRO).
GUION DEL FACILITADOR: Sin guion. Los facilitadores saludan en la puerta y dirigen a cada persona a su mesa asignada (la CHRO en una mesa sin reportes directos, D-13). Cada lugar tiene el cuaderno cerrado. Los sobres del trabajo previo los guarda B y los entrega en mano durante el Acto 11 (D-20).
PUNTOS A CERRAR
PREGUNTA: —
RESPUESTA ESPERADA: —
TRANSICIÓN: La CHRO abre con 2 minutos (D-09): por qué esta conversación importa al negocio y que participará como una directora más. Facilitador A la presenta en una línea.
NOTAS PARA LOS FACILITADORES
LIDERA: CHRO (2 min) → Facilitador A.
PRINCIPIO RECTOR: Personas distintas no necesitan estándares distintos. Pueden necesitar un liderazgo distinto.
GUÍA PARA LA CHRO (D-21): como titular de RH, el riesgo es que la sala lo lea como "otro programa de RH". Hablar de negocio (sucesión en posiciones críticas de turno, conocimiento que se jubila, seguridad, retención de talento temprano) y de su propio interés en la conversación; no anticipar conclusiones ni hablar de "las nuevas generaciones".
[POR CONFIRMAR]
Propuesta para aprobación de la CHRO: que un director de Operaciones respetado co-abra 1 minuto con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Nombrar la frase de pasillo sin juzgarla y abrir curiosidad. El taller empieza donde está la sala, no donde RH quisiera que estuviera.
TIEMPO: 0:02–0:04 (2 min).
GUION DEL FACILITADOR: A: "Seguramente todos la hemos escuchado. Algunos la hemos dicho. Probablemente también la dijeron de nosotros cuando teníamos 25 años. No venimos a decir que la pregunta está mal. Venimos a ver si es la pregunta que más nos sirve para liderar. Al final de la sesión les vamos a proponer otra."
PUNTOS A CERRAR
PREGUNTA: Pregunta retórica; no se abre a respuesta.
RESPUESTA ESPERADA: Sonrisas de reconocimiento; algún comentario tipo "la hacemos diario". No se discute todavía.
TRANSICIÓN: "Para llegar a esa otra pregunta vamos a trabajar de una forma particular."
NOTAS PARA LOS FACILITADORES
LIDERA: A.
NO DECIR: "Hoy vamos a aprender…", "Como líderes debemos entender…". El tono es de 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Dar el mapa de la sesión y el tipo de experiencia: más conversación que exposición.
TIEMPO: 0:04–0:06 (2 min).
GUION DEL FACILITADOR: A: "Tres horas. Pocas láminas de contenido y muchas preguntas. Vamos a empezar con ustedes, no con las generaciones. Luego veremos qué dice la evidencia —y les adelanto que algunas cosas que creemos no se sostienen, en ninguna dirección—. Después vamos a practicar con casos de planta. Y vamos a terminar con una decisión concreta: una persona, una conversación, en siete días."
PUNTOS A CERRAR
PREGUNTA: —
RESPUESTA ESPERADA: Atención; algunos escépticos esperando "el curso de RH". El mensaje "en ninguna dirección" reduce la sospecha de que el taller defiende a los jóvenes.
TRANSICIÓN: "Para que funcione necesitamos tres acuerdos."
NOTAS PARA LOS FACILITADORES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Crear seguridad psicológica, especialmente con la CHRO en la sala y con facilitadores que le reportan (D-13).
TIEMPO: 0:06–0:08 (2 min).
GUION DEL FACILITADOR: A (con la CHRO asintiendo): "Primero: lo que se dice aquí se puede usar, pero no se atribuye. Nadie sale con una opinión sobre lo que dijo otra persona. Segundo: se vale disentir, también de nosotros y de los datos. Tercero: cualquiera puede decir 'paso', sin explicar por qué. Nada de lo que escriban en su cuaderno se recoge ni se comparte; tampoco con [CHRO], y ella está de acuerdo. Y una petición práctica: teléfonos boca abajo; los vemos en el receso." (La CHRO lo modela.)
PUNTOS A CERRAR
PREGUNTA: "¿Alguien quiere agregar un acuerdo?"
RESPUESTA ESPERADA: Normalmente nadie agrega. Si alguien pide "que no sea teoría", aceptarlo como acuerdo.
TRANSICIÓN: Relevo A → B con una observación: "Empecemos por lo más cercano: cómo reaccionamos nosotros."
NOTAS PARA LOS FACILITADORES
LIDERA: A. La CHRO confirma verbalmente el acuerdo de confidencialidad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experiencia: el taller empieza por los directores, no por las generaciones.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Que cada director vea su respuesta por defecto antes de hablar de generaciones (Idea 1).
TIEMPO: Versión corta: 1 min instrucción + 6 min respuesta (8 situaciones: se omiten la 5 y la 9).
GUION DEL FACILITADOR: B (guion obligatorio, D-16): "Esto no es una prueba y no mide personalidad. Tampoco tiene nada que ver con edad. Son diez situaciones que ustedes conocen. Elijan lo que realmente harían primero, un martes con la agenda llena, no lo que creen que es correcto. Las cuatro opciones son respuestas que buenos líderes usan todos los días. El resultado es suyo: no se entrega, no se recoge, no se compara." A los 6 minutos: "Dos minutos más."
PUNTOS A CERRAR
PREGUNTA: —
RESPUESTA ESPERADA: Silencio y concentración. Algunas personas preguntan "¿y si haría dos cosas?": "Elijan la primera."
TRANSICIÓN: "Vamos a ver qué dice su hoja de puntuación."
NOTAS PARA LOS FACILITADORES
LIDERA: B. A observa ritmo de la sala.
PRECEDENTE: el liderazgo situacional (Hersey y Blanchard, 1969) propuso adaptar el estilo a la situación; su validación empírica como modelo prescriptivo es limitada (Thompson y Vecchio, 2009). Tomamos la idea de adaptar, no la promesa de 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Autopuntuación rápida y lectura no evaluativa del resultado.
TIEMPO: 0:18–0:21 (3 min).
GUION DEL FACILITADOR: B: "Abran la solapa de puntuación. Encierren la letra que eligieron en cada fila; la columna les dice qué respuesta fue. Sumen. Su respuesta por defecto es la columna más alta. Su rango es cuántas columnas tienen dos o más. Sus detonadores son las situaciones que marcaron con 3 o 4." Y al terminar: "Lo que obtienen es una foto de cómo leyeron diez situaciones hoy. No es quiénes son. Sirve para una pregunta: ¿tengo más de una respuesta disponible cuando la situación lo pide?"
PUNTOS A CERRAR
PREGUNTA: —
RESPUESTA ESPERADA: Sorpresa en algunos ("salí muy DIRIGIR", "casi no EXPLORO"). Prohibido pedir manos por estilo o hacer conteos de sala (D-16).
TRANSICIÓN: "Compártanlo con la persona de al lado. Solo lo que quieran."
NOTAS PARA LOS FACILITADORES
LIDERA: B.
CLAVE DE PUNTUACIÓN: está en el cuaderno (solapa). Versión corta: 8 situaciones (se omiten 5 y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en pares y plenaria breve; instalar la Idea 1: las mismas palabras significan cosas distintas según dónde y cuándo aprendimos a trabajar.
TIEMPO: 0:21–0:28 (5 min pares + 2 min plenaria).
GUION DEL FACILITADOR: B: "En pares, cinco minutos: ¿qué les sorprendió de su resultado? ¿Qué situación los incomodó más y por qué?" Plenaria (2 min, dos o tres voces, voluntaria): A pregunta "¿Qué significa para ustedes 'compromiso'? ¿Y qué creen que significa para la persona más nueva de su equipo?" y cierra: "Cada uno de nosotros aprendió qué significa trabajo duro, respeto o compromiso en un lugar y en un momento. Eso es nuestro sistema operativo. Funciona. El riesgo es creer que es el único que existe. Por ejemplo, para alguien 'respeto' es no cuestionar al jefe en público; para otra persona es que el jefe le explique el porqué."
PUNTOS A CERRAR
PREGUNTA: "¿Qué significa para ustedes 'compromiso'? ¿Y qué creen que significa para la persona más nueva de su equipo?" (única pregunta de plenaria; "¿qué les sorprendió?" se queda en pares).
RESPUESTA ESPERADA: "Compromiso es estar cuando se necesita / quedarse hasta que salga." Contraste: "entregar lo acordado con calidad". Ambas son legítimas.
TRANSICIÓN: A: "Ahora vamos a escuchar a alguien que tiene una opinión muy clara sobre esto."
NOTAS PARA LOS FACILITADORES
LIDERA: B (pares) → A (cierre de Idea 1).
RELEVO: B comparte una observación de sala ("En varias mesas escuché que…") y A la conecta con la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provocación y evidencia.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Encuadrar el video como provocación y no como evidencia (D-18), antes de proyectarlo.
TIEMPO: 0:28–0:34 (1 min encuadre + ≤5 min video).
GUION DEL FACILITADOR: A: "Vamos a ver un fragmento de Simon Sinek, un divulgador muy escuchado en temas de liderazgo. Es una opinión popular; algunas cosas les van a resonar y otras no tienen respaldo. No se los vamos a explicar. Después queremos saber qué piensan ustedes." Se proyecta el fragmento. Al terminar, silencio de 3 segundos.
PUNTOS A CERRAR
PREGUNTA: —
RESPUESTA ESPERADA: Asentimientos en las partes sobre empresas y liderazgo; posibles risas o incomodidad en las partes sobre jóvenes y celulares.
TRANSICIÓN: B: "Cuatro preguntas para sus mesas."
NOTAS PARA LOS FACILITADORES
LIDERA: A (encuadre) · B opera el video.
COMPROMISO CON LA CHRO (D-13): sabe de antemano que el taller cuestionará algunas afirmaciones del video.
Archivo local con licencia o la copia de la CHRO, con subtítulos en español incrustados (.srt revisado); los subtítulos automáticos de YouTube no funcionan sin conexión. Fragmento congelado en T–14. Respaldo: laptop 2 → streaming por la red del recinto → A resume el argumento en voz (máx. 2 min).
[POR CONFIRMAR]
Fragmento exacto contra el video que proporcionó la CHRO (D-01); tiempos sugeridos ≈10:00–14:30 de la entrevista de 2016 (aproximados). Recomendación del equipo de evidencia: usar el segmento donde Sinek pone la responsabilidad en las empresas y los líderes (≈10:00–final de la entrevista de 2016), no los segmentos de crianza y dopamina, que generalizan de forma negativa sobre una generación sin evidencia. Alternativa si la CHRO proporcionó otra pieza: Nordic Business Forum 2025 ("We gave them no loyalty…") — acceso por membresía.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Que la sala formule sus propias reacciones. Los facilitadores permanecen neutrales y hacen visibles las respuestas.
TIEMPO: 0:34–0:43 (6 min mesa + 3 min captura).
GUION DEL FACILITADOR: B: "Seis minutos. Una persona de cada mesa escribe una frase por pregunta en su tarjeta." Luego, en plenaria, B recoge una frase por mesa y la escribe textual en el rotafolio "Lo que escuchamos". A solo agradece. Pregunta de seguimiento en plenaria (D-18): "¿Qué de lo que dice aplica a cualquier persona, de cualquier edad?"
PUNTOS A CERRAR
PREGUNTA: ¿Qué cambió: la gente o el trato?
RESPUESTA ESPERADA: Acuerdo: "las empresas también cambiaron", "los jefes no desarrollamos". Incomodidad: "no todos los jóvenes son así", "nosotros también pasamos por eso". Lo que no ve: "la realidad de México / de planta", "que el mercado laboral cambió".
TRANSICIÓN: A: "No vamos a responder hoy quién tiene razón. Vamos a regresar a este rotafolio en una hora." B: "Mientras tanto, pongamos a prueba lo que creemos."
NOTAS PARA LOS FACILITADORES
LIDERA: B (mesas y captura) · A (cierre neutral).
NO DECIR: "Sinek tiene razón" ni "Sinek se equivoca". NO explicar el video.
Si alguien dice "esto es puro cuento": "Probablemente algo de eso hay. ¿Qué parte sí te resonó?"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Hacer visible, sin sermón, que atribuimos necesidades humanas a una sola generación (Idea 2). La incomodidad la produce la propia sala.
TIEMPO: 0:43–0:50 (1 min instrucción, 3 min colocar, 3 min recorrer).
GUION DEL FACILITADOR: B: "Cada mesa tiene 16 frases que escuchamos todos los días. Colóquenlas en la generación a la que ustedes, con su experiencia, la atribuirían. Una frase, una zona. En silencio, para no negociar la respuesta: si dos personas no coinciden, la coloca quien la tenga en la mano." Si preguntan "¿y si aplica a todas?": "Colócala donde la verías primero." Si alguien la deja en el espacio central vacío, se permite sin comentar.
PUNTOS A CERRAR
PREGUNTA: "Antes de sentarse, recorran el muro: ¿qué generación se ve más cargada? ¿Qué frase aparece en varias zonas?"
RESPUESTA ESPERADA: Acumulación de "Quiero crecer…", "Quiero retroalimentación…" y "Estoy dispuesto a cambiar de empresa…" en Millennials/Z; "Valoro la seguridad económica…" y "Me importa que mi experiencia…" en Boomers/X.
TRANSICIÓN: B, frente al muro con la sala en semicírculo: "¿Qué ven?"
NOTAS PARA LOS FACILITADORES
COLOCACIÓN EN DOS OLEADAS de 90 s (mesas 1–2, luego 3–4/5) para no amontonarse; superficie ≥ 6 m o dos paneles (G2-28). Tarjetas con adhesivo removible, sin número de mesa.
LIDERA: B. A observa qué frases generan duda (personas que caminan entre dos zonas) para usarlas en el cierre reflexivo.
TARJETAS (D-14, en primera persona): 16 necesidades del Paquete de actividades. En 120 min, las primeras 12. En 90 min el Muro se elimina.
NO FOTOGRAFIAR el muro armado (D-14).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Momento pedagógico central del Acto 3. Revelación en 3 pasos (D-14).
TIEMPO: 0:50–0:55 (5 min).
GUION DEL FACILITADOR: Paso 1 · B: "¿Qué ven? ¿Qué patrón aparece?" (2–3 observaciones, sin juicio). Paso 2 · B lee cinco frases, una por una, y pregunta: "¿Quién en esta sala se reconoce en esta frase?" (mano alzada; nadie dice su edad). Las manos se levantan en todas las edades. Paso 3 · Pausa larga. Proyectar la pregunta. Silencio de 5 segundos. No contestar por la sala.
PUNTOS A CERRAR
PREGUNTA: ¿Estamos describiendo generaciones… o seres humanos?
RESPUESTA ESPERADA: "Todos queremos eso." "Lo que cambia es cómo lo pedimos." Algún escéptico: "Es obvio, todos quieren reconocimiento." Validar: "Exacto. Y aun así, ¿dónde la colocamos?"
TRANSICIÓN: B desenrolla el póster central NECESIDADES HUMANAS y, con A, mueve las tarjetas fuera de las zonas.
NOTAS PARA LOS FACILITADORES
LIDERA: B · A lee en voz alta.
NUNCA atribuir tarjetas a personas o mesas. Normalizar: "No es un error de esta sala. Así funciona el cerebro: agrupa para ahorrar energía."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físico y conceptual del Muro: las tarjetas salen de las zonas generacionales y van a una sola columna.
TIEMPO: 0:55–0:57 (2 min).
GUION DEL FACILITADOR: B y A sacan las tarjetas de las zonas generacionales y las pegan en el póster central NECESIDADES HUMANAS. Una línea por tarjeta, nunca más: "Saber que mi trabajo tiene futuro. Lo queremos todos, sobre todo cuando hay incertidumbre." "Crecer y saber mi siguiente paso. Así queríamos crecer nosotros a los 27." "Adoptar una herramienta si veo para qué sirve. Depende mucho de cómo presentamos el cambio." "Que mi experiencia se tome en cuenta. Esa también es de todos." A cierra: "Lo que acabamos de hacer no es un error de esta sala. La pregunta es si queremos liderar con ese atajo. Veamos qué dicen los datos."
PUNTOS A CERRAR
PREGUNTA: Opcional, si hay tiempo: "¿Qué decisiones de liderazgo tomamos en planta con base en la zona donde pusimos una tarjeta?"
RESPUESTA ESPERADA: Reconocimiento; algo de humor. Un director puede decir "la forma sí cambia". Validar: es exactamente el punto.
TRANSICIÓN: A: "Veamos qué dicen los datos. Cinco afirmaciones."
NOTAS PARA LOS FACILITADORES
LIDERA: B (tarjetas) → A (frase de salida y relevo).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Desmontar estereotipos con evidencia antes de explicar contextos (D-03, Idea 2). El voto simultáneo evita la conformidad con el rango.
TIEMPO: 0:57–0:58 (1 min de instrucción; el bloque completo dura 13 min).
GUION DEL FACILITADOR: A: "Cuatro afirmaciones que escuchamos en la industria. Tienen tres segundos para decidir. Cuando cuente tres, todos levantan su tarjeta al mismo tiempo. Nadie mira al vecino antes. Una advertencia: los datos no le dan la razón a nadie en todo. Tampoco a los jóvenes."
PUNTOS A CERRAR
PREGUNTA: —
RESPUESTA ESPERADA: Energía alta; competencia sana.
TRANSICIÓN: "Primera afirmación."
NOTAS PARA LOS FACILITADORES
LIDERA: A · B anuncia la distribución a ojo (no se registra: el dato no alimenta ninguna decisión, G3-13).
RITMO: ≈2 min por afirmación (voto ≈60 s: lectura, voto, distribución y una voz disidente · revelación ≈40–60 s).
REGLA DE CORTE (180): si a la 1:05 no ha iniciado la afirmación 4 (reconocimiento), A la resume en una frase y pasa a la 5, que es obligatoria por D-18.
RESERVA: "La gente ya no quiere trabajar" queda como lámina oculta (comodín) en todas las versiones; su evidencia está en la guía para responder la objeción.
La CHRO vota como cualquier participante y no se le pregunta en plenaria (D-13).
Versiones 120/90: cuatro afirmaciones en pantalla (lealtad, tecnología, jefes y la del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1 de 4.
TIEMPO: ≈60 s (lectura, voto, distribución y una voz disidente).
GUION DEL FACILITADOR: A lee en voz alta: "La Generación Z no tiene lealtad.".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o DEPENDE. Voz disidente típica: "Los de antes también se iban."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"La Generación Z no tiene lealtad." con prudencia, sin sobrecorregir.
TIEMPO: ≈40–60 s (revelación + una frase de A).
GUION DEL FACILITADOR: A: "El dato de Estados Unidos, que es el que tiene series largas, muestra que la mitad de las personas de 25 a 34 años lleva tres años o menos con su empleador… exactamente igual que en 1983. Los que hoy tienen 55 a 64 llevan casi diez. Es la edad, no la generación. Y la lealtad, según la investigación sobre contrato psicológico, sigue a la reciprocidad."
PUNTOS A CERRAR
PREGUNTA: —
RESPUESTA ESPERADA: Asentimientos de reconocimiento ("yo también me moví a los 25"). Alguien: "pero antes no se iban por 15 %". Validar y preguntar: "¿Qué más se ofrecía antes para quedarse?"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
[POR CONFIRMAR]
Cifra BLS de enero de 2026 (publicada el 24-sep-2026) confirmada vía resumen de bls.gov en buscador y nota de prensa; abrir bls.gov/news.release/tenure.nr0.htm antes de imprimir. Si no se confirma: usar 2.7 (enero de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2 de 4.
TIEMPO: ≈60 s (lectura, voto, distribución y una voz disidente).
GUION DEL FACILITADOR: A lee en voz alta: "Los Boomers se resisten a la tecnología.".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Muchos votos DEPENDE; risas de reconocimiento entre directores mayores que usan tecnología intensivamente.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Boomers se resisten a la tecnología." con prudencia, sin sobrecorregir.
TIEMPO: ≈40–60 s (revelación + una frase de A).
GUION DEL FACILITADOR: A: "Un meta-análisis con más de 200 mil personas revisó seis estereotipos sobre trabajadores mayores. Solo uno se sostiene: participan menos en capacitación. Y eso puede deberse a que se les ofrece menos. Resistencia al cambio: no se sostiene. Y un dato para planta: la edad se asocia con mejor desempeño en seguridad."
PUNTOS A CERRAR
PREGUNTA: —
RESPUESTA ESPERADA: Directores mayores sonríen; alguien puede citar un caso de rechazo a SAP. Preguntar: "¿Se le explicó para qué le servía a él?"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reserva (oculta): voto sobre una objeción frecuente.
TIEMPO: ≈60 s (lectura, voto, distribución y una voz disidente).
GUION DEL FACILITADOR: A lee en voz alta: "La gente ya no quiere trabajar.".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Voto dividido. Un director puede decir "en planta cuesta mucho cubrir turnos": validar el dato local y separar disposición de condiciones.
TRANSICIÓN: "Veamos qué dice la evidencia."
NOTAS PARA LOS FACILITADORES
LIDERA: A · B anuncia la distribución.
LÁMINA OCULTA (reserva): se usa solo si un participante plantea esta objeción y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"La gente ya no quiere trabajar." con prudencia, sin sobrecorregir.
TIEMPO: ≈40–60 s (revelación + una frase de A).
GUION DEL FACILITADOR: A: "México es el país de la OCDE donde más horas se trabajan al año. En Estados Unidos, la participación laboral en edad productiva está en máximos de 25 años. Lo que sí está bajo en todo el mundo es el compromiso: uno de cada cinco, y no es cosa de una sola generación. Esa es una conversación de liderazgo."
PUNTOS A CERRAR
PREGUNTA: —
RESPUESTA ESPERADA: Alguien: "en planta no cubrimos turnos". Separar disponibilidad para el trabajo de condiciones del trabajo.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3 de 4.
TIEMPO: ≈60 s (lectura, voto, distribución y una voz disidente).
GUION DEL FACILITADOR: A lee en voz alta: "Los jóvenes no quieren ser jefes.".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La pregunta final suele producir silencio: es el momento más fuerte del bloque. No llenarlo.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jóvenes no quieren ser jefes." con prudencia, sin sobrecorregir.
TIEMPO: ≈40–60 s (revelación + una frase de A).
GUION DEL FACILITADOR: A: "Depende de cómo se pregunte. Si la pregunta es si su meta principal hoy es ser jefe, solo 6 %. Si la pregunta es si les interesa llegar a liderazgo senior algún día, tres de cada cuatro. Lo que rechazan es el costo que ven. Y los datos dicen que el compromiso de los jefes de hoy es el que más cayó." Pausa. Leer la pregunta final.
PUNTOS A CERRAR
PREGUNTA: ¿Qué ven cuando nos ven liderar?
RESPUESTA ESPERADA: Silencio. Algún director: "es que el puesto de jefe sí es pesado". Validar: "Exacto. Eso es lo que ven." No llenar la pausa.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reserva (oculta): voto sobre una objeción frecuente.
TIEMPO: ≈60 s (lectura, voto, distribución y una voz disidente).
GUION DEL FACILITADOR: A lee en voz alta: "Los jóvenes necesitan reconocimiento constante.".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Aquí la sala acierta en parte: reconocerlo aumenta la credibilidad del bloque.
TRANSICIÓN: "Veamos qué dice la evidencia."
NOTAS PARA LOS FACILITADORES
LIDERA: A · B anuncia la distribución.
LÁMINA OCULTA (reserva): se usa solo si un participante plantea esta objeción y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"Los jóvenes necesitan reconocimiento constante." con prudencia, sin sobrecorregir.
TIEMPO: ≈40–60 s (revelación + una frase de A).
GUION DEL FACILITADOR: A: "Aquí la sala tiene algo de razón. Los más jóvenes quieren reconocimiento con más frecuencia. Pero la mitad de Generación X y Boomers también lo quiere varias veces al mes. Y el efecto del reconocimiento aparece en todas las edades. Lo que cambia es cada cuánto y de qué forma."
PUNTOS A CERRAR
PREGUNTA: —
RESPUESTA ESPERADA: La sala acierta en parte; decirlo en voz alta aumenta la credibilidad del bloque: "Aquí tenían razón a medias."
TRANSICIÓN: "Siguiente afirmación."
NOTAS PARA LOS FACILITADORES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Voto simultáneo sobre la afirmación 4 de 4.
TIEMPO: ≈60 s (lectura, voto, distribución y una voz disidente).
GUION DEL FACILITADOR: A lee en voz alta: "Lo quieren todo ya.". "Uno, dos, tres." B anuncia la distribución aproximada ("mayoría ___, unos ___"). A pregunta a una persona que votó distinto a la mayoría: "¿Qué viste tú?"
PUNTOS A CERRAR
PREGUNTA: "¿Qué viste tú?" (a alguien de la minoría; nunca a la CHRO; nunca dos veces seguidas a la misma mesa).
RESPUESTA ESPERADA: Mayoría CIERTO. Contraejemplos de la sala: "yo a los 25 también quería todo ya".
TRANSICIÓN: "Veamos qué dice la evidencia."
NOTAS PARA LOS FACILITADORES
LIDERA: A · B anuncia la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Revelar la evidencia sobre "Lo quieren todo ya." con prudencia, sin sobrecorregir.
TIEMPO: ≈40–60 s (revelación + una frase de A).
GUION DEL FACILITADOR: A: "Esta idea viene del video. Hay algo real: a los 25, casi todos queríamos crecer rápido; los motivos de crecimiento bajan con la edad. Y hay contexto: casi la mitad de la Generación Z no se siente financieramente segura. La prisa se vuelve problema cuando no le mostramos una ruta."
PUNTOS A CERRAR
PREGUNTA: —
RESPUESTA ESPERADA: "Yo a los 25 también quería todo ya." Validar y preguntar: "¿Tenía una ruta visible?"
TRANSICIÓN: A: "Un minuto antes de cerrar este bloque."
NOTAS PARA LOS FACILITADORES
AFIRMACIÓN TOMADA DEL VIDEO (D-18): obligatoria en todas las versiones.
LIDERA: A.
CITAR SIEMPRE qué mide el dato, geografía y año (ver Paquete de evidencia). Datos de EE. UU. = patrón con series largas; decirlo en voz alta.
NO DECIR "los datos demuestran". Decir "se asocia", "coincide", "la evidencia sugiere".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conceptual del Acto 4 (Idea 2): distinguir efecto edad, época y cohorte en lenguaje de directores.
TIEMPO: 1:08–1:10 (1 min escritura + ≈45 s de A).
GUION DEL FACILITADOR: A: "En su cuaderno, en silencio, un minuto: una creencia que traían hoy y que ahora revisarían. ¿Qué decisión de planta tomaron con ella?" Después: "Cuando vemos que alguien joven piensa distinto, puede ser por tres cosas: su edad, la época que todos vivimos, o su generación. Como el año de nacimiento es igual al año de hoy menos la edad, si comparo hoy a alguien de 25 con alguien de 60, matemáticamente no puedo saber si la diferencia es por la edad o por la generación. Es como querer saber si un platillo sabe distinto por la receta o por el horno cuando cambiaste las dos cosas a la vez. Por eso las Academias Nacionales de Estados Unidos concluyeron en 2020 que gestionar por generación no está respaldado por la investigación. No es que las generaciones no existan: explican mucho menos de lo que creemos." Cierre: "Si los datos no confirman la mayoría de lo que creemos, la pregunta no es qué les pasa a los jóvenes. Es qué cambió alrededor de todos."
PUNTOS A CERRAR
PREGUNTA: En silencio (1 min): una creencia que traía hoy y que ahora revisaría. ¿Qué decisión de planta tomé con ella?
RESPUESTA ESPERADA: Escritura concentrada. Si alguien comenta: "Todas eran generalizaciones." "Casi todo era edad." Algún ingeniero puede preguntar por Twenge (2010): "Sí hay estudios que encuentran algunas diferencias, sobre todo en el valor del tiempo libre; aun ahí el tamaño es moderado y no dice nada de la persona que tienes enfrente."
TRANSICIÓN: A: "Diez minutos de receso. Al regresar: qué cambió en el mundo al que cada uno entró a trabajar."
NOTAS PARA LOS FACILITADORES
LIDERA: A.
NO DECIR "las generaciones no existen" (sobrecorrección; Gate 1, R12).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Receso con una pregunta que prepara el Acto 5.
TIEMPO: 1:10–1:20 (10 min).
GUION DEL FACILITADOR: A: "Diez minutos. Les dejamos una pregunta para el café." Los facilitadores escuchan conversaciones sin intervenir y recogen frases para el Acto 5.
PUNTOS A CERRAR
PREGUNTA: La de la lámina.
RESPUESTA ESPERADA: Conversaciones informales sobre recortes, cambios de dueño y crisis vividas.
TRANSICIÓN: A reinicia puntual con la lámina de contextos.
NOTAS PARA LOS FACILITADORES
LIDERA: A · B reacomoda la sala y verifica el rotafolio del Acto 2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contexto y necesidades.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Reencuadrar las generaciones como contextos (D-17): entender experiencias formativas sin etiquetar a personas.
TIEMPO: Versión corta: 30 s; las cuatro láminas de contexto están ocultas y A enuncia en una frase que cada generación entró a un mundo distinto.
GUION DEL FACILITADOR: A: "Ahora sí vamos a hablar de generaciones, pero de otra forma: no de cómo son, sino del mundo que encontraron cuando entraron a trabajar. Esto describe el entorno, no a las personas. Mientras vemos cada uno, ubíquense: ¿cuál fue el suyo? ¿Y el de la persona más nueva de su equipo?"
PUNTOS A CERRAR
PREGUNTA: —
RESPUESTA ESPERADA: Curiosidad; directores ubicando su propia historia.
TRANSICIÓN: "Empecemos por quienes entraron a trabajar entre los sesenta y mediados de los ochenta."
NOTAS PARA LOS FACILITADORES
LIDERA: A. Máximo 2 minutos por contexto.
Principio (Gate 1, R11): "Lo que digamos de quien no está en esta sala es una hipótesis que hay que verificar con esa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1 de 4. Generar comprensión de experiencias formativas, no etiquetas.
TIEMPO: 1:20:30 (≈1:20).
GUION DEL FACILITADOR: A lee solo tres hitos de "El mundo al que entraron", con una historia local si la sala la conoce (Fundidora, SICARTSA, cambios de dueño). Luego lee solo el recuadro "Lo que un líder no debería suponer". 
PUNTOS A CERRAR
PREGUNTA: (Opcional, solo si sobra tiempo) "¿Quién entró a trabajar en este contexto? ¿Qué aprendió de él sobre la lealtad?"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2 de 4. Generar comprensión de experiencias formativas, no etiquetas.
TIEMPO: 1:21:50 (≈1:20).
GUION DEL FACILITADOR: A lee solo tres hitos de "El mundo al que entraron", con una historia local si la sala la conoce (Fundidora, SICARTSA, cambios de dueño). Luego lee solo el recuadro "Lo que un líder no debería suponer". 
PUNTOS A CERRAR
PREGUNTA: (Opcional, solo si sobra tiempo) "¿Quién vivió un cambio de dueño? ¿Qué le enseñó sobre las promesas de la empresa?"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3 de 4. Generar comprensión de experiencias formativas, no etiquetas.
TIEMPO: 1:23:10 (≈1:20).
GUION DEL FACILITADOR: A lee solo tres hitos de "El mundo al que entraron", con una historia local si la sala la conoce (Fundidora, SICARTSA, cambios de dueño). Luego lee solo el recuadro "Lo que un líder no debería suponer". Subrayar: "Muchos Millennials ya son jefes y directores: en esta sala hay algunos."
PUNTOS A CERRAR
PREGUNTA: (Opcional, solo si sobra tiempo) "¿Qué le pasó a su primer empleo en 2008–2009?"
RESPUESTA ESPERADA: Historias personales breves. Si alguien empieza a generalizar ("los de ahora…"), A pregunta: "¿Qué conducta concreta observaste? ¿Qué más podría explicarla?"
TRANSICIÓN: "Siguiente contexto."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Contexto de entrada al trabajo 4 de 4. Generar comprensión de experiencias formativas, no etiquetas.
TIEMPO: 1:24:30–1:28 (1 min lámina + 2 min en pares).
GUION DEL FACILITADOR: A lee solo tres hitos de "El mundo al que entraron", con una historia local si la sala la conoce (Fundidora, SICARTSA, cambios de dueño). Luego lee solo el recuadro "Lo que un líder no debería suponer". Subrayar: "Son los que menos están en esta sala. Todo lo que digamos de ellos es hipótesis que hay que verificar con la persona."
PUNTOS A CERRAR
PREGUNTA: En pares, 2 minutos: "¿A cuál de estos mundos entraron ustedes a trabajar y qué les enseñó sobre la lealtad? ¿A cuál entró la persona más nueva de su equipo, y qué sabemos realmente de ella?"
RESPUESTA ESPERADA: Historias personales breves. Si alguien empieza a generalizar ("los de ahora…"), A pregunta: "¿Qué conducta concreta observaste? ¿Qué más podría explicarla?"
TRANSICIÓN: A: "Cuatro contextos. Y un hilo común: el trato entre las personas y las empresas cambió."
NOTAS PARA LOS FACILITADORES
LIDERA: A (B toma el tiempo de los pares de la última lámina).
NO USAR: "los chavos", "generación de cristal", "la vieja guardia", "nativos digitales" (glosario §4.6 de instrumentos psicológicos).
Cifras: verificar en fuente primaria antes de cada edición (Paquete de evidencia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3: el contrato laboral cambió de forma documentada, desde las empresas, antes que la gente.
TIEMPO: Versión corta: 2 min.
GUION DEL FACILITADOR: A: "Durante décadas el trato implícito fue el de la izquierda. Muchos en esta sala lo cumplieron y les funcionó. Desde los ochenta, muchas empresas —documentado sobre todo en EE. UU., y la siderurgia mexicana no fue excepción— pasaron a reestructuras, subcontratación y relaciones más de mercado. Quienes entraron después aprendieron el contrato de la derecha. No es mejor ni peor: es una respuesta racional al entorno que encontraron." B lee dos frases del rotafolio "Lo que escuchamos" del Acto 2 que hablen de cambio.
PUNTOS A CERRAR
PREGUNTA: "Regresemos a su rotafolio: ¿qué frase de las que escribimos después del video leerían hoy distinto?"
RESPUESTA ESPERADA: "Cambió el trato." Algunos: "cambiaron las dos cosas". Validar: ambas son ciertas; lo que está en nuestras manos es el trato.
TRANSICIÓN: "Si el trato cambió, ¿qué pasa con la lealtad?"
NOTAS PARA LOS FACILITADORES
LIDERA: A · B lee del rotafolio.
NO CONVERTIRLO en crítica a AMMX ni en nostalgia. El mensaje es de reciprocidad, no de culpa (Gate 1, R9).
NO usar el marco de Sinek (Leaders Eat Last) que culpa a los Boomers de los despidos masivos: "el contrato cambió", no "una generación lo rompió".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4: explorar críticamente "la lealtad se gana" como conversación sobre confianza, reciprocidad y relación jefe–colaborador, no como crítica a la empresa.
TIEMPO: Versión corta: 2 min + 3 min en pares con esta pregunta.
GUION DEL FACILITADOR: A: "Hay una frase que se escucha mucho: la lealtad se gana. Queremos agregarle algo: en ambas direcciones. La investigación sobre contrato psicológico muestra que cuando alguien siente que no se cumplió lo que esperaba, baja su confianza y su compromiso, tenga 25 o 60 años. Y en reestructuras, a quienes se quedan les importa más cómo se hizo que el resultado. Esto no es una crítica a la empresa: es una pregunta sobre lo que cada uno de nosotros, como jefe directo, hace creíble o no."
PUNTOS A CERRAR
PREGUNTA: ¿Por qué esperamos de nuestros colaboradores una relación que algunas empresas dejaron de garantizar hace décadas? ¿Qué depende de mí, como jefe directo, para que esa relación sea creíble?
RESPUESTA ESPERADA: Silencio reflexivo. Algún director: "la lealtad es un valor, no un intercambio". Validar: "Para muchos lo es, y es valioso. La pregunta es qué hacemos para merecerla de quien no la trae de casa."
TRANSICIÓN: A: "Si la lealtad sigue a la relación, veamos qué busca la gente en esa relación."
NOTAS PARA LOS FACILITADORES
LIDERA: A.
RESISTENCIA POSIBLE: "Si no quieren trabajar aquí, que se vayan." Respuesta: "Algunos lo harán, y a veces está bien. ¿Cuánto nos cuesta reemplazar a alguien de alto potencial o a un experto? ¿Y a quién sí queremos retener?"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Acto 6: necesidades humanas comunes, organizadas por necesidad y no por generación (D-17), para evitar el tribalismo generacional.
TIEMPO: 1:34–1:36 (2 min).
GUION DEL FACILITADOR: A: "Si juntamos los estudios más grandes sobre qué busca la gente en un trabajo, las prioridades principales se repiten en todas las edades: salario justo, estabilidad, bienestar, hacer lo que uno hace bien, un buen jefe. Por primera vez en 22 años, en la encuesta global de Randstad el equilibrio vida–trabajo quedó por encima del salario, y es el resultado de toda la muestra, de todas las edades juntas, no de una generación. Un dato que para una siderúrgica importa: la brecha de propósito más grande no es entre generaciones, es entre ejecutivos y primera línea."
PUNTOS A CERRAR
PREGUNTA: —
RESPUESTA ESPERADA: Reconocimiento: "es lo mismo que yo quiero".
TRANSICIÓN: "¿Y dónde sí hay diferencias?"
NOTAS PARA LOS FACILITADORES
LIDERA: A.
DATO McKINSEY (2021, EE. UU.): 85 % de ejecutivos dice vivir su propósito en el trabajo vs. 15 % de mandos y primera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Mostrar diferencias reales sin exagerarlas: son de frecuencia, forma y urgencia, y se explican mejor por edad, etapa y época.
TIEMPO: 1:36–1:38 (2 min).
GUION DEL FACILITADOR: A: "Sí hay diferencias. Pero miren la última columna: casi todas se explican mejor por la etapa de vida, el rol o la época que por la generación. Y fíjense en quién aparece como el grupo más estresado: los gerentes."
PUNTOS A CERRAR
PREGUNTA: (Retórica, 5 s de pausa) "¿Cuál de estas diferencias han visto en su equipo, y qué la explicaría mejor: la edad, la etapa o el jefe?"
RESPUESTA ESPERADA: "Desarrollo con los expertos senior." "Reconocimiento con los jóvenes." "Claridad de expectativas con todos." Aparece que los expertos senior también tienen necesidades desatendidas: es un hallazgo valioso.
TRANSICIÓN: A: "Si casi todo pasa por el jefe, veamos qué dicen los datos sobre nosotros."
NOTAS PARA LOS FACILITADORES
LIDERA: A.
DATO DE APOYO: Gallup atribuye al gerente al menos 70 % de la varianza del compromiso entre equipos (Gallup 2015, base Q12; análisis propietario, no "causa 70 %"). Compromiso de gerentes: 27 % → 22 % (2024→2025).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Conectar las necesidades con la palanca que está en manos de los directores: el liderazgo directo. Reconocer que también ellos están desgastados (sin tono paternalista).
TIEMPO: 1:38–1:44 (30 s de A + 90 s de escritura individual + 4 min en mesa).
GUION DEL FACILITADOR: A: "Dos datos. El jefe es la variable que más distingue a un equipo de otro. Y los jefes, en todo el mundo, estamos menos comprometidos que hace un año. Eso no es un reproche: es parte del problema que queremos resolver." B: "En su mapa de motivadores, marquen en silencio la necesidad común que peor están atendiendo, y con quién. Noventa segundos." Después, 4 min en mesa.
PUNTOS A CERRAR
PREGUNTA: "¿Qué necesidad común estamos atendiendo peor, y con quién?"
RESPUESTA ESPERADA: Conversación de mesa; se reconoce el propio desgaste.
TRANSICIÓN: B: "Hasta aquí hemos hablado de otros. Los próximos cinco minutos son sobre ustedes."
NOTAS PARA LOS FACILITADORES
LIDERA: A → B. Versión 120: solo 2 min en mesa, sin escritura.
NO DECIR "70 % del compromiso lo causa el jefe".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práctica.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Introspección fuerte (arco: comprensión). Elegir a "mi persona", el hilo que conecta con la Matriz, el compromiso y el Experimento (D-06).
TIEMPO: Versión 120: 3 min de silencio (preguntas 2, 3, 5 y "mi persona").
GUION DEL FACILITADOR: B: "Los próximos cinco minutos son en silencio. Nadie va a leer lo que escriban. Contesten con honestidad, no con elegancia. Cuando piensen en personas concretas, escriban solo iniciales. Al final, elijan a una persona: la vamos a llevar al resto del taller." Después: silencio completo. NO llenar el silencio. Los facilitadores se sientan o se quedan quietos.
PUNTOS A CERRAR
PREGUNTA: Las seis de la lámina (cuaderno).
RESPUESTA ESPERADA: Silencio incómodo los primeros 60–90 segundos; luego escritura concentrada.
TRANSICIÓN: B: "En pares, cinco minutos. Uno habla, el otro solo escucha."
NOTAS PARA LOS FACILITADORES
LIDERA: B.
PREGUNTA 6: versión balanceada del psicólogo (D-19). Si la sala tiene alto nivel de confianza, A puede leer la versión original como provocación: "¿Qué parte de mi estilo fue construida para un mundo que tal vez ya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en pares con protocolo de escucha: sin consejos, sin juicio.
TIEMPO: 1:49–1:54 (5 min).
GUION DEL FACILITADOR: B: "Con la persona de al lado; nadie con alguien que le reporte. Dos minutos cada uno. El que escucha puede hacer máximo una pregunta: '¿Qué más?' o '¿Cómo lo sabes?'. Si sienten la tentación de dar un consejo, guárdenlo: probablemente es lo mismo que harían con su equipo. Al final, cada uno dice en una frase lo que escuchó."
PUNTOS A CERRAR
PREGUNTA: "¿Qué más?" · "¿Cómo lo sabes?"
RESPUESTA ESPERADA: Algunos pares se ríen al notar que querían aconsejar. Es el aprendizaje.
TRANSICIÓN: B: "Llevemos esto a situaciones reales de planta."
NOTAS PARA LOS FACILITADORES
LIDERA: B.
OPCIÓN DE PASAR: "Prefiero solo escuchar esta vez" se respeta sin preguntar.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Practicar con situaciones reales antes de ver el modelo: los directores responden como lo harían hoy (arquitectura, decisión 5).
TIEMPO: 1:54–1:57 (3 min lectura) · 1:57–2:09 (12 min mesa).
GUION DEL FACILITADOR: B: "Cada mesa tiene un caso distinto. Son ficticios, pero seguramente les van a sonar. Tres minutos de lectura individual; subrayen la frase que más les hizo ruido. Después, doce minutos para las seis preguntas. Una sola respuesta de liderazgo por mesa: si hay desacuerdo, anótenlo en la esquina." A los 6 min: "Mitad del tiempo; si no han llegado a la pregunta 4, vayan a ella." A los 10 min: "Dos minutos: completen la pregunta 6."
PUNTOS A CERRAR
PREGUNTA: Preguntas de reto de B por caso (Paquete de actividades §3.6). Ejemplos: Caso A: "Si Daniela tuviera 45 años y la misma trayectoria, ¿le habrían contestado igual?" Caso D: "¿Cuál de nuestras costumbres estamos defendiendo como si fuera un estándar?" Caso E: "¿Qué diferencia hay entre reconocer a alguien y necesitarlo?"
RESPUESTA ESPERADA: Primeras reacciones de juicio o de DIRIGIR; al escribir supuestos, las respuestas se matizan. Casi ninguna mesa negocia la seguridad.
TRANSICIÓN: B: "Peguen sus hojas en la pared. Galería."
NOTAS PARA LOS FACILITADORES
LIDERA: B · A observa y anota qué mesa confundió "adaptar" con "conceder" y qué mesa confundió "firmeza" con "no escuchar" (se usa en el Acto 9).
CON 4 MESAS: casos A, B, D y E. CON 5: se agrega el caso C (D-20).
La CHRO trabaja en su mesa como par; no es la relatora.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referencia en pantalla durante el trabajo de mesa.
TIEMPO: En pantalla 1:57–2:09.
GUION DEL FACILITADOR: Sin guion; B recorre mesas. La pregunta 6 lleva la distinción de D-04 al caso.
PUNTOS A CERRAR
PREGUNTA: Las seis de la lámina.
RESPUESTA ESPERADA: La pregunta 2 (supuestos) es la que más cuesta y la que más cambia la respuesta.
TRANSICIÓN: Galería.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Comparar respuestas entre mesas y mostrar que adaptarse no fue bajar la vara en ningún caso.
TIEMPO: 2:09–2:20 (4 min galería · 5 min plenaria · 2 min síntesis).
GUION DEL FACILITADOR: B conduce las tres preguntas siempre sobre la pared. Conectar con el Acto 1: "¿Las primeras reacciones se parecen a su respuesta por defecto?" Síntesis de B: "Casi todas las mesas coincidieron en lo que no se negocia. Donde diferimos fue en el cómo. Ese cómo tiene un nombre." Relevo a A.
PUNTOS A CERRAR
PREGUNTA: ¿En qué caso estuvimos más cerca de ceder algo que no se negocia, y qué nos llevó ahí?
RESPUESTA ESPERADA: Casi nunca ocurre. Mensaje: adaptarse no fue bajar la vara.
TRANSICIÓN: A recibe: "Ese cómo tiene un nombre."
NOTAS PARA LOS FACILITADORES
LIDERA: B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Idea 5: el reto es la adaptabilidad (rango), no un tipo de líder. Lenguaje de respuestas, no de personas (D-19).
TIEMPO: 2:20–2:22 (2 min).
GUION DEL FACILITADOR: A: "No estamos hablando de líderes rígidos y líderes flexibles: todos tenemos respuestas rígidas en algunas situaciones. Y a veces la firmeza es exactamente lo correcto: en seguridad la regla no se mueve. Lo que sí podemos ampliar es el rango: cuántas formas tengo de llegar al mismo estándar con personas distintas." A usa una observación del laboratorio: "En una mesa vimos…".
PUNTOS A CERRAR
PREGUNTA: "¿En cuál de los casos vieron una respuesta rígida que parecía firmeza?"
RESPUESTA ESPERADA: Referencias al Caso D (disponibilidad como compromiso) y al Caso B (capacitación sin preguntar).
TRANSICIÓN: "Para ampliar ese rango proponemos algo muy simple: tres verbos."
NOTAS PARA LOS FACILITADORES
LIDERA: A.
[POR CONFIRMAR]
PUNTO DE INTEGRACIÓN SPEED ABSORBENT (D-01): los materiales no estuvieron disponibles al producir esta versión. Si se reciben, evaluar si su lenguaje reemplaza, enriquece o se omite en esta lámina y en la siguiente, sin inventar conceptos.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Modelo simple y memorable que se pueda recordar semanas después sin materiales.
TIEMPO: 2:22–2:27 (5 min, incluye re-lectura de un caso).
GUION DEL FACILITADOR: A (2 min): "Leer: entender a la persona y el contexto antes de concluir. Adaptar: ajustar cómo lidero. Alinear: sostener lo que no cambia y decirlo en voz alta." Ejemplo en una línea (Rogelio): "el registro no está a discusión; cómo lo hacemos, sí." Después, en mesa (2 min): "Relean su propio caso con los tres verbos: ¿cuál se saltaron?" Cierre (1 min): dos voces.
PUNTOS A CERRAR
PREGUNTA: "¿Cuál de los tres verbos se saltaron más en su caso?"
RESPUESTA ESPERADA: Casi siempre LEER: se pasa directo a la respuesta.
TRANSICIÓN: B: "Llevemos los tres verbos a su persona."
NOTAS PARA LOS FACILITADORES
LIDERA: A.
RELACIÓN CON EL DIAGNÓSTICO: EXPLORAR alimenta LEER; EXPLICAR y ACOMPAÑAR son formas de ADAPTAR; DIRIGIR es indispensable para ALINEAR. Ninguna respuesta sobra; el rango es usarlas cuando la situación lo pide.
[POR CONFIRMAR]
Integración Speed Absorbent (D-01).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Presentar el artefacto central del taller: separa explícitamente lo que se adapta de lo que no (D-04).
TIEMPO: 2:27–2:28 (1 min).
GUION DEL FACILITADOR: B: "Una columna para su persona del Espejo: iniciales, no nombre. Arriba, lo que pueden ajustar. Abajo, lo que no se mueve. El bloque de lo que no se adapta nunca se queda vacío: si lo está, es una alerta."
PUNTOS A CERRAR
PREGUNTA: —
RESPUESTA ESPERADA: Asentimientos: la columna derecha es la que hace aceptable el mensaje para una audiencia operativa.
TRANSICIÓN: "Así se ve llena."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Ejemplo resuelto del Caso B para que el llenado individual sea concreto.
TIEMPO: 2:28 (30 s; se deja en pantalla).
GUION DEL FACILITADOR: B lee dos filas: una de cada lado. Luego lee la frase final en voz alta. "Esa frase es la Matriz en una línea."
PUNTOS A CERRAR
PREGUNTA: —
RESPUESTA ESPERADA: Reconocimiento: "así sí".
TRANSICIÓN: B: "Ahora con su persona. Seis minutos en silencio."
NOTAS PARA LOS FACILITADORES
LIDERA: B.
Nota AMMX: confirmar que "SAP PM" es la denominación interna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Aplicar la herramienta a una persona real (hilo D-06) y validar concreción y claridad del estándar con un par.
TIEMPO: 2:28–2:39 (6 min individual + 5 min en par).
GUION DEL FACILITADOR: B: "Antes de llenar la fila, escriban arriba una cosa que no saben de esa persona. Ese es su LEER. Seis minutos en silencio." A los 4 minutos: "Revisen que la columna de la derecha no esté vacía." Después: "Con un par distinto al del Acto 7. El par solo hace dos preguntas, impresas en su hoja."
PUNTOS A CERRAR
PREGUNTA: Las dos preguntas del par.
RESPUESTA ESPERADA: La pregunta 2 del par suele revelar que el estándar nunca se dijo explícitamente: aprendizaje central.
TRANSICIÓN: B: "Última conversación antes de cerrar, y es distinta a las demás."
NOTAS PARA LOS FACILITADORES
LIDERA: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Abrir la sección de compromiso.
TIEMPO: Transición (sin tiempo propio).
GUION DEL FACILITADOR: Sin guion: la lámina se muestra mientras el facilitador que lidera la sección toma su lugar.
PUNTOS A CERRAR
PREGUNTA: —
RESPUESTA ESPERADA: —
TRANSICIÓN: Siguiente lámina.
NOTAS PARA LOS FACILITADORES
Divisor de sección del Estándar AMMX (decks de más de 15 láminas).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Conversación humana, no debate (arco: apropiación). Nadie representa a una generación (D-15).
TIEMPO: 2:39–2:49 (2 min parejas · 3+3 min · 1 min cierre · 1 min plenaria).
GUION DEL FACILITADOR: B: "Busquen a alguien que haya empezado a trabajar en un contexto distinto al suyo: otra década, otra empresa, otra área, otro país. No tienen que decir su edad. Hablen desde su experiencia, no en nombre de nadie más." Mientras las parejas conversan, B entrega en mano los sobres del trabajo previo, cerrados (D-20). Al final, B pide a dos voluntarios compartir solo la respuesta a la frase 4. Relevo a A: "Parece que lo que queremos se parece más de lo que el Muro sugería."
PUNTOS A CERRAR
PREGUNTA: Frase 4: "Algo que probablemente ambos queremos es…"
RESPUESTA ESPERADA: Respuestas como "que nos tomen en cuenta", "hacer un buen trabajo", "que el jefe sea claro". Emoción contenida; buen clima.
TRANSICIÓN: A: "Cerremos donde empezamos."
NOTAS PARA LOS FACILITADORES
LIDERA: B → A.
SALA HOMOGÉNEA (decidir en T–7 sin consultar edades): ocultar esta lámina y mostrar la variante siguiente ("Invertir el lente con mi persona").
ACORDEÓN: si vamos tarde, 8 min (solo frases 1 y 4).
Evitar parejas jefe–colaborador directo. La CHRO forma pareja o trío con personas que no le reportan.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Variante para sala homogénea en trayectoria (G3-16): invertir el lente hacia "mi persona" sin forzar a nadie a representar un grupo.
TIEMPO: 2:39–2:49 (1 min instrucción · 3+3 min · 3 min: cada uno escribe la pregunta que le hará a su persona).
GUION DEL FACILITADOR: B: "Piensen en su persona. Respondan como creen que ella respondería. El par solo pregunta: ¿qué tan seguro estás?, ¿cuándo se lo preguntaste por última vez?" Al final: "Escriban la pregunta que le van a hacer. Esa pregunta es su LEER de la semana 1."
PUNTOS A CERRAR
PREGUNTA: "¿Cuándo se lo preguntaste por última vez?"
RESPUESTA ESPERADA: Reconocimiento de que "nunca se lo he preguntado". Es el aprendizaje.
TRANSICIÓN: A: "Cerremos donde empezamos."
NOTAS PARA LOS FACILITADORES
LÁMINA OCULTA POR DEFECTO. Se muestra solo si en T–7 se decide la variante; entonces se oculta la lámina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Cerrar el círculo con el diagnóstico y el trabajo previo: comparar la mirada de entrada con la de salida.
TIEMPO: Versión corta: 2 min (el sobre se entregó durante la Matriz).
GUION DEL FACILITADOR: A: "Abran su sobre. Es lo que ustedes escribieron antes de entrar. No lo compartan. Léanlo y marquen una frase: ¿la escribirían igual hoy? Si sí, ¿por qué? Si no, ¿qué cambió?" Y: "Miren su respuesta por defecto y su rango. Después de los casos, ¿cuál de las cuatro respuestas necesitan usar más con su persona?"
PUNTOS A CERRAR
PREGUNTA: ¿Responderían hoy lo mismo?
RESPUESTA ESPERADA: Sonrisas, algún "yo escribí eso…". Silencio.
TRANSICIÓN: "Convirtamos esto en una decisión."
NOTAS PARA LOS FACILITADORES
LIDERA: A.
El sobre y su contenido son del participante; no se recogen. Quien no respondió el trabajo previo encuentra una sola frase (P4) para contestar en 1 minuto. B hace barrido de sala al final; los sobres olvidados se destruyen el mismo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Compromiso personal concreto (DEJAR / EMPEZAR / MANTENER + una persona, una conversación). Nada de compromisos abstractos.
TIEMPO: Versión corta: 4 min individual.
GUION DEL FACILITADOR: A: "Cuatro minutos en silencio, en su cuaderno. Empiecen por abajo: una persona, una conversación. Es la misma persona que llevan desde el Espejo, salvo que haya una buena razón para cambiarla. Esa conversación es la semana 1 del Experimento: una conversación para preguntar. Iniciales, no nombre. Y un campo que no queremos que se salten: qué no van a negociar en esa conversación."
PUNTOS A CERRAR
PREGUNTA: "¿Cómo vas a saber que fue una conversación distinta?"
RESPUESTA ESPERADA: Compromisos concretos; algunos genéricos ("escuchar más"). B recorre y pregunta en privado: "¿Con quién, cuándo y sobre qué?"
TRANSICIÓN: A: "Antes de cerrar, dos minutos para ustedes."
NOTAS PARA LOS FACILITADORES
LIDERA: A.
El compromiso vive en el cuaderno (G3-20). Quien quiera, lo fotografía con su propio teléfono. Nada se recoge.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Encuesta de salida dentro del horario (Nivel 1 y 2 del plan de medición), antes del compromiso de la CHRO, para que la sesión termine en la frase ancla (G3-09, G3-10).
TIEMPO: Versión corta: 2 min encuesta + 1 min con el vecino.
GUION DEL FACILITADOR: A: "Dos minutos, en silencio: la encuesta del código de su mesa. Es anónima." Al terminar: "Díganle a la persona de al lado, en una frase: en siete días voy a…" Sin comentarios. A menciona en una frase la tarjeta del Experimento que está en su sobre.
PUNTOS A CERRAR
PREGUNTA: —
RESPUESTA ESPERADA: Silencio operativo; teléfonos en uso por 2 minutos.
TRANSICIÓN: A cede la palabra a la CHRO: 1 minuto.
NOTAS PARA LOS FACILITADORES
LIDERA: A · B verifica que el QR cargue en la red del recinto; 10 encuestas impresas de respaldo.
CHRO (2:58–2:59, D-13): comparte su propio compromiso, idealmente reconociendo una respuesta por defecto suya. No resume el taller ni evalúa a la sala. Esta lámina se queda en pantalla mientras habla.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Lámina de respaldo del Experimento a 30 días (oculta por defecto para descongestionar el Acto 12, G3-10). Se usa en la sesión de seguimiento o si la sala pregunta.
TIEMPO: Oculta. Si se muestra: 1 min.
GUION DEL FACILITADOR: A: "En su sobre está la tarjeta del Experimento. Una persona que les cueste leer. Leer, adaptar, alinear, durante treinta días. Cinco minutos a la semana para anotar qué supusieron, qué preguntaron, qué aprendieron, qué cambiaron y qué pasó. La bitácora es suya; nadie la va a revisar. En la siguiente sesión compartimos aprendizajes, no identidades."
PUNTOS A CERRAR
PREGUNTA: —
RESPUESTA ESPERADA: Alguien puede preguntar si es obligatorio: "Es una invitación. Los aprendizajes de la sala dependen de quién lo haga."
TRANSICIÓN: —
NOTAS PARA LOS FACILITADORES
RECORDATORIOS de los facilitadores: días 1, 7, 14, 21 y 30. Pulsos anónimos en días 7 y 30. Sesión de seguimiento de 60–90 min entre el día 35 y el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Cerrar el círculo con la pregunta de apertura: reemplazar la frase de pasillo por una pregunta de liderazgo.
TIEMPO: 30 s.
GUION DEL FACILITADOR: A: "Al inicio les dijimos que al final les propondríamos otra pregunta. Es esta. No es más cómoda. Pero es la que sí depende de nosotros."
PUNTOS A CERRAR
PREGUNTA: La de la lámina.
RESPUESTA ESPERADA: Silencio; asentimientos.
TRANSICIÓN: Última lámina.
NOTAS PARA LOS FACILITADORES
LIDERA: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Cierre con la frase ancla y la regla de seguridad. Sin aplausos ni dinámica final.
TIEMPO: 30 s.
GUION DEL FACILITADOR: A lee las dos líneas y la frase de seguridad. Silencio breve. "Gracias."
PUNTOS A CERRAR
PREGUNTA: —
RESPUESTA ESPERADA: Cierre sobrio.
TRANSICIÓN: Fin. B hace barrido de sala (sobres olvidados) y desmontaje del Muro.
NOTAS PARA LOS FACILITADORES
LIDERA: A.
CRITERIO DE ÉXITO: "Entré pensando que tenía un problema con una generación. Salgo entendiendo que tengo que leer mejor a las personas y adaptar mejor mi liderazgo."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EXPLICARLA
PROPÓSITO: Respaldo de fuentes para consulta; oculta.
TIEMPO: No se proyecta salvo pregunta.
GUION DEL FACILITADOR: Si un participante pregunta por una fuente: "Está en el Paquete de evidencia, con la muestra y la URL. Se lo compartimos."
PUNTOS A CERRAR
PREGUNTA: —
RESPUESTA ESPERADA: —
TRANSICIÓN: —
NOTAS PARA LOS FACILITADORES
Antes de cada edición, abrir las URL primarias y confirmar cifras (Paquete de evidencia, nota de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Training-and-Development-PROYECTS/workshop-liderazgo-intergeneracional/src/assets/am_logo_white.png">    </p:cNvPr>
          <p:cNvPicPr>
            <a:picLocks noChangeAspect="1"/>
          </p:cNvPicPr>
          <p:nvPr/>
        </p:nvPicPr>
        <p:blipFill>
          <a:blip r:embed="rId2"/>
          <a:stretch>
            <a:fillRect/>
          </a:stretch>
        </p:blipFill>
        <p:spPr>
          <a:xfrm>
            <a:off x="548640" y="320040"/>
            <a:ext cx="960120" cy="396528"/>
          </a:xfrm>
          <a:prstGeom prst="rect">
            <a:avLst/>
          </a:prstGeom>
        </p:spPr>
      </p:pic>
      <p:sp>
        <p:nvSpPr>
          <p:cNvPr id="3" name="Text 0"/>
          <p:cNvSpPr txBox="1"/>
          <p:nvPr/>
        </p:nvSpPr>
        <p:spPr>
          <a:xfrm>
            <a:off x="548640" y="914400"/>
            <a:ext cx="8046720" cy="320040"/>
          </a:xfrm>
          <a:prstGeom prst="rect">
            <a:avLst/>
          </a:prstGeom>
          <a:noFill/>
          <a:ln/>
        </p:spPr>
        <p:txBody>
          <a:bodyPr wrap="square" lIns="0" tIns="0" rIns="0" bIns="0" rtlCol="0" anchor="t"/>
          <a:lstStyle/>
          <a:p>
            <a:pPr indent="0" marL="0">
              <a:buNone/>
            </a:pPr>
            <a:r>
              <a:rPr lang="en-US" sz="1100" b="1" spc="200" kern="0" dirty="0">
                <a:solidFill>
                  <a:srgbClr val="FF8C47"/>
                </a:solidFill>
                <a:latin typeface="Century Gothic" pitchFamily="34" charset="0"/>
                <a:ea typeface="Century Gothic" pitchFamily="34" charset="-122"/>
                <a:cs typeface="Century Gothic" pitchFamily="34" charset="-120"/>
              </a:rPr>
              <a:t>TALLER EJECUTIVO · DIRECCIÓN AMMX</a:t>
            </a:r>
            <a:endParaRPr lang="en-US" sz="1100" dirty="0"/>
          </a:p>
        </p:txBody>
      </p:sp>
      <p:sp>
        <p:nvSpPr>
          <p:cNvPr id="4" name="Text 1"/>
          <p:cNvSpPr txBox="1"/>
          <p:nvPr/>
        </p:nvSpPr>
        <p:spPr>
          <a:xfrm>
            <a:off x="548640" y="1298448"/>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Century Gothic" pitchFamily="34" charset="0"/>
                <a:ea typeface="Century Gothic" pitchFamily="34" charset="-122"/>
                <a:cs typeface="Century Gothic" pitchFamily="34" charset="-120"/>
              </a:rPr>
              <a:t>Liderar entre generaciones</a:t>
            </a:r>
            <a:endParaRPr lang="en-US" sz="3600" dirty="0"/>
          </a:p>
        </p:txBody>
      </p:sp>
      <p:sp>
        <p:nvSpPr>
          <p:cNvPr id="5" name="Text 2"/>
          <p:cNvSpPr txBox="1"/>
          <p:nvPr/>
        </p:nvSpPr>
        <p:spPr>
          <a:xfrm>
            <a:off x="548640" y="2286000"/>
            <a:ext cx="7680960" cy="868680"/>
          </a:xfrm>
          <a:prstGeom prst="rect">
            <a:avLst/>
          </a:prstGeom>
          <a:noFill/>
          <a:ln/>
        </p:spPr>
        <p:txBody>
          <a:bodyPr wrap="square" lIns="0" tIns="0" rIns="0" bIns="0" rtlCol="0" anchor="t"/>
          <a:lstStyle/>
          <a:p>
            <a:pPr indent="0" marL="0">
              <a:buNone/>
            </a:pPr>
            <a:r>
              <a:rPr lang="en-US" sz="1500" dirty="0">
                <a:solidFill>
                  <a:srgbClr val="FFFFFF"/>
                </a:solidFill>
                <a:latin typeface="Century Gothic" pitchFamily="34" charset="0"/>
                <a:ea typeface="Century Gothic" pitchFamily="34" charset="-122"/>
                <a:cs typeface="Century Gothic" pitchFamily="34" charset="-120"/>
              </a:rPr>
              <a:t>Versión de 120 minutos. De los estereotipos al liderazgo adaptativo. Una conversación entre directores sobre cómo leemos a las personas y cómo ampliamos nuestro rango de liderazgo sin mover el estándar.</a:t>
            </a:r>
            <a:endParaRPr lang="en-US" sz="1500" dirty="0"/>
          </a:p>
        </p:txBody>
      </p:sp>
      <p:sp>
        <p:nvSpPr>
          <p:cNvPr id="6" name="Shape 3"/>
          <p:cNvSpPr/>
          <p:nvPr/>
        </p:nvSpPr>
        <p:spPr>
          <a:xfrm>
            <a:off x="54864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7" name="Text 4"/>
          <p:cNvSpPr txBox="1"/>
          <p:nvPr/>
        </p:nvSpPr>
        <p:spPr>
          <a:xfrm>
            <a:off x="68580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2 h</a:t>
            </a:r>
            <a:endParaRPr lang="en-US" sz="3200" dirty="0"/>
          </a:p>
        </p:txBody>
      </p:sp>
      <p:sp>
        <p:nvSpPr>
          <p:cNvPr id="8" name="Text 5"/>
          <p:cNvSpPr txBox="1"/>
          <p:nvPr/>
        </p:nvSpPr>
        <p:spPr>
          <a:xfrm>
            <a:off x="68580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de conversación, no de exposición</a:t>
            </a:r>
            <a:endParaRPr lang="en-US" sz="1050" dirty="0"/>
          </a:p>
        </p:txBody>
      </p:sp>
      <p:sp>
        <p:nvSpPr>
          <p:cNvPr id="9" name="Shape 6"/>
          <p:cNvSpPr/>
          <p:nvPr/>
        </p:nvSpPr>
        <p:spPr>
          <a:xfrm>
            <a:off x="256032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0" name="Text 7"/>
          <p:cNvSpPr txBox="1"/>
          <p:nvPr/>
        </p:nvSpPr>
        <p:spPr>
          <a:xfrm>
            <a:off x="269748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11</a:t>
            </a:r>
            <a:endParaRPr lang="en-US" sz="3200" dirty="0"/>
          </a:p>
        </p:txBody>
      </p:sp>
      <p:sp>
        <p:nvSpPr>
          <p:cNvPr id="11" name="Text 8"/>
          <p:cNvSpPr txBox="1"/>
          <p:nvPr/>
        </p:nvSpPr>
        <p:spPr>
          <a:xfrm>
            <a:off x="269748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momentos de trabajo</a:t>
            </a:r>
            <a:endParaRPr lang="en-US" sz="1050" dirty="0"/>
          </a:p>
        </p:txBody>
      </p:sp>
      <p:sp>
        <p:nvSpPr>
          <p:cNvPr id="12" name="Shape 9"/>
          <p:cNvSpPr/>
          <p:nvPr/>
        </p:nvSpPr>
        <p:spPr>
          <a:xfrm>
            <a:off x="4572000" y="3520440"/>
            <a:ext cx="1828800" cy="1417320"/>
          </a:xfrm>
          <a:prstGeom prst="roundRect">
            <a:avLst>
              <a:gd name="adj" fmla="val 5161"/>
            </a:avLst>
          </a:prstGeom>
          <a:solidFill>
            <a:srgbClr val="FFFFFF">
              <a:alpha val="10000"/>
            </a:srgbClr>
          </a:solidFill>
          <a:ln w="9525">
            <a:solidFill>
              <a:srgbClr val="FFFFFF">
                <a:alpha val="25000"/>
              </a:srgbClr>
            </a:solidFill>
            <a:prstDash val="solid"/>
          </a:ln>
        </p:spPr>
      </p:sp>
      <p:sp>
        <p:nvSpPr>
          <p:cNvPr id="13" name="Text 10"/>
          <p:cNvSpPr txBox="1"/>
          <p:nvPr/>
        </p:nvSpPr>
        <p:spPr>
          <a:xfrm>
            <a:off x="4709160" y="3611880"/>
            <a:ext cx="1554480" cy="685800"/>
          </a:xfrm>
          <a:prstGeom prst="rect">
            <a:avLst/>
          </a:prstGeom>
          <a:noFill/>
          <a:ln/>
        </p:spPr>
        <p:txBody>
          <a:bodyPr wrap="square" lIns="0" tIns="0" rIns="0" bIns="0" rtlCol="0" anchor="ctr"/>
          <a:lstStyle/>
          <a:p>
            <a:pPr indent="0" marL="0">
              <a:buNone/>
            </a:pPr>
            <a:r>
              <a:rPr lang="en-US" sz="3200" b="1" dirty="0">
                <a:solidFill>
                  <a:srgbClr val="FF8C47"/>
                </a:solidFill>
                <a:latin typeface="Century Gothic" pitchFamily="34" charset="0"/>
                <a:ea typeface="Century Gothic" pitchFamily="34" charset="-122"/>
                <a:cs typeface="Century Gothic" pitchFamily="34" charset="-120"/>
              </a:rPr>
              <a:t>1</a:t>
            </a:r>
            <a:endParaRPr lang="en-US" sz="3200" dirty="0"/>
          </a:p>
        </p:txBody>
      </p:sp>
      <p:sp>
        <p:nvSpPr>
          <p:cNvPr id="14" name="Text 11"/>
          <p:cNvSpPr txBox="1"/>
          <p:nvPr/>
        </p:nvSpPr>
        <p:spPr>
          <a:xfrm>
            <a:off x="4709160" y="4297680"/>
            <a:ext cx="1600200" cy="548640"/>
          </a:xfrm>
          <a:prstGeom prst="rect">
            <a:avLst/>
          </a:prstGeom>
          <a:noFill/>
          <a:ln/>
        </p:spPr>
        <p:txBody>
          <a:bodyPr wrap="square" lIns="0" tIns="0" rIns="0" bIns="0" rtlCol="0" anchor="t"/>
          <a:lstStyle/>
          <a:p>
            <a:pPr indent="0" marL="0">
              <a:buNone/>
            </a:pPr>
            <a:r>
              <a:rPr lang="en-US" sz="1050" dirty="0">
                <a:solidFill>
                  <a:srgbClr val="FFFFFF"/>
                </a:solidFill>
                <a:latin typeface="Century Gothic" pitchFamily="34" charset="0"/>
                <a:ea typeface="Century Gothic" pitchFamily="34" charset="-122"/>
                <a:cs typeface="Century Gothic" pitchFamily="34" charset="-120"/>
              </a:rPr>
              <a:t>persona, una conversación en 7 días</a:t>
            </a:r>
            <a:endParaRPr lang="en-US" sz="1050" dirty="0"/>
          </a:p>
        </p:txBody>
      </p:sp>
      <p:sp>
        <p:nvSpPr>
          <p:cNvPr id="15" name="Shape 12"/>
          <p:cNvSpPr/>
          <p:nvPr/>
        </p:nvSpPr>
        <p:spPr>
          <a:xfrm>
            <a:off x="9208008" y="1325880"/>
            <a:ext cx="0" cy="3108960"/>
          </a:xfrm>
          <a:prstGeom prst="line">
            <a:avLst/>
          </a:prstGeom>
          <a:noFill/>
          <a:ln w="12700">
            <a:solidFill>
              <a:srgbClr val="8A8CA0"/>
            </a:solidFill>
            <a:prstDash val="solid"/>
          </a:ln>
        </p:spPr>
      </p:sp>
      <p:sp>
        <p:nvSpPr>
          <p:cNvPr id="16" name="Shape 13"/>
          <p:cNvSpPr/>
          <p:nvPr/>
        </p:nvSpPr>
        <p:spPr>
          <a:xfrm>
            <a:off x="9025128" y="1143000"/>
            <a:ext cx="365760" cy="365760"/>
          </a:xfrm>
          <a:prstGeom prst="ellipse">
            <a:avLst/>
          </a:prstGeom>
          <a:solidFill>
            <a:srgbClr val="FF8C47"/>
          </a:solidFill>
          <a:ln w="19050">
            <a:solidFill>
              <a:srgbClr val="2A2A40"/>
            </a:solidFill>
            <a:prstDash val="solid"/>
          </a:ln>
        </p:spPr>
      </p:sp>
      <p:sp>
        <p:nvSpPr>
          <p:cNvPr id="17" name="Text 14"/>
          <p:cNvSpPr txBox="1"/>
          <p:nvPr/>
        </p:nvSpPr>
        <p:spPr>
          <a:xfrm>
            <a:off x="9025128" y="11430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18" name="Text 15"/>
          <p:cNvSpPr txBox="1"/>
          <p:nvPr/>
        </p:nvSpPr>
        <p:spPr>
          <a:xfrm>
            <a:off x="9528048" y="112471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Experiencia</a:t>
            </a:r>
            <a:endParaRPr lang="en-US" sz="1150" dirty="0"/>
          </a:p>
        </p:txBody>
      </p:sp>
      <p:sp>
        <p:nvSpPr>
          <p:cNvPr id="19" name="Shape 16"/>
          <p:cNvSpPr/>
          <p:nvPr/>
        </p:nvSpPr>
        <p:spPr>
          <a:xfrm>
            <a:off x="9025128" y="1920240"/>
            <a:ext cx="365760" cy="365760"/>
          </a:xfrm>
          <a:prstGeom prst="ellipse">
            <a:avLst/>
          </a:prstGeom>
          <a:solidFill>
            <a:srgbClr val="FA4642"/>
          </a:solidFill>
          <a:ln w="19050">
            <a:solidFill>
              <a:srgbClr val="2A2A40"/>
            </a:solidFill>
            <a:prstDash val="solid"/>
          </a:ln>
        </p:spPr>
      </p:sp>
      <p:sp>
        <p:nvSpPr>
          <p:cNvPr id="20" name="Text 17"/>
          <p:cNvSpPr txBox="1"/>
          <p:nvPr/>
        </p:nvSpPr>
        <p:spPr>
          <a:xfrm>
            <a:off x="9025128" y="19202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21" name="Text 18"/>
          <p:cNvSpPr txBox="1"/>
          <p:nvPr/>
        </p:nvSpPr>
        <p:spPr>
          <a:xfrm>
            <a:off x="9528048" y="190195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Reflexión</a:t>
            </a:r>
            <a:endParaRPr lang="en-US" sz="1150" dirty="0"/>
          </a:p>
        </p:txBody>
      </p:sp>
      <p:sp>
        <p:nvSpPr>
          <p:cNvPr id="22" name="Shape 19"/>
          <p:cNvSpPr/>
          <p:nvPr/>
        </p:nvSpPr>
        <p:spPr>
          <a:xfrm>
            <a:off x="9025128" y="2697480"/>
            <a:ext cx="365760" cy="365760"/>
          </a:xfrm>
          <a:prstGeom prst="ellipse">
            <a:avLst/>
          </a:prstGeom>
          <a:solidFill>
            <a:srgbClr val="EA3450"/>
          </a:solidFill>
          <a:ln w="19050">
            <a:solidFill>
              <a:srgbClr val="2A2A40"/>
            </a:solidFill>
            <a:prstDash val="solid"/>
          </a:ln>
        </p:spPr>
      </p:sp>
      <p:sp>
        <p:nvSpPr>
          <p:cNvPr id="23" name="Text 20"/>
          <p:cNvSpPr txBox="1"/>
          <p:nvPr/>
        </p:nvSpPr>
        <p:spPr>
          <a:xfrm>
            <a:off x="9025128" y="2697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24" name="Text 21"/>
          <p:cNvSpPr txBox="1"/>
          <p:nvPr/>
        </p:nvSpPr>
        <p:spPr>
          <a:xfrm>
            <a:off x="9528048" y="267919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Evidencia</a:t>
            </a:r>
            <a:endParaRPr lang="en-US" sz="1150" dirty="0"/>
          </a:p>
        </p:txBody>
      </p:sp>
      <p:sp>
        <p:nvSpPr>
          <p:cNvPr id="25" name="Shape 22"/>
          <p:cNvSpPr/>
          <p:nvPr/>
        </p:nvSpPr>
        <p:spPr>
          <a:xfrm>
            <a:off x="9025128" y="3474720"/>
            <a:ext cx="365760" cy="365760"/>
          </a:xfrm>
          <a:prstGeom prst="ellipse">
            <a:avLst/>
          </a:prstGeom>
          <a:solidFill>
            <a:srgbClr val="C8136C"/>
          </a:solidFill>
          <a:ln w="19050">
            <a:solidFill>
              <a:srgbClr val="2A2A40"/>
            </a:solidFill>
            <a:prstDash val="solid"/>
          </a:ln>
        </p:spPr>
      </p:sp>
      <p:sp>
        <p:nvSpPr>
          <p:cNvPr id="26" name="Text 23"/>
          <p:cNvSpPr txBox="1"/>
          <p:nvPr/>
        </p:nvSpPr>
        <p:spPr>
          <a:xfrm>
            <a:off x="9025128"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27" name="Text 24"/>
          <p:cNvSpPr txBox="1"/>
          <p:nvPr/>
        </p:nvSpPr>
        <p:spPr>
          <a:xfrm>
            <a:off x="9528048" y="345643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Práctica</a:t>
            </a:r>
            <a:endParaRPr lang="en-US" sz="1150" dirty="0"/>
          </a:p>
        </p:txBody>
      </p:sp>
      <p:sp>
        <p:nvSpPr>
          <p:cNvPr id="28" name="Shape 25"/>
          <p:cNvSpPr/>
          <p:nvPr/>
        </p:nvSpPr>
        <p:spPr>
          <a:xfrm>
            <a:off x="9025128" y="4251960"/>
            <a:ext cx="365760" cy="365760"/>
          </a:xfrm>
          <a:prstGeom prst="ellipse">
            <a:avLst/>
          </a:prstGeom>
          <a:solidFill>
            <a:srgbClr val="AA0582"/>
          </a:solidFill>
          <a:ln w="19050">
            <a:solidFill>
              <a:srgbClr val="2A2A40"/>
            </a:solidFill>
            <a:prstDash val="solid"/>
          </a:ln>
        </p:spPr>
      </p:sp>
      <p:sp>
        <p:nvSpPr>
          <p:cNvPr id="29" name="Text 26"/>
          <p:cNvSpPr txBox="1"/>
          <p:nvPr/>
        </p:nvSpPr>
        <p:spPr>
          <a:xfrm>
            <a:off x="9025128" y="4251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30" name="Text 27"/>
          <p:cNvSpPr txBox="1"/>
          <p:nvPr/>
        </p:nvSpPr>
        <p:spPr>
          <a:xfrm>
            <a:off x="9528048" y="4233672"/>
            <a:ext cx="2286000" cy="402336"/>
          </a:xfrm>
          <a:prstGeom prst="rect">
            <a:avLst/>
          </a:prstGeom>
          <a:noFill/>
          <a:ln/>
        </p:spPr>
        <p:txBody>
          <a:bodyPr wrap="square" lIns="0" tIns="0" rIns="0" bIns="0" rtlCol="0" anchor="ctr"/>
          <a:lstStyle/>
          <a:p>
            <a:pPr indent="0" marL="0">
              <a:buNone/>
            </a:pPr>
            <a:r>
              <a:rPr lang="en-US" sz="1150" dirty="0">
                <a:solidFill>
                  <a:srgbClr val="FFFFFF"/>
                </a:solidFill>
                <a:latin typeface="Century Gothic" pitchFamily="34" charset="0"/>
                <a:ea typeface="Century Gothic" pitchFamily="34" charset="-122"/>
                <a:cs typeface="Century Gothic" pitchFamily="34" charset="-120"/>
              </a:rPr>
              <a:t>Compromiso</a:t>
            </a:r>
            <a:endParaRPr lang="en-US" sz="1150" dirty="0"/>
          </a:p>
        </p:txBody>
      </p:sp>
      <p:sp>
        <p:nvSpPr>
          <p:cNvPr id="31" name="Text 28"/>
          <p:cNvSpPr txBox="1"/>
          <p:nvPr/>
        </p:nvSpPr>
        <p:spPr>
          <a:xfrm>
            <a:off x="548640" y="5349240"/>
            <a:ext cx="7863840" cy="320040"/>
          </a:xfrm>
          <a:prstGeom prst="rect">
            <a:avLst/>
          </a:prstGeom>
          <a:noFill/>
          <a:ln/>
        </p:spPr>
        <p:txBody>
          <a:bodyPr wrap="square" lIns="0" tIns="0" rIns="0" bIns="0" rtlCol="0" anchor="t"/>
          <a:lstStyle/>
          <a:p>
            <a:pPr indent="0" marL="0">
              <a:buNone/>
            </a:pPr>
            <a:r>
              <a:rPr lang="en-US" sz="1100" dirty="0">
                <a:solidFill>
                  <a:srgbClr val="FFFFFF"/>
                </a:solidFill>
                <a:latin typeface="Century Gothic" pitchFamily="34" charset="0"/>
                <a:ea typeface="Century Gothic" pitchFamily="34" charset="-122"/>
                <a:cs typeface="Century Gothic" pitchFamily="34" charset="-120"/>
              </a:rPr>
              <a:t>Para: Directores y líderes senior · ArcelorMittal México</a:t>
            </a:r>
            <a:endParaRPr lang="en-US" sz="1100" dirty="0"/>
          </a:p>
        </p:txBody>
      </p:sp>
      <p:sp>
        <p:nvSpPr>
          <p:cNvPr id="32" name="Text 29"/>
          <p:cNvSpPr txBox="1"/>
          <p:nvPr/>
        </p:nvSpPr>
        <p:spPr>
          <a:xfrm>
            <a:off x="548640" y="6446520"/>
            <a:ext cx="1005840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Gerencia de Capacitación y Desarrollo · Versión 1.0 · Octubre 2026</a:t>
            </a:r>
            <a:endParaRPr lang="en-US" sz="750" dirty="0"/>
          </a:p>
        </p:txBody>
      </p:sp>
      <p:sp>
        <p:nvSpPr>
          <p:cNvPr id="33" name="Text 3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“¿Qué les pasa a estas nuevas generaciones?”</a:t>
            </a:r>
            <a:endParaRPr lang="en-US" sz="36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escuchamos en pasillos, en juntas y en planta. Al final de estas tres horas les vamos a proponer otra pregunta.</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Primero ustedes; después la evidencia; al final una decisión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a:t>
            </a:r>
            <a:endParaRPr lang="en-US" sz="750" dirty="0"/>
          </a:p>
        </p:txBody>
      </p:sp>
      <p:sp>
        <p:nvSpPr>
          <p:cNvPr id="7" name="Shape 3"/>
          <p:cNvSpPr/>
          <p:nvPr/>
        </p:nvSpPr>
        <p:spPr>
          <a:xfrm>
            <a:off x="548640" y="1783080"/>
            <a:ext cx="2286000" cy="658368"/>
          </a:xfrm>
          <a:prstGeom prst="homePlate">
            <a:avLst/>
          </a:prstGeom>
          <a:solidFill>
            <a:srgbClr val="FF8C47"/>
          </a:solidFill>
          <a:ln/>
        </p:spPr>
      </p:sp>
      <p:sp>
        <p:nvSpPr>
          <p:cNvPr id="8" name="Text 4"/>
          <p:cNvSpPr txBox="1"/>
          <p:nvPr/>
        </p:nvSpPr>
        <p:spPr>
          <a:xfrm>
            <a:off x="713232"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EXPERIENCIA</a:t>
            </a:r>
            <a:endParaRPr lang="en-US" sz="900" dirty="0"/>
          </a:p>
        </p:txBody>
      </p:sp>
      <p:sp>
        <p:nvSpPr>
          <p:cNvPr id="9" name="Text 5"/>
          <p:cNvSpPr txBox="1"/>
          <p:nvPr/>
        </p:nvSpPr>
        <p:spPr>
          <a:xfrm>
            <a:off x="594360"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Cómo reacciono yo</a:t>
            </a:r>
            <a:endParaRPr lang="en-US" sz="850" dirty="0"/>
          </a:p>
        </p:txBody>
      </p:sp>
      <p:sp>
        <p:nvSpPr>
          <p:cNvPr id="10" name="Shape 6"/>
          <p:cNvSpPr/>
          <p:nvPr/>
        </p:nvSpPr>
        <p:spPr>
          <a:xfrm>
            <a:off x="2761488" y="1783080"/>
            <a:ext cx="2286000" cy="658368"/>
          </a:xfrm>
          <a:prstGeom prst="chevron">
            <a:avLst/>
          </a:prstGeom>
          <a:solidFill>
            <a:srgbClr val="FA4642"/>
          </a:solidFill>
          <a:ln/>
        </p:spPr>
      </p:sp>
      <p:sp>
        <p:nvSpPr>
          <p:cNvPr id="11" name="Text 7"/>
          <p:cNvSpPr txBox="1"/>
          <p:nvPr/>
        </p:nvSpPr>
        <p:spPr>
          <a:xfrm>
            <a:off x="2926080"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REFLEXIÓN</a:t>
            </a:r>
            <a:endParaRPr lang="en-US" sz="900" dirty="0"/>
          </a:p>
        </p:txBody>
      </p:sp>
      <p:sp>
        <p:nvSpPr>
          <p:cNvPr id="12" name="Text 8"/>
          <p:cNvSpPr txBox="1"/>
          <p:nvPr/>
        </p:nvSpPr>
        <p:spPr>
          <a:xfrm>
            <a:off x="2807208"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supongo</a:t>
            </a:r>
            <a:endParaRPr lang="en-US" sz="850" dirty="0"/>
          </a:p>
        </p:txBody>
      </p:sp>
      <p:sp>
        <p:nvSpPr>
          <p:cNvPr id="13" name="Shape 9"/>
          <p:cNvSpPr/>
          <p:nvPr/>
        </p:nvSpPr>
        <p:spPr>
          <a:xfrm>
            <a:off x="4974336" y="1783080"/>
            <a:ext cx="2286000" cy="658368"/>
          </a:xfrm>
          <a:prstGeom prst="chevron">
            <a:avLst/>
          </a:prstGeom>
          <a:solidFill>
            <a:srgbClr val="DB2259"/>
          </a:solidFill>
          <a:ln/>
        </p:spPr>
      </p:sp>
      <p:sp>
        <p:nvSpPr>
          <p:cNvPr id="14" name="Text 10"/>
          <p:cNvSpPr txBox="1"/>
          <p:nvPr/>
        </p:nvSpPr>
        <p:spPr>
          <a:xfrm>
            <a:off x="5138928"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EVIDENCIA</a:t>
            </a:r>
            <a:endParaRPr lang="en-US" sz="900" dirty="0"/>
          </a:p>
        </p:txBody>
      </p:sp>
      <p:sp>
        <p:nvSpPr>
          <p:cNvPr id="15" name="Text 11"/>
          <p:cNvSpPr txBox="1"/>
          <p:nvPr/>
        </p:nvSpPr>
        <p:spPr>
          <a:xfrm>
            <a:off x="5020056"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Qué dicen los datos</a:t>
            </a:r>
            <a:endParaRPr lang="en-US" sz="850" dirty="0"/>
          </a:p>
        </p:txBody>
      </p:sp>
      <p:sp>
        <p:nvSpPr>
          <p:cNvPr id="16" name="Shape 12"/>
          <p:cNvSpPr/>
          <p:nvPr/>
        </p:nvSpPr>
        <p:spPr>
          <a:xfrm>
            <a:off x="7187184" y="1783080"/>
            <a:ext cx="2286000" cy="658368"/>
          </a:xfrm>
          <a:prstGeom prst="chevron">
            <a:avLst/>
          </a:prstGeom>
          <a:solidFill>
            <a:srgbClr val="C8136C"/>
          </a:solidFill>
          <a:ln/>
        </p:spPr>
      </p:sp>
      <p:sp>
        <p:nvSpPr>
          <p:cNvPr id="17" name="Text 13"/>
          <p:cNvSpPr txBox="1"/>
          <p:nvPr/>
        </p:nvSpPr>
        <p:spPr>
          <a:xfrm>
            <a:off x="7351776"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PRÁCTICA</a:t>
            </a:r>
            <a:endParaRPr lang="en-US" sz="900" dirty="0"/>
          </a:p>
        </p:txBody>
      </p:sp>
      <p:sp>
        <p:nvSpPr>
          <p:cNvPr id="18" name="Text 14"/>
          <p:cNvSpPr txBox="1"/>
          <p:nvPr/>
        </p:nvSpPr>
        <p:spPr>
          <a:xfrm>
            <a:off x="7232904"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Casos de planta</a:t>
            </a:r>
            <a:endParaRPr lang="en-US" sz="850" dirty="0"/>
          </a:p>
        </p:txBody>
      </p:sp>
      <p:sp>
        <p:nvSpPr>
          <p:cNvPr id="19" name="Shape 15"/>
          <p:cNvSpPr/>
          <p:nvPr/>
        </p:nvSpPr>
        <p:spPr>
          <a:xfrm>
            <a:off x="9400032" y="1783080"/>
            <a:ext cx="2286000" cy="658368"/>
          </a:xfrm>
          <a:prstGeom prst="chevron">
            <a:avLst/>
          </a:prstGeom>
          <a:solidFill>
            <a:srgbClr val="5B2A86"/>
          </a:solidFill>
          <a:ln/>
        </p:spPr>
      </p:sp>
      <p:sp>
        <p:nvSpPr>
          <p:cNvPr id="20" name="Text 16"/>
          <p:cNvSpPr txBox="1"/>
          <p:nvPr/>
        </p:nvSpPr>
        <p:spPr>
          <a:xfrm>
            <a:off x="9564624" y="1783080"/>
            <a:ext cx="1956816"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entury Gothic" pitchFamily="34" charset="0"/>
                <a:ea typeface="Century Gothic" pitchFamily="34" charset="-122"/>
                <a:cs typeface="Century Gothic" pitchFamily="34" charset="-120"/>
              </a:rPr>
              <a:t>COMPROMISO</a:t>
            </a:r>
            <a:endParaRPr lang="en-US" sz="900" dirty="0"/>
          </a:p>
        </p:txBody>
      </p:sp>
      <p:sp>
        <p:nvSpPr>
          <p:cNvPr id="21" name="Text 17"/>
          <p:cNvSpPr txBox="1"/>
          <p:nvPr/>
        </p:nvSpPr>
        <p:spPr>
          <a:xfrm>
            <a:off x="9445752" y="2551176"/>
            <a:ext cx="2121408" cy="822960"/>
          </a:xfrm>
          <a:prstGeom prst="rect">
            <a:avLst/>
          </a:prstGeom>
          <a:noFill/>
          <a:ln/>
        </p:spPr>
        <p:txBody>
          <a:bodyPr wrap="square" lIns="0" tIns="0" rIns="0" bIns="0" rtlCol="0" anchor="t"/>
          <a:lstStyle/>
          <a:p>
            <a:pPr algn="ctr" indent="0" marL="0">
              <a:buNone/>
            </a:pPr>
            <a:r>
              <a:rPr lang="en-US" sz="850" dirty="0">
                <a:solidFill>
                  <a:srgbClr val="5A5A6E"/>
                </a:solidFill>
                <a:latin typeface="Century Gothic" pitchFamily="34" charset="0"/>
                <a:ea typeface="Century Gothic" pitchFamily="34" charset="-122"/>
                <a:cs typeface="Century Gothic" pitchFamily="34" charset="-120"/>
              </a:rPr>
              <a:t>Una persona, una conversación</a:t>
            </a:r>
            <a:endParaRPr lang="en-US" sz="850" dirty="0"/>
          </a:p>
        </p:txBody>
      </p:sp>
      <p:sp>
        <p:nvSpPr>
          <p:cNvPr id="22" name="Shape 18"/>
          <p:cNvSpPr/>
          <p:nvPr/>
        </p:nvSpPr>
        <p:spPr>
          <a:xfrm>
            <a:off x="548640" y="3840480"/>
            <a:ext cx="2606040" cy="54864"/>
          </a:xfrm>
          <a:prstGeom prst="rect">
            <a:avLst/>
          </a:prstGeom>
          <a:solidFill>
            <a:srgbClr val="FF8C47"/>
          </a:solidFill>
          <a:ln/>
        </p:spPr>
      </p:sp>
      <p:sp>
        <p:nvSpPr>
          <p:cNvPr id="23" name="Text 19"/>
          <p:cNvSpPr txBox="1"/>
          <p:nvPr/>
        </p:nvSpPr>
        <p:spPr>
          <a:xfrm>
            <a:off x="548640"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creencia</a:t>
            </a:r>
            <a:endParaRPr lang="en-US" sz="1800" dirty="0"/>
          </a:p>
        </p:txBody>
      </p:sp>
      <p:sp>
        <p:nvSpPr>
          <p:cNvPr id="24" name="Text 20"/>
          <p:cNvSpPr txBox="1"/>
          <p:nvPr/>
        </p:nvSpPr>
        <p:spPr>
          <a:xfrm>
            <a:off x="548640"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revisada con evidencia</a:t>
            </a:r>
            <a:endParaRPr lang="en-US" sz="1200" dirty="0"/>
          </a:p>
        </p:txBody>
      </p:sp>
      <p:sp>
        <p:nvSpPr>
          <p:cNvPr id="25" name="Shape 21"/>
          <p:cNvSpPr/>
          <p:nvPr/>
        </p:nvSpPr>
        <p:spPr>
          <a:xfrm>
            <a:off x="3364992" y="3840480"/>
            <a:ext cx="2606040" cy="54864"/>
          </a:xfrm>
          <a:prstGeom prst="rect">
            <a:avLst/>
          </a:prstGeom>
          <a:solidFill>
            <a:srgbClr val="FA4642"/>
          </a:solidFill>
          <a:ln/>
        </p:spPr>
      </p:sp>
      <p:sp>
        <p:nvSpPr>
          <p:cNvPr id="26" name="Text 22"/>
          <p:cNvSpPr txBox="1"/>
          <p:nvPr/>
        </p:nvSpPr>
        <p:spPr>
          <a:xfrm>
            <a:off x="3364992"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persona</a:t>
            </a:r>
            <a:endParaRPr lang="en-US" sz="1800" dirty="0"/>
          </a:p>
        </p:txBody>
      </p:sp>
      <p:sp>
        <p:nvSpPr>
          <p:cNvPr id="27" name="Text 23"/>
          <p:cNvSpPr txBox="1"/>
          <p:nvPr/>
        </p:nvSpPr>
        <p:spPr>
          <a:xfrm>
            <a:off x="3364992"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leída de otra manera</a:t>
            </a:r>
            <a:endParaRPr lang="en-US" sz="1200" dirty="0"/>
          </a:p>
        </p:txBody>
      </p:sp>
      <p:sp>
        <p:nvSpPr>
          <p:cNvPr id="28" name="Shape 24"/>
          <p:cNvSpPr/>
          <p:nvPr/>
        </p:nvSpPr>
        <p:spPr>
          <a:xfrm>
            <a:off x="6181344" y="3840480"/>
            <a:ext cx="2606040" cy="54864"/>
          </a:xfrm>
          <a:prstGeom prst="rect">
            <a:avLst/>
          </a:prstGeom>
          <a:solidFill>
            <a:srgbClr val="DB2259"/>
          </a:solidFill>
          <a:ln/>
        </p:spPr>
      </p:sp>
      <p:sp>
        <p:nvSpPr>
          <p:cNvPr id="29" name="Text 25"/>
          <p:cNvSpPr txBox="1"/>
          <p:nvPr/>
        </p:nvSpPr>
        <p:spPr>
          <a:xfrm>
            <a:off x="6181344"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herramienta</a:t>
            </a:r>
            <a:endParaRPr lang="en-US" sz="1800" dirty="0"/>
          </a:p>
        </p:txBody>
      </p:sp>
      <p:sp>
        <p:nvSpPr>
          <p:cNvPr id="30" name="Text 26"/>
          <p:cNvSpPr txBox="1"/>
          <p:nvPr/>
        </p:nvSpPr>
        <p:spPr>
          <a:xfrm>
            <a:off x="6181344"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la Matriz de Flexibilidad</a:t>
            </a:r>
            <a:endParaRPr lang="en-US" sz="1200" dirty="0"/>
          </a:p>
        </p:txBody>
      </p:sp>
      <p:sp>
        <p:nvSpPr>
          <p:cNvPr id="31" name="Shape 27"/>
          <p:cNvSpPr/>
          <p:nvPr/>
        </p:nvSpPr>
        <p:spPr>
          <a:xfrm>
            <a:off x="8997696" y="3840480"/>
            <a:ext cx="2606040" cy="54864"/>
          </a:xfrm>
          <a:prstGeom prst="rect">
            <a:avLst/>
          </a:prstGeom>
          <a:solidFill>
            <a:srgbClr val="AA0582"/>
          </a:solidFill>
          <a:ln/>
        </p:spPr>
      </p:sp>
      <p:sp>
        <p:nvSpPr>
          <p:cNvPr id="32" name="Text 28"/>
          <p:cNvSpPr txBox="1"/>
          <p:nvPr/>
        </p:nvSpPr>
        <p:spPr>
          <a:xfrm>
            <a:off x="8997696" y="4023360"/>
            <a:ext cx="2606040" cy="45720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Una conversación</a:t>
            </a:r>
            <a:endParaRPr lang="en-US" sz="1800" dirty="0"/>
          </a:p>
        </p:txBody>
      </p:sp>
      <p:sp>
        <p:nvSpPr>
          <p:cNvPr id="33" name="Text 29"/>
          <p:cNvSpPr txBox="1"/>
          <p:nvPr/>
        </p:nvSpPr>
        <p:spPr>
          <a:xfrm>
            <a:off x="8997696" y="4480560"/>
            <a:ext cx="2606040" cy="54864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en los próximos 7 días</a:t>
            </a:r>
            <a:endParaRPr lang="en-US" sz="1200" dirty="0"/>
          </a:p>
        </p:txBody>
      </p:sp>
      <p:sp>
        <p:nvSpPr>
          <p:cNvPr id="34" name="Text 30"/>
          <p:cNvSpPr txBox="1"/>
          <p:nvPr/>
        </p:nvSpPr>
        <p:spPr>
          <a:xfrm>
            <a:off x="548640" y="3429000"/>
            <a:ext cx="54864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cada director se lleva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00 · APERTURA</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Tres acuerdos para una conversación entre pares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a:t>
            </a:r>
            <a:endParaRPr lang="en-US" sz="750" dirty="0"/>
          </a:p>
        </p:txBody>
      </p:sp>
      <p:sp>
        <p:nvSpPr>
          <p:cNvPr id="7" name="Shape 3"/>
          <p:cNvSpPr/>
          <p:nvPr/>
        </p:nvSpPr>
        <p:spPr>
          <a:xfrm>
            <a:off x="548640" y="1691640"/>
            <a:ext cx="3520440" cy="2377440"/>
          </a:xfrm>
          <a:prstGeom prst="roundRect">
            <a:avLst>
              <a:gd name="adj" fmla="val 3077"/>
            </a:avLst>
          </a:prstGeom>
          <a:solidFill>
            <a:srgbClr val="F4F5F9"/>
          </a:solidFill>
          <a:ln/>
        </p:spPr>
      </p:sp>
      <p:sp>
        <p:nvSpPr>
          <p:cNvPr id="8" name="Text 4"/>
          <p:cNvSpPr txBox="1"/>
          <p:nvPr/>
        </p:nvSpPr>
        <p:spPr>
          <a:xfrm>
            <a:off x="73152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1</a:t>
            </a:r>
            <a:endParaRPr lang="en-US" sz="800" dirty="0"/>
          </a:p>
        </p:txBody>
      </p:sp>
      <p:sp>
        <p:nvSpPr>
          <p:cNvPr id="9" name="Text 5"/>
          <p:cNvSpPr txBox="1"/>
          <p:nvPr/>
        </p:nvSpPr>
        <p:spPr>
          <a:xfrm>
            <a:off x="73152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usa, no se atribuye</a:t>
            </a:r>
            <a:endParaRPr lang="en-US" sz="1250" dirty="0"/>
          </a:p>
        </p:txBody>
      </p:sp>
      <p:sp>
        <p:nvSpPr>
          <p:cNvPr id="10" name="Text 6"/>
          <p:cNvSpPr txBox="1"/>
          <p:nvPr/>
        </p:nvSpPr>
        <p:spPr>
          <a:xfrm>
            <a:off x="73152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Lo que se dice aquí se puede usar afuera, pero nadie lo atribuye a una persona.</a:t>
            </a:r>
            <a:endParaRPr lang="en-US" sz="1200" dirty="0"/>
          </a:p>
        </p:txBody>
      </p:sp>
      <p:sp>
        <p:nvSpPr>
          <p:cNvPr id="11" name="Shape 7"/>
          <p:cNvSpPr/>
          <p:nvPr/>
        </p:nvSpPr>
        <p:spPr>
          <a:xfrm>
            <a:off x="4297680" y="1691640"/>
            <a:ext cx="3520440" cy="2377440"/>
          </a:xfrm>
          <a:prstGeom prst="roundRect">
            <a:avLst>
              <a:gd name="adj" fmla="val 3077"/>
            </a:avLst>
          </a:prstGeom>
          <a:solidFill>
            <a:srgbClr val="F4F5F9"/>
          </a:solidFill>
          <a:ln/>
        </p:spPr>
      </p:sp>
      <p:sp>
        <p:nvSpPr>
          <p:cNvPr id="12" name="Text 8"/>
          <p:cNvSpPr txBox="1"/>
          <p:nvPr/>
        </p:nvSpPr>
        <p:spPr>
          <a:xfrm>
            <a:off x="448056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2</a:t>
            </a:r>
            <a:endParaRPr lang="en-US" sz="800" dirty="0"/>
          </a:p>
        </p:txBody>
      </p:sp>
      <p:sp>
        <p:nvSpPr>
          <p:cNvPr id="13" name="Text 9"/>
          <p:cNvSpPr txBox="1"/>
          <p:nvPr/>
        </p:nvSpPr>
        <p:spPr>
          <a:xfrm>
            <a:off x="448056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Se vale disentir</a:t>
            </a:r>
            <a:endParaRPr lang="en-US" sz="1250" dirty="0"/>
          </a:p>
        </p:txBody>
      </p:sp>
      <p:sp>
        <p:nvSpPr>
          <p:cNvPr id="14" name="Text 10"/>
          <p:cNvSpPr txBox="1"/>
          <p:nvPr/>
        </p:nvSpPr>
        <p:spPr>
          <a:xfrm>
            <a:off x="448056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De los datos, del video, de los facilitadores y entre ustedes.</a:t>
            </a:r>
            <a:endParaRPr lang="en-US" sz="1200" dirty="0"/>
          </a:p>
        </p:txBody>
      </p:sp>
      <p:sp>
        <p:nvSpPr>
          <p:cNvPr id="15" name="Shape 11"/>
          <p:cNvSpPr/>
          <p:nvPr/>
        </p:nvSpPr>
        <p:spPr>
          <a:xfrm>
            <a:off x="8046720" y="1691640"/>
            <a:ext cx="3520440" cy="2377440"/>
          </a:xfrm>
          <a:prstGeom prst="roundRect">
            <a:avLst>
              <a:gd name="adj" fmla="val 3077"/>
            </a:avLst>
          </a:prstGeom>
          <a:solidFill>
            <a:srgbClr val="F4F5F9"/>
          </a:solidFill>
          <a:ln/>
        </p:spPr>
      </p:sp>
      <p:sp>
        <p:nvSpPr>
          <p:cNvPr id="16" name="Text 12"/>
          <p:cNvSpPr txBox="1"/>
          <p:nvPr/>
        </p:nvSpPr>
        <p:spPr>
          <a:xfrm>
            <a:off x="8229600" y="1965960"/>
            <a:ext cx="2606040" cy="274320"/>
          </a:xfrm>
          <a:prstGeom prst="rect">
            <a:avLst/>
          </a:prstGeom>
          <a:noFill/>
          <a:ln/>
        </p:spPr>
        <p:txBody>
          <a:bodyPr wrap="square" lIns="0" tIns="0" rIns="0" bIns="0" rtlCol="0" anchor="ctr"/>
          <a:lstStyle/>
          <a:p>
            <a:pPr indent="0" marL="0">
              <a:buNone/>
            </a:pPr>
            <a:r>
              <a:rPr lang="en-US" sz="800" b="1" spc="120" kern="0" dirty="0">
                <a:solidFill>
                  <a:srgbClr val="FA4642"/>
                </a:solidFill>
                <a:latin typeface="Century Gothic" pitchFamily="34" charset="0"/>
                <a:ea typeface="Century Gothic" pitchFamily="34" charset="-122"/>
                <a:cs typeface="Century Gothic" pitchFamily="34" charset="-120"/>
              </a:rPr>
              <a:t>ACUERDO 3</a:t>
            </a:r>
            <a:endParaRPr lang="en-US" sz="800" dirty="0"/>
          </a:p>
        </p:txBody>
      </p:sp>
      <p:sp>
        <p:nvSpPr>
          <p:cNvPr id="17" name="Text 13"/>
          <p:cNvSpPr txBox="1"/>
          <p:nvPr/>
        </p:nvSpPr>
        <p:spPr>
          <a:xfrm>
            <a:off x="8229600" y="2468880"/>
            <a:ext cx="3154680" cy="457200"/>
          </a:xfrm>
          <a:prstGeom prst="rect">
            <a:avLst/>
          </a:prstGeom>
          <a:noFill/>
          <a:ln/>
        </p:spPr>
        <p:txBody>
          <a:bodyPr wrap="square" lIns="0" tIns="0" rIns="0" bIns="0" rtlCol="0" anchor="t"/>
          <a:lstStyle/>
          <a:p>
            <a:pPr indent="0" marL="0">
              <a:buNone/>
            </a:pPr>
            <a:r>
              <a:rPr lang="en-US" sz="1250" b="1" dirty="0">
                <a:solidFill>
                  <a:srgbClr val="1A1A2E"/>
                </a:solidFill>
                <a:latin typeface="Century Gothic" pitchFamily="34" charset="0"/>
                <a:ea typeface="Century Gothic" pitchFamily="34" charset="-122"/>
                <a:cs typeface="Century Gothic" pitchFamily="34" charset="-120"/>
              </a:rPr>
              <a:t>Puedo pasar</a:t>
            </a:r>
            <a:endParaRPr lang="en-US" sz="1250" dirty="0"/>
          </a:p>
        </p:txBody>
      </p:sp>
      <p:sp>
        <p:nvSpPr>
          <p:cNvPr id="18" name="Text 14"/>
          <p:cNvSpPr txBox="1"/>
          <p:nvPr/>
        </p:nvSpPr>
        <p:spPr>
          <a:xfrm>
            <a:off x="8229600" y="2944368"/>
            <a:ext cx="3154680" cy="987552"/>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Cualquier persona puede no compartir, sin explicar por qué. Nada de lo escrito se recoge.</a:t>
            </a:r>
            <a:endParaRPr lang="en-US" sz="1200" dirty="0"/>
          </a:p>
        </p:txBody>
      </p:sp>
      <p:sp>
        <p:nvSpPr>
          <p:cNvPr id="19" name="Text 15"/>
          <p:cNvSpPr txBox="1"/>
          <p:nvPr/>
        </p:nvSpPr>
        <p:spPr>
          <a:xfrm>
            <a:off x="548640" y="438912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Aplica a todas las personas en la sala, incluida la dirección.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01</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1 · EXPERIENCIA · ACTO 1</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Primero, cómo reaccionamos nosotros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Ocho situaciones. Su primera reacción, no la ideal</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6</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Lean cada situación del cuaderno y elijan lo que realmente harían primero, un martes con la agenda llena.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Marquen qué tanto les incomoda la situación, de 1 a 4.</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No regresen a cambiar respuestas.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6</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Individual y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Cuaderno · Diagnóstico de Reacción del Líder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No es una prueba. No mide personalidad ni tiene relación con la edad.</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Las cuatro opciones son respuestas que buenos líderes usan todos los días.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 respuesta por defecto, mi rango y mis detonadores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7</a:t>
            </a:r>
            <a:endParaRPr lang="en-US" sz="750" dirty="0"/>
          </a:p>
        </p:txBody>
      </p:sp>
      <p:sp>
        <p:nvSpPr>
          <p:cNvPr id="7" name="Shape 3"/>
          <p:cNvSpPr/>
          <p:nvPr/>
        </p:nvSpPr>
        <p:spPr>
          <a:xfrm>
            <a:off x="548640" y="1645920"/>
            <a:ext cx="2606040" cy="73152"/>
          </a:xfrm>
          <a:prstGeom prst="rect">
            <a:avLst/>
          </a:prstGeom>
          <a:solidFill>
            <a:srgbClr val="FF8C47"/>
          </a:solidFill>
          <a:ln/>
        </p:spPr>
      </p:sp>
      <p:sp>
        <p:nvSpPr>
          <p:cNvPr id="8" name="Text 4"/>
          <p:cNvSpPr txBox="1"/>
          <p:nvPr/>
        </p:nvSpPr>
        <p:spPr>
          <a:xfrm>
            <a:off x="548640"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DIRIGIR</a:t>
            </a:r>
            <a:endParaRPr lang="en-US" sz="1800" dirty="0"/>
          </a:p>
        </p:txBody>
      </p:sp>
      <p:sp>
        <p:nvSpPr>
          <p:cNvPr id="9" name="Text 5"/>
          <p:cNvSpPr txBox="1"/>
          <p:nvPr/>
        </p:nvSpPr>
        <p:spPr>
          <a:xfrm>
            <a:off x="548640"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Defino, decido, fijo la regla</a:t>
            </a:r>
            <a:endParaRPr lang="en-US" sz="1150" dirty="0"/>
          </a:p>
        </p:txBody>
      </p:sp>
      <p:sp>
        <p:nvSpPr>
          <p:cNvPr id="10" name="Text 6"/>
          <p:cNvSpPr txBox="1"/>
          <p:nvPr/>
        </p:nvSpPr>
        <p:spPr>
          <a:xfrm>
            <a:off x="548640"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Seguridad, urgencia, estándar</a:t>
            </a:r>
            <a:endParaRPr lang="en-US" sz="1000" dirty="0"/>
          </a:p>
        </p:txBody>
      </p:sp>
      <p:sp>
        <p:nvSpPr>
          <p:cNvPr id="11" name="Shape 7"/>
          <p:cNvSpPr/>
          <p:nvPr/>
        </p:nvSpPr>
        <p:spPr>
          <a:xfrm>
            <a:off x="3364992" y="1645920"/>
            <a:ext cx="2606040" cy="73152"/>
          </a:xfrm>
          <a:prstGeom prst="rect">
            <a:avLst/>
          </a:prstGeom>
          <a:solidFill>
            <a:srgbClr val="FA4642"/>
          </a:solidFill>
          <a:ln/>
        </p:spPr>
      </p:sp>
      <p:sp>
        <p:nvSpPr>
          <p:cNvPr id="12" name="Text 8"/>
          <p:cNvSpPr txBox="1"/>
          <p:nvPr/>
        </p:nvSpPr>
        <p:spPr>
          <a:xfrm>
            <a:off x="3364992"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EXPLICAR</a:t>
            </a:r>
            <a:endParaRPr lang="en-US" sz="1800" dirty="0"/>
          </a:p>
        </p:txBody>
      </p:sp>
      <p:sp>
        <p:nvSpPr>
          <p:cNvPr id="13" name="Text 9"/>
          <p:cNvSpPr txBox="1"/>
          <p:nvPr/>
        </p:nvSpPr>
        <p:spPr>
          <a:xfrm>
            <a:off x="3364992"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Doy el porqué y el contexto</a:t>
            </a:r>
            <a:endParaRPr lang="en-US" sz="1150" dirty="0"/>
          </a:p>
        </p:txBody>
      </p:sp>
      <p:sp>
        <p:nvSpPr>
          <p:cNvPr id="14" name="Text 10"/>
          <p:cNvSpPr txBox="1"/>
          <p:nvPr/>
        </p:nvSpPr>
        <p:spPr>
          <a:xfrm>
            <a:off x="3364992"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Cambios, decisiones que no se entienden</a:t>
            </a:r>
            <a:endParaRPr lang="en-US" sz="1000" dirty="0"/>
          </a:p>
        </p:txBody>
      </p:sp>
      <p:sp>
        <p:nvSpPr>
          <p:cNvPr id="15" name="Shape 11"/>
          <p:cNvSpPr/>
          <p:nvPr/>
        </p:nvSpPr>
        <p:spPr>
          <a:xfrm>
            <a:off x="6181344" y="1645920"/>
            <a:ext cx="2606040" cy="73152"/>
          </a:xfrm>
          <a:prstGeom prst="rect">
            <a:avLst/>
          </a:prstGeom>
          <a:solidFill>
            <a:srgbClr val="DB2259"/>
          </a:solidFill>
          <a:ln/>
        </p:spPr>
      </p:sp>
      <p:sp>
        <p:nvSpPr>
          <p:cNvPr id="16" name="Text 12"/>
          <p:cNvSpPr txBox="1"/>
          <p:nvPr/>
        </p:nvSpPr>
        <p:spPr>
          <a:xfrm>
            <a:off x="6181344"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ACOMPAÑAR</a:t>
            </a:r>
            <a:endParaRPr lang="en-US" sz="1800" dirty="0"/>
          </a:p>
        </p:txBody>
      </p:sp>
      <p:sp>
        <p:nvSpPr>
          <p:cNvPr id="17" name="Text 13"/>
          <p:cNvSpPr txBox="1"/>
          <p:nvPr/>
        </p:nvSpPr>
        <p:spPr>
          <a:xfrm>
            <a:off x="6181344"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Desarrollo, doy retroalimentación, hago acompañamiento</a:t>
            </a:r>
            <a:endParaRPr lang="en-US" sz="1150" dirty="0"/>
          </a:p>
        </p:txBody>
      </p:sp>
      <p:sp>
        <p:nvSpPr>
          <p:cNvPr id="18" name="Text 14"/>
          <p:cNvSpPr txBox="1"/>
          <p:nvPr/>
        </p:nvSpPr>
        <p:spPr>
          <a:xfrm>
            <a:off x="6181344"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Crecimiento, desempeño, aspiración</a:t>
            </a:r>
            <a:endParaRPr lang="en-US" sz="1000" dirty="0"/>
          </a:p>
        </p:txBody>
      </p:sp>
      <p:sp>
        <p:nvSpPr>
          <p:cNvPr id="19" name="Shape 15"/>
          <p:cNvSpPr/>
          <p:nvPr/>
        </p:nvSpPr>
        <p:spPr>
          <a:xfrm>
            <a:off x="8997696" y="1645920"/>
            <a:ext cx="2606040" cy="73152"/>
          </a:xfrm>
          <a:prstGeom prst="rect">
            <a:avLst/>
          </a:prstGeom>
          <a:solidFill>
            <a:srgbClr val="AA0582"/>
          </a:solidFill>
          <a:ln/>
        </p:spPr>
      </p:sp>
      <p:sp>
        <p:nvSpPr>
          <p:cNvPr id="20" name="Text 16"/>
          <p:cNvSpPr txBox="1"/>
          <p:nvPr/>
        </p:nvSpPr>
        <p:spPr>
          <a:xfrm>
            <a:off x="8997696" y="1810512"/>
            <a:ext cx="2606040" cy="411480"/>
          </a:xfrm>
          <a:prstGeom prst="rect">
            <a:avLst/>
          </a:prstGeom>
          <a:noFill/>
          <a:ln/>
        </p:spPr>
        <p:txBody>
          <a:bodyPr wrap="square" lIns="0" tIns="0" rIns="0" bIns="0" rtlCol="0" anchor="t"/>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EXPLORAR</a:t>
            </a:r>
            <a:endParaRPr lang="en-US" sz="1800" dirty="0"/>
          </a:p>
        </p:txBody>
      </p:sp>
      <p:sp>
        <p:nvSpPr>
          <p:cNvPr id="21" name="Text 17"/>
          <p:cNvSpPr txBox="1"/>
          <p:nvPr/>
        </p:nvSpPr>
        <p:spPr>
          <a:xfrm>
            <a:off x="8997696" y="2240280"/>
            <a:ext cx="2606040" cy="548640"/>
          </a:xfrm>
          <a:prstGeom prst="rect">
            <a:avLst/>
          </a:prstGeom>
          <a:noFill/>
          <a:ln/>
        </p:spPr>
        <p:txBody>
          <a:bodyPr wrap="square" lIns="0" tIns="0" rIns="0" bIns="0" rtlCol="0" anchor="t"/>
          <a:lstStyle/>
          <a:p>
            <a:pPr indent="0" marL="0">
              <a:buNone/>
            </a:pPr>
            <a:r>
              <a:rPr lang="en-US" sz="1150" dirty="0">
                <a:solidFill>
                  <a:srgbClr val="1A1A2E"/>
                </a:solidFill>
                <a:latin typeface="Century Gothic" pitchFamily="34" charset="0"/>
                <a:ea typeface="Century Gothic" pitchFamily="34" charset="-122"/>
                <a:cs typeface="Century Gothic" pitchFamily="34" charset="-120"/>
              </a:rPr>
              <a:t>Pregunto, escucho, suspendo el juicio</a:t>
            </a:r>
            <a:endParaRPr lang="en-US" sz="1150" dirty="0"/>
          </a:p>
        </p:txBody>
      </p:sp>
      <p:sp>
        <p:nvSpPr>
          <p:cNvPr id="22" name="Text 18"/>
          <p:cNvSpPr txBox="1"/>
          <p:nvPr/>
        </p:nvSpPr>
        <p:spPr>
          <a:xfrm>
            <a:off x="8997696" y="2834640"/>
            <a:ext cx="2606040" cy="548640"/>
          </a:xfrm>
          <a:prstGeom prst="rect">
            <a:avLst/>
          </a:prstGeom>
          <a:noFill/>
          <a:ln/>
        </p:spPr>
        <p:txBody>
          <a:bodyPr wrap="square" lIns="0" tIns="0" rIns="0" bIns="0" rtlCol="0" anchor="t"/>
          <a:lstStyle/>
          <a:p>
            <a:pPr indent="0" marL="0">
              <a:buNone/>
            </a:pPr>
            <a:r>
              <a:rPr lang="en-US" sz="1000" dirty="0">
                <a:solidFill>
                  <a:srgbClr val="5A5A6E"/>
                </a:solidFill>
                <a:latin typeface="Century Gothic" pitchFamily="34" charset="0"/>
                <a:ea typeface="Century Gothic" pitchFamily="34" charset="-122"/>
                <a:cs typeface="Century Gothic" pitchFamily="34" charset="-120"/>
              </a:rPr>
              <a:t>Útil cuando: Ambigüedad, conducta que no entiendo</a:t>
            </a:r>
            <a:endParaRPr lang="en-US" sz="1000" dirty="0"/>
          </a:p>
        </p:txBody>
      </p:sp>
      <p:sp>
        <p:nvSpPr>
          <p:cNvPr id="23" name="Shape 19"/>
          <p:cNvSpPr/>
          <p:nvPr/>
        </p:nvSpPr>
        <p:spPr>
          <a:xfrm>
            <a:off x="548640" y="3749040"/>
            <a:ext cx="3520440" cy="1600200"/>
          </a:xfrm>
          <a:prstGeom prst="roundRect">
            <a:avLst>
              <a:gd name="adj" fmla="val 4571"/>
            </a:avLst>
          </a:prstGeom>
          <a:solidFill>
            <a:srgbClr val="F4F5F9"/>
          </a:solidFill>
          <a:ln/>
        </p:spPr>
      </p:sp>
      <p:sp>
        <p:nvSpPr>
          <p:cNvPr id="24" name="Text 20"/>
          <p:cNvSpPr txBox="1"/>
          <p:nvPr/>
        </p:nvSpPr>
        <p:spPr>
          <a:xfrm>
            <a:off x="77724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RESPUESTA POR DEFECTO</a:t>
            </a:r>
            <a:endParaRPr lang="en-US" sz="950" dirty="0"/>
          </a:p>
        </p:txBody>
      </p:sp>
      <p:sp>
        <p:nvSpPr>
          <p:cNvPr id="25" name="Text 21"/>
          <p:cNvSpPr txBox="1"/>
          <p:nvPr/>
        </p:nvSpPr>
        <p:spPr>
          <a:xfrm>
            <a:off x="77724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La columna con más respuestas. A la que llego sin pensar.</a:t>
            </a:r>
            <a:endParaRPr lang="en-US" sz="1200" dirty="0"/>
          </a:p>
        </p:txBody>
      </p:sp>
      <p:sp>
        <p:nvSpPr>
          <p:cNvPr id="26" name="Shape 22"/>
          <p:cNvSpPr/>
          <p:nvPr/>
        </p:nvSpPr>
        <p:spPr>
          <a:xfrm>
            <a:off x="4297680" y="3749040"/>
            <a:ext cx="3520440" cy="1600200"/>
          </a:xfrm>
          <a:prstGeom prst="roundRect">
            <a:avLst>
              <a:gd name="adj" fmla="val 4571"/>
            </a:avLst>
          </a:prstGeom>
          <a:solidFill>
            <a:srgbClr val="F4F5F9"/>
          </a:solidFill>
          <a:ln/>
        </p:spPr>
      </p:sp>
      <p:sp>
        <p:nvSpPr>
          <p:cNvPr id="27" name="Text 23"/>
          <p:cNvSpPr txBox="1"/>
          <p:nvPr/>
        </p:nvSpPr>
        <p:spPr>
          <a:xfrm>
            <a:off x="452628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 RANGO</a:t>
            </a:r>
            <a:endParaRPr lang="en-US" sz="950" dirty="0"/>
          </a:p>
        </p:txBody>
      </p:sp>
      <p:sp>
        <p:nvSpPr>
          <p:cNvPr id="28" name="Text 24"/>
          <p:cNvSpPr txBox="1"/>
          <p:nvPr/>
        </p:nvSpPr>
        <p:spPr>
          <a:xfrm>
            <a:off x="452628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Cuántas columnas tienen 2 o más. Cuántas respuestas tengo disponibles.</a:t>
            </a:r>
            <a:endParaRPr lang="en-US" sz="1200" dirty="0"/>
          </a:p>
        </p:txBody>
      </p:sp>
      <p:sp>
        <p:nvSpPr>
          <p:cNvPr id="29" name="Shape 25"/>
          <p:cNvSpPr/>
          <p:nvPr/>
        </p:nvSpPr>
        <p:spPr>
          <a:xfrm>
            <a:off x="8046720" y="3749040"/>
            <a:ext cx="3520440" cy="1600200"/>
          </a:xfrm>
          <a:prstGeom prst="roundRect">
            <a:avLst>
              <a:gd name="adj" fmla="val 4571"/>
            </a:avLst>
          </a:prstGeom>
          <a:solidFill>
            <a:srgbClr val="F4F5F9"/>
          </a:solidFill>
          <a:ln/>
        </p:spPr>
      </p:sp>
      <p:sp>
        <p:nvSpPr>
          <p:cNvPr id="30" name="Text 26"/>
          <p:cNvSpPr txBox="1"/>
          <p:nvPr/>
        </p:nvSpPr>
        <p:spPr>
          <a:xfrm>
            <a:off x="8275320" y="3913632"/>
            <a:ext cx="3108960" cy="274320"/>
          </a:xfrm>
          <a:prstGeom prst="rect">
            <a:avLst/>
          </a:prstGeom>
          <a:noFill/>
          <a:ln/>
        </p:spPr>
        <p:txBody>
          <a:bodyPr wrap="square" lIns="0" tIns="0" rIns="0" bIns="0" rtlCol="0" anchor="t"/>
          <a:lstStyle/>
          <a:p>
            <a:pPr indent="0" marL="0">
              <a:buNone/>
            </a:pPr>
            <a:r>
              <a:rPr lang="en-US" sz="950" b="1" spc="150" kern="0" dirty="0">
                <a:solidFill>
                  <a:srgbClr val="FA4642"/>
                </a:solidFill>
                <a:latin typeface="Century Gothic" pitchFamily="34" charset="0"/>
                <a:ea typeface="Century Gothic" pitchFamily="34" charset="-122"/>
                <a:cs typeface="Century Gothic" pitchFamily="34" charset="-120"/>
              </a:rPr>
              <a:t>MIS DETONADORES</a:t>
            </a:r>
            <a:endParaRPr lang="en-US" sz="950" dirty="0"/>
          </a:p>
        </p:txBody>
      </p:sp>
      <p:sp>
        <p:nvSpPr>
          <p:cNvPr id="31" name="Text 27"/>
          <p:cNvSpPr txBox="1"/>
          <p:nvPr/>
        </p:nvSpPr>
        <p:spPr>
          <a:xfrm>
            <a:off x="8275320" y="4251960"/>
            <a:ext cx="3108960" cy="10058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Situaciones con incomodidad 3 o 4. ¿Qué tienen en común?</a:t>
            </a:r>
            <a:endParaRPr lang="en-US" sz="1200" dirty="0"/>
          </a:p>
        </p:txBody>
      </p:sp>
      <p:sp>
        <p:nvSpPr>
          <p:cNvPr id="32" name="Text 28"/>
          <p:cNvSpPr txBox="1"/>
          <p:nvPr/>
        </p:nvSpPr>
        <p:spPr>
          <a:xfrm>
            <a:off x="548640" y="5623560"/>
            <a:ext cx="10972800"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Ninguna respuesta es mejor que otra. El riesgo es usar solo una.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01 · EL ESPEJO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Vemos a las personas desde nuestro propio sistema operativo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8</a:t>
            </a:r>
            <a:endParaRPr lang="en-US" sz="750" dirty="0"/>
          </a:p>
        </p:txBody>
      </p:sp>
      <p:sp>
        <p:nvSpPr>
          <p:cNvPr id="7" name="Text 3"/>
          <p:cNvSpPr txBox="1"/>
          <p:nvPr/>
        </p:nvSpPr>
        <p:spPr>
          <a:xfrm>
            <a:off x="54864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Trabajo duro</a:t>
            </a:r>
            <a:endParaRPr lang="en-US" sz="2100" dirty="0"/>
          </a:p>
        </p:txBody>
      </p:sp>
      <p:sp>
        <p:nvSpPr>
          <p:cNvPr id="8" name="Text 4"/>
          <p:cNvSpPr txBox="1"/>
          <p:nvPr/>
        </p:nvSpPr>
        <p:spPr>
          <a:xfrm>
            <a:off x="333756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Respeto</a:t>
            </a:r>
            <a:endParaRPr lang="en-US" sz="2100" dirty="0"/>
          </a:p>
        </p:txBody>
      </p:sp>
      <p:sp>
        <p:nvSpPr>
          <p:cNvPr id="9" name="Text 5"/>
          <p:cNvSpPr txBox="1"/>
          <p:nvPr/>
        </p:nvSpPr>
        <p:spPr>
          <a:xfrm>
            <a:off x="6126480" y="169164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Autoridad</a:t>
            </a:r>
            <a:endParaRPr lang="en-US" sz="2100" dirty="0"/>
          </a:p>
        </p:txBody>
      </p:sp>
      <p:sp>
        <p:nvSpPr>
          <p:cNvPr id="10" name="Text 6"/>
          <p:cNvSpPr txBox="1"/>
          <p:nvPr/>
        </p:nvSpPr>
        <p:spPr>
          <a:xfrm>
            <a:off x="8915400" y="1691640"/>
            <a:ext cx="2697480" cy="731520"/>
          </a:xfrm>
          <a:prstGeom prst="rect">
            <a:avLst/>
          </a:prstGeom>
          <a:noFill/>
          <a:ln/>
        </p:spPr>
        <p:txBody>
          <a:bodyPr wrap="square" lIns="0" tIns="0" rIns="0" bIns="0" rtlCol="0" anchor="ctr"/>
          <a:lstStyle/>
          <a:p>
            <a:pPr indent="0" marL="0">
              <a:buNone/>
            </a:pPr>
            <a:r>
              <a:rPr lang="en-US" sz="2100" b="1" dirty="0">
                <a:solidFill>
                  <a:srgbClr val="FA4642"/>
                </a:solidFill>
                <a:latin typeface="Century Gothic" pitchFamily="34" charset="0"/>
                <a:ea typeface="Century Gothic" pitchFamily="34" charset="-122"/>
                <a:cs typeface="Century Gothic" pitchFamily="34" charset="-120"/>
              </a:rPr>
              <a:t>Compromiso</a:t>
            </a:r>
            <a:endParaRPr lang="en-US" sz="2100" dirty="0"/>
          </a:p>
        </p:txBody>
      </p:sp>
      <p:sp>
        <p:nvSpPr>
          <p:cNvPr id="11" name="Text 7"/>
          <p:cNvSpPr txBox="1"/>
          <p:nvPr/>
        </p:nvSpPr>
        <p:spPr>
          <a:xfrm>
            <a:off x="54864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Estabilidad</a:t>
            </a:r>
            <a:endParaRPr lang="en-US" sz="2100" dirty="0"/>
          </a:p>
        </p:txBody>
      </p:sp>
      <p:sp>
        <p:nvSpPr>
          <p:cNvPr id="12" name="Text 8"/>
          <p:cNvSpPr txBox="1"/>
          <p:nvPr/>
        </p:nvSpPr>
        <p:spPr>
          <a:xfrm>
            <a:off x="333756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Reconocimiento</a:t>
            </a:r>
            <a:endParaRPr lang="en-US" sz="2100" dirty="0"/>
          </a:p>
        </p:txBody>
      </p:sp>
      <p:sp>
        <p:nvSpPr>
          <p:cNvPr id="13" name="Text 9"/>
          <p:cNvSpPr txBox="1"/>
          <p:nvPr/>
        </p:nvSpPr>
        <p:spPr>
          <a:xfrm>
            <a:off x="612648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Crecimiento</a:t>
            </a:r>
            <a:endParaRPr lang="en-US" sz="2100" dirty="0"/>
          </a:p>
        </p:txBody>
      </p:sp>
      <p:sp>
        <p:nvSpPr>
          <p:cNvPr id="14" name="Text 10"/>
          <p:cNvSpPr txBox="1"/>
          <p:nvPr/>
        </p:nvSpPr>
        <p:spPr>
          <a:xfrm>
            <a:off x="8915400" y="256032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Balance</a:t>
            </a:r>
            <a:endParaRPr lang="en-US" sz="2100" dirty="0"/>
          </a:p>
        </p:txBody>
      </p:sp>
      <p:sp>
        <p:nvSpPr>
          <p:cNvPr id="15" name="Text 11"/>
          <p:cNvSpPr txBox="1"/>
          <p:nvPr/>
        </p:nvSpPr>
        <p:spPr>
          <a:xfrm>
            <a:off x="54864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Lealtad</a:t>
            </a:r>
            <a:endParaRPr lang="en-US" sz="2100" dirty="0"/>
          </a:p>
        </p:txBody>
      </p:sp>
      <p:sp>
        <p:nvSpPr>
          <p:cNvPr id="16" name="Text 12"/>
          <p:cNvSpPr txBox="1"/>
          <p:nvPr/>
        </p:nvSpPr>
        <p:spPr>
          <a:xfrm>
            <a:off x="333756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Comunicación</a:t>
            </a:r>
            <a:endParaRPr lang="en-US" sz="2100" dirty="0"/>
          </a:p>
        </p:txBody>
      </p:sp>
      <p:sp>
        <p:nvSpPr>
          <p:cNvPr id="17" name="Text 13"/>
          <p:cNvSpPr txBox="1"/>
          <p:nvPr/>
        </p:nvSpPr>
        <p:spPr>
          <a:xfrm>
            <a:off x="6126480" y="3429000"/>
            <a:ext cx="2697480" cy="731520"/>
          </a:xfrm>
          <a:prstGeom prst="rect">
            <a:avLst/>
          </a:prstGeom>
          <a:noFill/>
          <a:ln/>
        </p:spPr>
        <p:txBody>
          <a:bodyPr wrap="square" lIns="0" tIns="0" rIns="0" bIns="0" rtlCol="0" anchor="ctr"/>
          <a:lstStyle/>
          <a:p>
            <a:pPr indent="0" marL="0">
              <a:buNone/>
            </a:pPr>
            <a:r>
              <a:rPr lang="en-US" sz="2100" b="1" dirty="0">
                <a:solidFill>
                  <a:srgbClr val="1A1A2E"/>
                </a:solidFill>
                <a:latin typeface="Century Gothic" pitchFamily="34" charset="0"/>
                <a:ea typeface="Century Gothic" pitchFamily="34" charset="-122"/>
                <a:cs typeface="Century Gothic" pitchFamily="34" charset="-120"/>
              </a:rPr>
              <a:t>Éxito</a:t>
            </a:r>
            <a:endParaRPr lang="en-US" sz="2100" dirty="0"/>
          </a:p>
        </p:txBody>
      </p:sp>
      <p:sp>
        <p:nvSpPr>
          <p:cNvPr id="18" name="Shape 14"/>
          <p:cNvSpPr/>
          <p:nvPr/>
        </p:nvSpPr>
        <p:spPr>
          <a:xfrm>
            <a:off x="548640" y="4434840"/>
            <a:ext cx="11064240" cy="0"/>
          </a:xfrm>
          <a:prstGeom prst="line">
            <a:avLst/>
          </a:prstGeom>
          <a:noFill/>
          <a:ln w="9525">
            <a:solidFill>
              <a:srgbClr val="D6D8EA"/>
            </a:solidFill>
            <a:prstDash val="solid"/>
          </a:ln>
        </p:spPr>
      </p:sp>
      <p:sp>
        <p:nvSpPr>
          <p:cNvPr id="19" name="Text 15"/>
          <p:cNvSpPr txBox="1"/>
          <p:nvPr/>
        </p:nvSpPr>
        <p:spPr>
          <a:xfrm>
            <a:off x="548640" y="4572000"/>
            <a:ext cx="10972800" cy="45720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Las mismas palabras. Distinto significado según dónde y cuándo aprendimos a trabajar.</a:t>
            </a:r>
            <a:endParaRPr lang="en-US" sz="1500" dirty="0"/>
          </a:p>
        </p:txBody>
      </p:sp>
      <p:sp>
        <p:nvSpPr>
          <p:cNvPr id="20" name="Text 16"/>
          <p:cNvSpPr txBox="1"/>
          <p:nvPr/>
        </p:nvSpPr>
        <p:spPr>
          <a:xfrm>
            <a:off x="548640" y="5074920"/>
            <a:ext cx="10972800" cy="45720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Nuestra interpretación es real para nosotros. No necesariamente describe la realidad de la otra persona.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02</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2 · PROVOCACIÓN Y EVIDENCIA · ACTOS 2 A 4</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Lo que creemos, frente a lo que dicen los datos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opinión, no evidencia. Úsenla para pensar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Sinek, S. (2016). Entrevista en Inside Quest con Tom Bilyeu ("The Millennial Question"). Fragmento. Opinión de un divulgador, no evidencia.</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10</a:t>
            </a:r>
            <a:endParaRPr lang="en-US" sz="750" dirty="0"/>
          </a:p>
        </p:txBody>
      </p:sp>
      <p:sp>
        <p:nvSpPr>
          <p:cNvPr id="8" name="Text 4"/>
          <p:cNvSpPr txBox="1"/>
          <p:nvPr/>
        </p:nvSpPr>
        <p:spPr>
          <a:xfrm>
            <a:off x="548640" y="1737360"/>
            <a:ext cx="2743200" cy="1280160"/>
          </a:xfrm>
          <a:prstGeom prst="rect">
            <a:avLst/>
          </a:prstGeom>
          <a:noFill/>
          <a:ln/>
        </p:spPr>
        <p:txBody>
          <a:bodyPr wrap="square" lIns="0" tIns="0" rIns="0" bIns="0" rtlCol="0" anchor="t"/>
          <a:lstStyle/>
          <a:p>
            <a:pPr indent="0" marL="0">
              <a:buNone/>
            </a:pPr>
            <a:r>
              <a:rPr lang="en-US" sz="8800" b="1" dirty="0">
                <a:solidFill>
                  <a:srgbClr val="FA4642"/>
                </a:solidFill>
                <a:latin typeface="Century Gothic" pitchFamily="34" charset="0"/>
                <a:ea typeface="Century Gothic" pitchFamily="34" charset="-122"/>
                <a:cs typeface="Century Gothic" pitchFamily="34" charset="-120"/>
              </a:rPr>
              <a:t>≤ 5</a:t>
            </a:r>
            <a:endParaRPr lang="en-US" sz="8800" dirty="0"/>
          </a:p>
        </p:txBody>
      </p:sp>
      <p:sp>
        <p:nvSpPr>
          <p:cNvPr id="9" name="Text 5"/>
          <p:cNvSpPr txBox="1"/>
          <p:nvPr/>
        </p:nvSpPr>
        <p:spPr>
          <a:xfrm>
            <a:off x="548640" y="3017520"/>
            <a:ext cx="3200400" cy="36576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minutos de video</a:t>
            </a:r>
            <a:endParaRPr lang="en-US" sz="1400" dirty="0"/>
          </a:p>
        </p:txBody>
      </p:sp>
      <p:sp>
        <p:nvSpPr>
          <p:cNvPr id="10" name="Shape 6"/>
          <p:cNvSpPr/>
          <p:nvPr/>
        </p:nvSpPr>
        <p:spPr>
          <a:xfrm>
            <a:off x="4754880" y="1645920"/>
            <a:ext cx="6885432" cy="4206240"/>
          </a:xfrm>
          <a:prstGeom prst="roundRect">
            <a:avLst>
              <a:gd name="adj" fmla="val 1739"/>
            </a:avLst>
          </a:prstGeom>
          <a:solidFill>
            <a:srgbClr val="F4F5F9"/>
          </a:solidFill>
          <a:ln/>
        </p:spPr>
      </p:sp>
      <p:sp>
        <p:nvSpPr>
          <p:cNvPr id="11" name="Text 7"/>
          <p:cNvSpPr txBox="1"/>
          <p:nvPr/>
        </p:nvSpPr>
        <p:spPr>
          <a:xfrm>
            <a:off x="5029200" y="1828800"/>
            <a:ext cx="633679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MIENTRAS LO VEN, NOTEN</a:t>
            </a:r>
            <a:endParaRPr lang="en-US" sz="1000" dirty="0"/>
          </a:p>
        </p:txBody>
      </p:sp>
      <p:sp>
        <p:nvSpPr>
          <p:cNvPr id="12" name="Text 8"/>
          <p:cNvSpPr txBox="1"/>
          <p:nvPr/>
        </p:nvSpPr>
        <p:spPr>
          <a:xfrm>
            <a:off x="5029200" y="2212848"/>
            <a:ext cx="6309360" cy="3291840"/>
          </a:xfrm>
          <a:prstGeom prst="rect">
            <a:avLst/>
          </a:prstGeom>
          <a:noFill/>
          <a:ln/>
        </p:spPr>
        <p:txBody>
          <a:bodyPr wrap="square" lIns="0" tIns="0" rIns="0" bIns="0" rtlCol="0" anchor="t"/>
          <a:lstStyle/>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Con qué están de acuerdo.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los incomoda.</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creen que no ve.</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lo que describe es de una generación… o de una época, de una etapa de vida, de una empresa.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02 · LA PROVOCACIÓN</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Cuatro preguntas para la mesa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11</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¿Con qué estuvieron de acuerdo?</a:t>
            </a:r>
            <a:endParaRPr lang="en-US" sz="22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los incomodó?</a:t>
            </a:r>
            <a:endParaRPr lang="en-US" sz="22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creen que no ve?</a:t>
            </a:r>
            <a:endParaRPr lang="en-US" sz="2200" dirty="0"/>
          </a:p>
        </p:txBody>
      </p:sp>
      <p:sp>
        <p:nvSpPr>
          <p:cNvPr id="13" name="Text 9"/>
          <p:cNvSpPr txBox="1"/>
          <p:nvPr/>
        </p:nvSpPr>
        <p:spPr>
          <a:xfrm>
            <a:off x="548640" y="3785616"/>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85616"/>
            <a:ext cx="6035040" cy="667512"/>
          </a:xfrm>
          <a:prstGeom prst="rect">
            <a:avLst/>
          </a:prstGeom>
          <a:noFill/>
          <a:ln/>
        </p:spPr>
        <p:txBody>
          <a:bodyPr wrap="square" lIns="0" tIns="0" rIns="0" bIns="0" rtlCol="0" anchor="t"/>
          <a:lstStyle/>
          <a:p>
            <a:pPr indent="0" marL="0">
              <a:buNone/>
            </a:pPr>
            <a:r>
              <a:rPr lang="en-US" sz="2200" dirty="0">
                <a:solidFill>
                  <a:srgbClr val="1A1A2E"/>
                </a:solidFill>
                <a:latin typeface="Century Gothic" pitchFamily="34" charset="0"/>
                <a:ea typeface="Century Gothic" pitchFamily="34" charset="-122"/>
                <a:cs typeface="Century Gothic" pitchFamily="34" charset="-120"/>
              </a:rPr>
              <a:t>¿Qué cambió: la gente o el trato?</a:t>
            </a:r>
            <a:endParaRPr lang="en-US" sz="2200" dirty="0"/>
          </a:p>
        </p:txBody>
      </p:sp>
      <p:sp>
        <p:nvSpPr>
          <p:cNvPr id="15" name="Shape 11"/>
          <p:cNvSpPr/>
          <p:nvPr/>
        </p:nvSpPr>
        <p:spPr>
          <a:xfrm>
            <a:off x="7680960" y="1600200"/>
            <a:ext cx="3959352" cy="4480560"/>
          </a:xfrm>
          <a:prstGeom prst="roundRect">
            <a:avLst>
              <a:gd name="adj" fmla="val 1848"/>
            </a:avLst>
          </a:prstGeom>
          <a:solidFill>
            <a:srgbClr val="F4F5F9"/>
          </a:solidFill>
          <a:ln/>
        </p:spPr>
      </p:sp>
      <p:sp>
        <p:nvSpPr>
          <p:cNvPr id="16" name="Text 12"/>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7" name="Text 13"/>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Seis minutos en mesa.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Una frase por mesa al rotafolio “Lo que escuchamos”.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No hay respuestas correctas. Tampoco vamos a defender ni a refutar al autor.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Coloquen cada frase donde la verían primero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12</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Cada persona toma 3 tarjetas del sobre de su mesa.</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silencio, colóquenlas en la zona de la generación a la que la atribuirían. Sin negociar.</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Recorran el muro completo: ¿dónde se amontonan las tarjetas?</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7</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De pie, en silencio</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Un solo muro para toda la sala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4 zonas · 12 frases por mesa · cinta azul</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Los rangos de años son convenciones y varían por país.</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No hay respuestas correctas.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FFFFFF"/>
                </a:solidFill>
                <a:latin typeface="Century Gothic" pitchFamily="34" charset="0"/>
                <a:ea typeface="Century Gothic" pitchFamily="34" charset="-122"/>
                <a:cs typeface="Century Gothic" pitchFamily="34" charset="-120"/>
              </a:rPr>
              <a:t>¿Estamos describiendo generaciones… o seres humanos?</a:t>
            </a:r>
            <a:endParaRPr lang="en-US" sz="36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¿Quién en esta sala se reconoce en alguna de estas frases?</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03 · EL MURO GENERACIONAL</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Las necesidades son humanas; cambia la forma de expresarlas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Costanza et al. (2012), meta-análisis, N = 19,961; National Academies of Sciences, Engineering, and Medicine (2020); Kooij et al. (2011).</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14</a:t>
            </a:r>
            <a:endParaRPr lang="en-US" sz="750" dirty="0"/>
          </a:p>
        </p:txBody>
      </p:sp>
      <p:sp>
        <p:nvSpPr>
          <p:cNvPr id="8" name="Shape 4"/>
          <p:cNvSpPr/>
          <p:nvPr/>
        </p:nvSpPr>
        <p:spPr>
          <a:xfrm>
            <a:off x="548640" y="1801368"/>
            <a:ext cx="73152" cy="457200"/>
          </a:xfrm>
          <a:prstGeom prst="rect">
            <a:avLst/>
          </a:prstGeom>
          <a:solidFill>
            <a:srgbClr val="FA4642"/>
          </a:solidFill>
          <a:ln/>
        </p:spPr>
      </p:sp>
      <p:sp>
        <p:nvSpPr>
          <p:cNvPr id="9" name="Text 5"/>
          <p:cNvSpPr txBox="1"/>
          <p:nvPr/>
        </p:nvSpPr>
        <p:spPr>
          <a:xfrm>
            <a:off x="77724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saber que mi trabajo tiene futuro”</a:t>
            </a:r>
            <a:endParaRPr lang="en-US" sz="1200" dirty="0"/>
          </a:p>
        </p:txBody>
      </p:sp>
      <p:sp>
        <p:nvSpPr>
          <p:cNvPr id="10" name="Shape 6"/>
          <p:cNvSpPr/>
          <p:nvPr/>
        </p:nvSpPr>
        <p:spPr>
          <a:xfrm>
            <a:off x="3840480" y="1801368"/>
            <a:ext cx="73152" cy="457200"/>
          </a:xfrm>
          <a:prstGeom prst="rect">
            <a:avLst/>
          </a:prstGeom>
          <a:solidFill>
            <a:srgbClr val="FA4642"/>
          </a:solidFill>
          <a:ln/>
        </p:spPr>
      </p:sp>
      <p:sp>
        <p:nvSpPr>
          <p:cNvPr id="11" name="Text 7"/>
          <p:cNvSpPr txBox="1"/>
          <p:nvPr/>
        </p:nvSpPr>
        <p:spPr>
          <a:xfrm>
            <a:off x="4069080" y="169164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reconozcan lo que aporto”</a:t>
            </a:r>
            <a:endParaRPr lang="en-US" sz="1200" dirty="0"/>
          </a:p>
        </p:txBody>
      </p:sp>
      <p:sp>
        <p:nvSpPr>
          <p:cNvPr id="12" name="Shape 8"/>
          <p:cNvSpPr/>
          <p:nvPr/>
        </p:nvSpPr>
        <p:spPr>
          <a:xfrm>
            <a:off x="548640" y="2670048"/>
            <a:ext cx="73152" cy="457200"/>
          </a:xfrm>
          <a:prstGeom prst="rect">
            <a:avLst/>
          </a:prstGeom>
          <a:solidFill>
            <a:srgbClr val="FA4642"/>
          </a:solidFill>
          <a:ln/>
        </p:spPr>
      </p:sp>
      <p:sp>
        <p:nvSpPr>
          <p:cNvPr id="13" name="Text 9"/>
          <p:cNvSpPr txBox="1"/>
          <p:nvPr/>
        </p:nvSpPr>
        <p:spPr>
          <a:xfrm>
            <a:off x="77724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crecer y saber mi siguiente paso”</a:t>
            </a:r>
            <a:endParaRPr lang="en-US" sz="1200" dirty="0"/>
          </a:p>
        </p:txBody>
      </p:sp>
      <p:sp>
        <p:nvSpPr>
          <p:cNvPr id="14" name="Shape 10"/>
          <p:cNvSpPr/>
          <p:nvPr/>
        </p:nvSpPr>
        <p:spPr>
          <a:xfrm>
            <a:off x="3840480" y="2670048"/>
            <a:ext cx="73152" cy="457200"/>
          </a:xfrm>
          <a:prstGeom prst="rect">
            <a:avLst/>
          </a:prstGeom>
          <a:solidFill>
            <a:srgbClr val="FA4642"/>
          </a:solidFill>
          <a:ln/>
        </p:spPr>
      </p:sp>
      <p:sp>
        <p:nvSpPr>
          <p:cNvPr id="15" name="Text 11"/>
          <p:cNvSpPr txBox="1"/>
          <p:nvPr/>
        </p:nvSpPr>
        <p:spPr>
          <a:xfrm>
            <a:off x="4069080" y="256032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“Me importa que mi experiencia se tome en cuenta”</a:t>
            </a:r>
            <a:endParaRPr lang="en-US" sz="1200" dirty="0"/>
          </a:p>
        </p:txBody>
      </p:sp>
      <p:sp>
        <p:nvSpPr>
          <p:cNvPr id="16" name="Shape 12"/>
          <p:cNvSpPr/>
          <p:nvPr/>
        </p:nvSpPr>
        <p:spPr>
          <a:xfrm>
            <a:off x="548640" y="3538728"/>
            <a:ext cx="73152" cy="457200"/>
          </a:xfrm>
          <a:prstGeom prst="rect">
            <a:avLst/>
          </a:prstGeom>
          <a:solidFill>
            <a:srgbClr val="FA4642"/>
          </a:solidFill>
          <a:ln/>
        </p:spPr>
      </p:sp>
      <p:sp>
        <p:nvSpPr>
          <p:cNvPr id="17" name="Text 13"/>
          <p:cNvSpPr txBox="1"/>
          <p:nvPr/>
        </p:nvSpPr>
        <p:spPr>
          <a:xfrm>
            <a:off x="77724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“Necesito entender el porqué”</a:t>
            </a:r>
            <a:endParaRPr lang="en-US" sz="1200" dirty="0"/>
          </a:p>
        </p:txBody>
      </p:sp>
      <p:sp>
        <p:nvSpPr>
          <p:cNvPr id="18" name="Shape 14"/>
          <p:cNvSpPr/>
          <p:nvPr/>
        </p:nvSpPr>
        <p:spPr>
          <a:xfrm>
            <a:off x="3840480" y="3538728"/>
            <a:ext cx="73152" cy="457200"/>
          </a:xfrm>
          <a:prstGeom prst="rect">
            <a:avLst/>
          </a:prstGeom>
          <a:solidFill>
            <a:srgbClr val="FA4642"/>
          </a:solidFill>
          <a:ln/>
        </p:spPr>
      </p:sp>
      <p:sp>
        <p:nvSpPr>
          <p:cNvPr id="19" name="Text 15"/>
          <p:cNvSpPr txBox="1"/>
          <p:nvPr/>
        </p:nvSpPr>
        <p:spPr>
          <a:xfrm>
            <a:off x="4069080" y="342900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que mi trabajo tenga sentido”</a:t>
            </a:r>
            <a:endParaRPr lang="en-US" sz="1200" dirty="0"/>
          </a:p>
        </p:txBody>
      </p:sp>
      <p:sp>
        <p:nvSpPr>
          <p:cNvPr id="20" name="Shape 16"/>
          <p:cNvSpPr/>
          <p:nvPr/>
        </p:nvSpPr>
        <p:spPr>
          <a:xfrm>
            <a:off x="548640" y="4407408"/>
            <a:ext cx="73152" cy="457200"/>
          </a:xfrm>
          <a:prstGeom prst="rect">
            <a:avLst/>
          </a:prstGeom>
          <a:solidFill>
            <a:srgbClr val="FA4642"/>
          </a:solidFill>
          <a:ln/>
        </p:spPr>
      </p:sp>
      <p:sp>
        <p:nvSpPr>
          <p:cNvPr id="21" name="Text 17"/>
          <p:cNvSpPr txBox="1"/>
          <p:nvPr/>
        </p:nvSpPr>
        <p:spPr>
          <a:xfrm>
            <a:off x="77724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“Necesito flexibilidad para mi vida fuera del trabajo”</a:t>
            </a:r>
            <a:endParaRPr lang="en-US" sz="1200" dirty="0"/>
          </a:p>
        </p:txBody>
      </p:sp>
      <p:sp>
        <p:nvSpPr>
          <p:cNvPr id="22" name="Shape 18"/>
          <p:cNvSpPr/>
          <p:nvPr/>
        </p:nvSpPr>
        <p:spPr>
          <a:xfrm>
            <a:off x="3840480" y="4407408"/>
            <a:ext cx="73152" cy="457200"/>
          </a:xfrm>
          <a:prstGeom prst="rect">
            <a:avLst/>
          </a:prstGeom>
          <a:solidFill>
            <a:srgbClr val="FA4642"/>
          </a:solidFill>
          <a:ln/>
        </p:spPr>
      </p:sp>
      <p:sp>
        <p:nvSpPr>
          <p:cNvPr id="23" name="Text 19"/>
          <p:cNvSpPr txBox="1"/>
          <p:nvPr/>
        </p:nvSpPr>
        <p:spPr>
          <a:xfrm>
            <a:off x="4069080" y="4297680"/>
            <a:ext cx="2971800" cy="731520"/>
          </a:xfrm>
          <a:prstGeom prst="rect">
            <a:avLst/>
          </a:prstGeom>
          <a:noFill/>
          <a:ln/>
        </p:spPr>
        <p:txBody>
          <a:bodyPr wrap="square" lIns="0" tIns="0" rIns="0" bIns="0" rtlCol="0" anchor="ctr"/>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“Quiero un jefe que confíe en mí”</a:t>
            </a:r>
            <a:endParaRPr lang="en-US" sz="1200" dirty="0"/>
          </a:p>
        </p:txBody>
      </p:sp>
      <p:sp>
        <p:nvSpPr>
          <p:cNvPr id="24" name="Shape 20"/>
          <p:cNvSpPr/>
          <p:nvPr/>
        </p:nvSpPr>
        <p:spPr>
          <a:xfrm>
            <a:off x="7406640" y="1645920"/>
            <a:ext cx="4233672" cy="4434840"/>
          </a:xfrm>
          <a:prstGeom prst="roundRect">
            <a:avLst>
              <a:gd name="adj" fmla="val 1728"/>
            </a:avLst>
          </a:prstGeom>
          <a:solidFill>
            <a:srgbClr val="F4F5F9"/>
          </a:solidFill>
          <a:ln/>
        </p:spPr>
      </p:sp>
      <p:sp>
        <p:nvSpPr>
          <p:cNvPr id="25" name="Text 21"/>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VARÍA</a:t>
            </a:r>
            <a:endParaRPr lang="en-US" sz="1000" dirty="0"/>
          </a:p>
        </p:txBody>
      </p:sp>
      <p:sp>
        <p:nvSpPr>
          <p:cNvPr id="26" name="Text 22"/>
          <p:cNvSpPr txBox="1"/>
          <p:nvPr/>
        </p:nvSpPr>
        <p:spPr>
          <a:xfrm>
            <a:off x="7680960" y="2212848"/>
            <a:ext cx="3749040" cy="356616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frecuencia: quien empieza necesita más señales de si va bien.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forma: público o privado, en persona o por mensaje.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depende de la etapa de vida (hipoteca, hijos, retiro).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Todo eso cambia más con la edad y el contexto que con el año de nacimiento.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Cuatro afirmaciones. Tres segundos para decidir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15</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Leemos la afirmación en voz alta.</a:t>
            </a:r>
            <a:endParaRPr lang="en-US" sz="1400" dirty="0"/>
          </a:p>
        </p:txBody>
      </p:sp>
      <p:sp>
        <p:nvSpPr>
          <p:cNvPr id="10" name="Shape 6"/>
          <p:cNvSpPr/>
          <p:nvPr/>
        </p:nvSpPr>
        <p:spPr>
          <a:xfrm>
            <a:off x="548640" y="2487168"/>
            <a:ext cx="420624" cy="420624"/>
          </a:xfrm>
          <a:prstGeom prst="ellipse">
            <a:avLst/>
          </a:prstGeom>
          <a:solidFill>
            <a:srgbClr val="FA4642"/>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Al contar tres, todos levantan su tarjeta al mismo tiempo: CIERTO, FALSO o DEPENDE.</a:t>
            </a:r>
            <a:endParaRPr lang="en-US" sz="1400" dirty="0"/>
          </a:p>
        </p:txBody>
      </p:sp>
      <p:sp>
        <p:nvSpPr>
          <p:cNvPr id="13" name="Shape 9"/>
          <p:cNvSpPr/>
          <p:nvPr/>
        </p:nvSpPr>
        <p:spPr>
          <a:xfrm>
            <a:off x="548640" y="3328416"/>
            <a:ext cx="420624" cy="420624"/>
          </a:xfrm>
          <a:prstGeom prst="ellipse">
            <a:avLst/>
          </a:prstGeom>
          <a:solidFill>
            <a:srgbClr val="EA3450"/>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Escuchamos a alguien que votó distinto a la mayoría.</a:t>
            </a:r>
            <a:endParaRPr lang="en-US" sz="1400" dirty="0"/>
          </a:p>
        </p:txBody>
      </p:sp>
      <p:sp>
        <p:nvSpPr>
          <p:cNvPr id="16" name="Shape 12"/>
          <p:cNvSpPr/>
          <p:nvPr/>
        </p:nvSpPr>
        <p:spPr>
          <a:xfrm>
            <a:off x="548640" y="4169664"/>
            <a:ext cx="420624" cy="420624"/>
          </a:xfrm>
          <a:prstGeom prst="ellipse">
            <a:avLst/>
          </a:prstGeom>
          <a:solidFill>
            <a:srgbClr val="C8136C"/>
          </a:solidFill>
          <a:ln/>
        </p:spPr>
      </p:sp>
      <p:sp>
        <p:nvSpPr>
          <p:cNvPr id="17" name="Text 13"/>
          <p:cNvSpPr txBox="1"/>
          <p:nvPr/>
        </p:nvSpPr>
        <p:spPr>
          <a:xfrm>
            <a:off x="54864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4</a:t>
            </a:r>
            <a:endParaRPr lang="en-US" sz="1300" dirty="0"/>
          </a:p>
        </p:txBody>
      </p:sp>
      <p:sp>
        <p:nvSpPr>
          <p:cNvPr id="18" name="Text 14"/>
          <p:cNvSpPr txBox="1"/>
          <p:nvPr/>
        </p:nvSpPr>
        <p:spPr>
          <a:xfrm>
            <a:off x="1170432" y="4133088"/>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Vemos qué dice la evidencia.</a:t>
            </a:r>
            <a:endParaRPr lang="en-US" sz="1400" dirty="0"/>
          </a:p>
        </p:txBody>
      </p:sp>
      <p:sp>
        <p:nvSpPr>
          <p:cNvPr id="19" name="Shape 15"/>
          <p:cNvSpPr/>
          <p:nvPr/>
        </p:nvSpPr>
        <p:spPr>
          <a:xfrm>
            <a:off x="7543800" y="1600200"/>
            <a:ext cx="4096512" cy="4480560"/>
          </a:xfrm>
          <a:prstGeom prst="roundRect">
            <a:avLst>
              <a:gd name="adj" fmla="val 1786"/>
            </a:avLst>
          </a:prstGeom>
          <a:solidFill>
            <a:srgbClr val="F4F5F9"/>
          </a:solidFill>
          <a:ln/>
        </p:spPr>
      </p:sp>
      <p:sp>
        <p:nvSpPr>
          <p:cNvPr id="20" name="Text 16"/>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21" name="Text 17"/>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10</a:t>
            </a:r>
            <a:endParaRPr lang="en-US" sz="4000" dirty="0"/>
          </a:p>
        </p:txBody>
      </p:sp>
      <p:sp>
        <p:nvSpPr>
          <p:cNvPr id="22" name="Text 18"/>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3" name="Text 19"/>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Voto simultáneo</a:t>
            </a:r>
            <a:endParaRPr lang="en-US" sz="1200" dirty="0"/>
          </a:p>
        </p:txBody>
      </p:sp>
      <p:sp>
        <p:nvSpPr>
          <p:cNvPr id="24" name="Text 20"/>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3 tarjetas por persona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Votamos todos, incluida la dirección. Nadie mira al vecino antes.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1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Generación Z no tiene lealtad.”</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Cambiar más de empleo a los 25 es de edad, no de generación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BLS, Employee Tenure (CPS, enero de 2026, EE. UU.); EBRI (2025), Trends in Employee Tenure 1983–2024; Zhao et al. (2007), meta-análisis.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17</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3.0 años</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Antigüedad mediana con su empleador de las personas de 25 a 34 años (EE. UU., enero de 2026). En 1983 también era 3.0; en 2000, 2.6.</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Personas de 55 a 64 años: 9.6 años. La antigüedad se acumula con la edad.</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 un efecto de edad y etapa de vida: a los 30 también cambiábamos más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lealtad responde a la reciprocidad percibida. Cuando la persona siente que la empresa no cumplió, bajan la confianza y el compromiso (estudios con trabajadores de todas las edades).</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 tenemos el dato mexicano comparable; el de AMMX por rango de edad sería el mejor espejo.</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pregunta útil no es si son leales, sino qué les ofrecemos para quedarse.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2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Boomers se resisten a la tecnología.”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18</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brecha es de oportunidad y de uso, no de capacidad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Ng y Feldman (2012; 2008), meta-análisis; Microsoft y LinkedIn, Work Trend Index 2024 (31,000 personas, 31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19</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1 de 6</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estereotipos sobre trabajadores mayores que se sostienen en un meta-análisis de 418 estudios (208,204 personas).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"Más resistentes al cambio" y "menos motivados" no se sostienen. El único que sí: participan menos, y muestran menos disposición, en capacitación.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Eso puede reflejar que se les ofrece menos o que ven menos retorno a esa edad; lo que sí sabemos es que la edad no predice el desempeño en capacitación.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Entre trabajadores del conocimiento que usan IA (31 países), 73 % de las personas de 58 años o más la lleva por su cuenta al trabajo (Generación Z: 85 %).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edad se asocia con mejor desempeño en seguridad.</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Cuando un experto no adopta una herramienta, pregunten primero para qué le sirve a él.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RESERVA</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“La gente ya no quiere trabajar.”</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20</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problema no es la disposición a trabajar, es el compromiso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OCDE, Hours worked (2023); Gallup, State of the Global Workplace 2026 (datos 2025); S&amp;P Global (2026) con datos BLS.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21</a:t>
            </a:r>
            <a:endParaRPr lang="en-US" sz="750" dirty="0"/>
          </a:p>
        </p:txBody>
      </p:sp>
      <p:sp>
        <p:nvSpPr>
          <p:cNvPr id="8" name="Shape 4"/>
          <p:cNvSpPr/>
          <p:nvPr/>
        </p:nvSpPr>
        <p:spPr>
          <a:xfrm>
            <a:off x="548640" y="1481328"/>
            <a:ext cx="1463040" cy="384048"/>
          </a:xfrm>
          <a:prstGeom prst="roundRect">
            <a:avLst>
              <a:gd name="adj" fmla="val 50000"/>
            </a:avLst>
          </a:prstGeom>
          <a:solidFill>
            <a:srgbClr val="FA464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MITO</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FA4642"/>
                </a:solidFill>
                <a:latin typeface="Century Gothic" pitchFamily="34" charset="0"/>
                <a:ea typeface="Century Gothic" pitchFamily="34" charset="-122"/>
                <a:cs typeface="Century Gothic" pitchFamily="34" charset="-120"/>
              </a:rPr>
              <a:t>2,207</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horas trabajadas al año por trabajador en México: el más alto de la OCDE (promedio 1,683). Dato 2023.</a:t>
            </a:r>
            <a:endParaRPr lang="en-US" sz="1350" dirty="0"/>
          </a:p>
        </p:txBody>
      </p:sp>
      <p:sp>
        <p:nvSpPr>
          <p:cNvPr id="12" name="Shape 8"/>
          <p:cNvSpPr/>
          <p:nvPr/>
        </p:nvSpPr>
        <p:spPr>
          <a:xfrm>
            <a:off x="6172200" y="1481328"/>
            <a:ext cx="5468112" cy="4617720"/>
          </a:xfrm>
          <a:prstGeom prst="roundRect">
            <a:avLst>
              <a:gd name="adj" fmla="val 1584"/>
            </a:avLst>
          </a:prstGeom>
          <a:solidFill>
            <a:srgbClr val="F4F5F9"/>
          </a:solidFill>
          <a:ln/>
        </p:spPr>
      </p:sp>
      <p:sp>
        <p:nvSpPr>
          <p:cNvPr id="13" name="Text 9"/>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4" name="Text 10"/>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En EE. UU., la participación laboral de 25 a 54 años alcanzó a inicios de 2026 su nivel más alto desde 2001.</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es bajo es el compromiso: 20 % de los empleados en el mundo (Gallup, datos 2025); no es un problema de una sola generación.</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llamada "renuncia silenciosa" describe al grupo no comprometido. En 2022 afectó más a menores de 35, y lo que bajó fue la claridad, el desarrollo y el cuidado del jefe: un fenómeno de gestión más que de voluntad.</a:t>
            </a:r>
            <a:endParaRPr lang="en-US" sz="1200" dirty="0"/>
          </a:p>
        </p:txBody>
      </p:sp>
      <p:sp>
        <p:nvSpPr>
          <p:cNvPr id="15" name="Text 11"/>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La conversación útil no es sobre ganas de trabajar, sino sobre compromiso.</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3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no quieren ser jefes.”</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22</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No rechazan liderar; rechazan el liderazgo que ven de cerca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Deloitte, Gen Z and Millennial Survey 2025 y 2026 (≈22,500–23,500 personas, 44 países); Gallup, State of the Global Workplace 2026.</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23</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6 % · 76 %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Generación Z y millennials: liderazgo como meta principal hoy (6 %). Generación Z: interés en liderazgo senior algún día (76 %).</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Millennials: 67 % interesados en liderazgo senior en algún momento.</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barreras que citan: estrés y desgaste, exceso de responsabilidad, equilibrio con la vida personal.</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gerentes actuales son el grupo cuyo compromiso más cayó: de 27 % a 22 % en un año (mundo, Gallup).</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Las encuestas de "rechazo consciente a ser jefe" que circulan tienen metodología débil.</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¿Qué ven cuando nos ven liderar?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RESERVA</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“Los jóvenes necesitan reconocimiento constante.”</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24</a:t>
            </a:r>
            <a:endParaRPr lang="en-US" sz="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 parte cierto: varía la frecuencia; la necesidad es de todos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y Workhuman (2022), EE. UU.; Gallup, datos de preferencia de retroalimentación. Cifras de reportes de Gallup: verificar en fuente primaria antes de cada edición.</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25</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 50 %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las personas de Generación X y Boomers también quiere reconocimiento al menos algunas veces al mes.</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En los más jóvenes, alrededor de 8 de cada 10.</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más jóvenes lo prefieren con más frecuencia: quien empieza necesita más señales de si va bien. Es probable efecto de etapa.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72 % de los menores de 30 quiere retroalimentación diaria o semanal; en el total, 60 %.</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El reconocimiento se asocia con más compromiso y menos desgaste en todas las edades.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Lo que cambia es la frecuencia y la forma, no la necesidad.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1234440"/>
            <a:ext cx="2743200" cy="36576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4 / 4</a:t>
            </a:r>
            <a:endParaRPr lang="en-US" sz="1200" dirty="0"/>
          </a:p>
        </p:txBody>
      </p:sp>
      <p:sp>
        <p:nvSpPr>
          <p:cNvPr id="4" name="Text 2"/>
          <p:cNvSpPr txBox="1"/>
          <p:nvPr/>
        </p:nvSpPr>
        <p:spPr>
          <a:xfrm>
            <a:off x="548640" y="1737360"/>
            <a:ext cx="10515600" cy="2194560"/>
          </a:xfrm>
          <a:prstGeom prst="rect">
            <a:avLst/>
          </a:prstGeom>
          <a:noFill/>
          <a:ln/>
        </p:spPr>
        <p:txBody>
          <a:bodyPr wrap="square" lIns="0" tIns="0" rIns="0" bIns="0" rtlCol="0" anchor="ctr"/>
          <a:lstStyle/>
          <a:p>
            <a:pPr indent="0" marL="0">
              <a:buNone/>
            </a:pPr>
            <a:r>
              <a:rPr lang="en-US" sz="4000" b="1" dirty="0">
                <a:solidFill>
                  <a:srgbClr val="1A1A2E"/>
                </a:solidFill>
                <a:latin typeface="Century Gothic" pitchFamily="34" charset="0"/>
                <a:ea typeface="Century Gothic" pitchFamily="34" charset="-122"/>
                <a:cs typeface="Century Gothic" pitchFamily="34" charset="-120"/>
              </a:rPr>
              <a:t>“Lo quieren todo ya.”</a:t>
            </a:r>
            <a:endParaRPr lang="en-US" sz="4000" dirty="0"/>
          </a:p>
        </p:txBody>
      </p:sp>
      <p:sp>
        <p:nvSpPr>
          <p:cNvPr id="5" name="Shape 3"/>
          <p:cNvSpPr/>
          <p:nvPr/>
        </p:nvSpPr>
        <p:spPr>
          <a:xfrm>
            <a:off x="548640" y="4526280"/>
            <a:ext cx="2240280" cy="731520"/>
          </a:xfrm>
          <a:prstGeom prst="roundRect">
            <a:avLst>
              <a:gd name="adj" fmla="val 50000"/>
            </a:avLst>
          </a:prstGeom>
          <a:solidFill>
            <a:srgbClr val="FFFFFF"/>
          </a:solidFill>
          <a:ln w="25400">
            <a:solidFill>
              <a:srgbClr val="1A1A2E"/>
            </a:solidFill>
            <a:prstDash val="solid"/>
          </a:ln>
        </p:spPr>
      </p:sp>
      <p:sp>
        <p:nvSpPr>
          <p:cNvPr id="6" name="Text 4"/>
          <p:cNvSpPr txBox="1"/>
          <p:nvPr/>
        </p:nvSpPr>
        <p:spPr>
          <a:xfrm>
            <a:off x="5486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1A1A2E"/>
                </a:solidFill>
                <a:latin typeface="Century Gothic" pitchFamily="34" charset="0"/>
                <a:ea typeface="Century Gothic" pitchFamily="34" charset="-122"/>
                <a:cs typeface="Century Gothic" pitchFamily="34" charset="-120"/>
              </a:rPr>
              <a:t>CIERTO</a:t>
            </a:r>
            <a:endParaRPr lang="en-US" sz="1500" dirty="0"/>
          </a:p>
        </p:txBody>
      </p:sp>
      <p:sp>
        <p:nvSpPr>
          <p:cNvPr id="7" name="Shape 5"/>
          <p:cNvSpPr/>
          <p:nvPr/>
        </p:nvSpPr>
        <p:spPr>
          <a:xfrm>
            <a:off x="3063240" y="4526280"/>
            <a:ext cx="2240280" cy="731520"/>
          </a:xfrm>
          <a:prstGeom prst="roundRect">
            <a:avLst>
              <a:gd name="adj" fmla="val 50000"/>
            </a:avLst>
          </a:prstGeom>
          <a:solidFill>
            <a:srgbClr val="FFFFFF"/>
          </a:solidFill>
          <a:ln w="25400">
            <a:solidFill>
              <a:srgbClr val="FA4642"/>
            </a:solidFill>
            <a:prstDash val="solid"/>
          </a:ln>
        </p:spPr>
      </p:sp>
      <p:sp>
        <p:nvSpPr>
          <p:cNvPr id="8" name="Text 6"/>
          <p:cNvSpPr txBox="1"/>
          <p:nvPr/>
        </p:nvSpPr>
        <p:spPr>
          <a:xfrm>
            <a:off x="30632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FA4642"/>
                </a:solidFill>
                <a:latin typeface="Century Gothic" pitchFamily="34" charset="0"/>
                <a:ea typeface="Century Gothic" pitchFamily="34" charset="-122"/>
                <a:cs typeface="Century Gothic" pitchFamily="34" charset="-120"/>
              </a:rPr>
              <a:t>FALSO</a:t>
            </a:r>
            <a:endParaRPr lang="en-US" sz="1500" dirty="0"/>
          </a:p>
        </p:txBody>
      </p:sp>
      <p:sp>
        <p:nvSpPr>
          <p:cNvPr id="9" name="Shape 7"/>
          <p:cNvSpPr/>
          <p:nvPr/>
        </p:nvSpPr>
        <p:spPr>
          <a:xfrm>
            <a:off x="5577840" y="4526280"/>
            <a:ext cx="2240280" cy="731520"/>
          </a:xfrm>
          <a:prstGeom prst="roundRect">
            <a:avLst>
              <a:gd name="adj" fmla="val 50000"/>
            </a:avLst>
          </a:prstGeom>
          <a:solidFill>
            <a:srgbClr val="FFFFFF"/>
          </a:solidFill>
          <a:ln w="25400">
            <a:solidFill>
              <a:srgbClr val="AA0582"/>
            </a:solidFill>
            <a:prstDash val="solid"/>
          </a:ln>
        </p:spPr>
      </p:sp>
      <p:sp>
        <p:nvSpPr>
          <p:cNvPr id="10" name="Text 8"/>
          <p:cNvSpPr txBox="1"/>
          <p:nvPr/>
        </p:nvSpPr>
        <p:spPr>
          <a:xfrm>
            <a:off x="5577840" y="4526280"/>
            <a:ext cx="2240280" cy="731520"/>
          </a:xfrm>
          <a:prstGeom prst="rect">
            <a:avLst/>
          </a:prstGeom>
          <a:noFill/>
          <a:ln/>
        </p:spPr>
        <p:txBody>
          <a:bodyPr wrap="square" lIns="0" tIns="0" rIns="0" bIns="0" rtlCol="0" anchor="ctr"/>
          <a:lstStyle/>
          <a:p>
            <a:pPr algn="ctr" indent="0" marL="0">
              <a:buNone/>
            </a:pPr>
            <a:r>
              <a:rPr lang="en-US" sz="1500" b="1" spc="200" kern="0" dirty="0">
                <a:solidFill>
                  <a:srgbClr val="AA0582"/>
                </a:solidFill>
                <a:latin typeface="Century Gothic" pitchFamily="34" charset="0"/>
                <a:ea typeface="Century Gothic" pitchFamily="34" charset="-122"/>
                <a:cs typeface="Century Gothic" pitchFamily="34" charset="-120"/>
              </a:rPr>
              <a:t>DEPENDE</a:t>
            </a:r>
            <a:endParaRPr lang="en-US" sz="1500" dirty="0"/>
          </a:p>
        </p:txBody>
      </p:sp>
      <p:sp>
        <p:nvSpPr>
          <p:cNvPr id="11" name="Text 9"/>
          <p:cNvSpPr txBox="1"/>
          <p:nvPr/>
        </p:nvSpPr>
        <p:spPr>
          <a:xfrm>
            <a:off x="548640" y="5532120"/>
            <a:ext cx="7315200" cy="36576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Voten al mismo tiempo. Sin discutir todavía.</a:t>
            </a:r>
            <a:endParaRPr lang="en-US" sz="1200" dirty="0"/>
          </a:p>
        </p:txBody>
      </p:sp>
      <p:pic>
        <p:nvPicPr>
          <p:cNvPr id="12"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13" name="Text 10"/>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26</a:t>
            </a:r>
            <a:endParaRPr lang="en-US" sz="7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¿Impaciencia, o una ruta que no se ve?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Deloitte, Gen Z and Millennial Survey 2025 (23,482 personas, 44 países).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27</a:t>
            </a:r>
            <a:endParaRPr lang="en-US" sz="750" dirty="0"/>
          </a:p>
        </p:txBody>
      </p:sp>
      <p:sp>
        <p:nvSpPr>
          <p:cNvPr id="8" name="Shape 4"/>
          <p:cNvSpPr/>
          <p:nvPr/>
        </p:nvSpPr>
        <p:spPr>
          <a:xfrm>
            <a:off x="548640" y="1481328"/>
            <a:ext cx="1463040" cy="384048"/>
          </a:xfrm>
          <a:prstGeom prst="roundRect">
            <a:avLst>
              <a:gd name="adj" fmla="val 50000"/>
            </a:avLst>
          </a:prstGeom>
          <a:solidFill>
            <a:srgbClr val="AA0582"/>
          </a:solidFill>
          <a:ln/>
        </p:spPr>
      </p:sp>
      <p:sp>
        <p:nvSpPr>
          <p:cNvPr id="9" name="Text 5"/>
          <p:cNvSpPr txBox="1"/>
          <p:nvPr/>
        </p:nvSpPr>
        <p:spPr>
          <a:xfrm>
            <a:off x="548640" y="1481328"/>
            <a:ext cx="1463040" cy="38404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DEPENDE</a:t>
            </a:r>
            <a:endParaRPr lang="en-US" sz="1100" dirty="0"/>
          </a:p>
        </p:txBody>
      </p:sp>
      <p:sp>
        <p:nvSpPr>
          <p:cNvPr id="10" name="Text 6"/>
          <p:cNvSpPr txBox="1"/>
          <p:nvPr/>
        </p:nvSpPr>
        <p:spPr>
          <a:xfrm>
            <a:off x="548640" y="2057400"/>
            <a:ext cx="5120640" cy="1280160"/>
          </a:xfrm>
          <a:prstGeom prst="rect">
            <a:avLst/>
          </a:prstGeom>
          <a:noFill/>
          <a:ln/>
        </p:spPr>
        <p:txBody>
          <a:bodyPr wrap="square" lIns="0" tIns="0" rIns="0" bIns="0" rtlCol="0" anchor="b"/>
          <a:lstStyle/>
          <a:p>
            <a:pPr indent="0" marL="0">
              <a:buNone/>
            </a:pPr>
            <a:r>
              <a:rPr lang="en-US" sz="6400" b="1" dirty="0">
                <a:solidFill>
                  <a:srgbClr val="AA0582"/>
                </a:solidFill>
                <a:latin typeface="Century Gothic" pitchFamily="34" charset="0"/>
                <a:ea typeface="Century Gothic" pitchFamily="34" charset="-122"/>
                <a:cs typeface="Century Gothic" pitchFamily="34" charset="-120"/>
              </a:rPr>
              <a:t>48 %</a:t>
            </a:r>
            <a:endParaRPr lang="en-US" sz="6400" dirty="0"/>
          </a:p>
        </p:txBody>
      </p:sp>
      <p:sp>
        <p:nvSpPr>
          <p:cNvPr id="11" name="Text 7"/>
          <p:cNvSpPr txBox="1"/>
          <p:nvPr/>
        </p:nvSpPr>
        <p:spPr>
          <a:xfrm>
            <a:off x="548640" y="3429000"/>
            <a:ext cx="5120640" cy="1188720"/>
          </a:xfrm>
          <a:prstGeom prst="rect">
            <a:avLst/>
          </a:prstGeom>
          <a:noFill/>
          <a:ln/>
        </p:spPr>
        <p:txBody>
          <a:bodyPr wrap="square" lIns="0" tIns="0" rIns="0" bIns="0" rtlCol="0" anchor="t"/>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de Generación Z no se siente financieramente segura (Deloitte 2025, 44 países, incluido México).</a:t>
            </a:r>
            <a:endParaRPr lang="en-US" sz="1350" dirty="0"/>
          </a:p>
        </p:txBody>
      </p:sp>
      <p:sp>
        <p:nvSpPr>
          <p:cNvPr id="12" name="Text 8"/>
          <p:cNvSpPr txBox="1"/>
          <p:nvPr/>
        </p:nvSpPr>
        <p:spPr>
          <a:xfrm>
            <a:off x="548640" y="4617720"/>
            <a:ext cx="5120640" cy="128016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Idea tomada del video: la impaciencia como rasgo de una generación.</a:t>
            </a:r>
            <a:endParaRPr lang="en-US" sz="1050" dirty="0"/>
          </a:p>
        </p:txBody>
      </p:sp>
      <p:sp>
        <p:nvSpPr>
          <p:cNvPr id="13" name="Shape 9"/>
          <p:cNvSpPr/>
          <p:nvPr/>
        </p:nvSpPr>
        <p:spPr>
          <a:xfrm>
            <a:off x="6172200" y="1481328"/>
            <a:ext cx="5468112" cy="4617720"/>
          </a:xfrm>
          <a:prstGeom prst="roundRect">
            <a:avLst>
              <a:gd name="adj" fmla="val 1584"/>
            </a:avLst>
          </a:prstGeom>
          <a:solidFill>
            <a:srgbClr val="F4F5F9"/>
          </a:solidFill>
          <a:ln/>
        </p:spPr>
      </p:sp>
      <p:sp>
        <p:nvSpPr>
          <p:cNvPr id="14" name="Text 10"/>
          <p:cNvSpPr txBox="1"/>
          <p:nvPr/>
        </p:nvSpPr>
        <p:spPr>
          <a:xfrm>
            <a:off x="6446520" y="1664208"/>
            <a:ext cx="49194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LO QUE DICE LA EVIDENCIA</a:t>
            </a:r>
            <a:endParaRPr lang="en-US" sz="1000" dirty="0"/>
          </a:p>
        </p:txBody>
      </p:sp>
      <p:sp>
        <p:nvSpPr>
          <p:cNvPr id="15" name="Text 11"/>
          <p:cNvSpPr txBox="1"/>
          <p:nvPr/>
        </p:nvSpPr>
        <p:spPr>
          <a:xfrm>
            <a:off x="6446520" y="2048256"/>
            <a:ext cx="4937760" cy="292608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Los motivos de crecimiento son más altos en las personas jóvenes y bajan con la edad: un patrón consistente con la etapa de vida.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urgencia coincide con inseguridad financiera (dato global); en México se suman vivienda e informalidad.</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La prisa se vuelve problema cuando no hay una ruta visible, con criterios y plazos.</a:t>
            </a:r>
            <a:endParaRPr lang="en-US" sz="1200" dirty="0"/>
          </a:p>
        </p:txBody>
      </p:sp>
      <p:sp>
        <p:nvSpPr>
          <p:cNvPr id="16" name="Text 12"/>
          <p:cNvSpPr txBox="1"/>
          <p:nvPr/>
        </p:nvSpPr>
        <p:spPr>
          <a:xfrm>
            <a:off x="6446520" y="5074920"/>
            <a:ext cx="4937760" cy="868680"/>
          </a:xfrm>
          <a:prstGeom prst="rect">
            <a:avLst/>
          </a:prstGeom>
          <a:noFill/>
          <a:ln/>
        </p:spPr>
        <p:txBody>
          <a:bodyPr wrap="square" lIns="0" tIns="0" rIns="0" bIns="0" rtlCol="0" anchor="b"/>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Antes de pedir paciencia, pregunten si la ruta es visible.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04 · MITO VS. DATO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La generación es un lente, no un diagnóstico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National Academies of Sciences, Engineering, and Medicine (2020); Costanza et al. (2012); Rudolph, Rauvola y Zacher (2018); Pew Research Center (2023).</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28</a:t>
            </a:r>
            <a:endParaRPr lang="en-US" sz="750" dirty="0"/>
          </a:p>
        </p:txBody>
      </p:sp>
      <p:sp>
        <p:nvSpPr>
          <p:cNvPr id="8" name="Shape 4"/>
          <p:cNvSpPr/>
          <p:nvPr/>
        </p:nvSpPr>
        <p:spPr>
          <a:xfrm>
            <a:off x="548640" y="1600200"/>
            <a:ext cx="420624" cy="420624"/>
          </a:xfrm>
          <a:prstGeom prst="ellipse">
            <a:avLst/>
          </a:prstGeom>
          <a:solidFill>
            <a:srgbClr val="FF8C47"/>
          </a:solidFill>
          <a:ln/>
        </p:spPr>
      </p:sp>
      <p:sp>
        <p:nvSpPr>
          <p:cNvPr id="9" name="Text 5"/>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10" name="Text 6"/>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EDAD</a:t>
            </a:r>
            <a:endParaRPr lang="en-US" sz="3400" dirty="0"/>
          </a:p>
        </p:txBody>
      </p:sp>
      <p:sp>
        <p:nvSpPr>
          <p:cNvPr id="11" name="Text 7"/>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La etapa de vida</a:t>
            </a:r>
            <a:endParaRPr lang="en-US" sz="1400" dirty="0"/>
          </a:p>
        </p:txBody>
      </p:sp>
      <p:sp>
        <p:nvSpPr>
          <p:cNvPr id="12" name="Text 8"/>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25 casi todos queremos crecer rápido y cambiar de empleo.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A los 55 pesan más la estabilidad y el legado.</a:t>
            </a:r>
            <a:endParaRPr lang="en-US" sz="1200" dirty="0"/>
          </a:p>
        </p:txBody>
      </p:sp>
      <p:sp>
        <p:nvSpPr>
          <p:cNvPr id="13" name="Text 9"/>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¿Yo a los 25 era tan distinto?</a:t>
            </a:r>
            <a:endParaRPr lang="en-US" sz="1200" dirty="0"/>
          </a:p>
        </p:txBody>
      </p:sp>
      <p:sp>
        <p:nvSpPr>
          <p:cNvPr id="14" name="Shape 10"/>
          <p:cNvSpPr/>
          <p:nvPr/>
        </p:nvSpPr>
        <p:spPr>
          <a:xfrm>
            <a:off x="4337304" y="1600200"/>
            <a:ext cx="420624" cy="420624"/>
          </a:xfrm>
          <a:prstGeom prst="ellipse">
            <a:avLst/>
          </a:prstGeom>
          <a:solidFill>
            <a:srgbClr val="FA4642"/>
          </a:solidFill>
          <a:ln/>
        </p:spPr>
      </p:sp>
      <p:sp>
        <p:nvSpPr>
          <p:cNvPr id="15" name="Text 11"/>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6" name="Text 12"/>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ÉPOCA</a:t>
            </a:r>
            <a:endParaRPr lang="en-US" sz="3400" dirty="0"/>
          </a:p>
        </p:txBody>
      </p:sp>
      <p:sp>
        <p:nvSpPr>
          <p:cNvPr id="17" name="Text 13"/>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Lo que vivimos todos a la vez</a:t>
            </a:r>
            <a:endParaRPr lang="en-US" sz="1400" dirty="0"/>
          </a:p>
        </p:txBody>
      </p:sp>
      <p:sp>
        <p:nvSpPr>
          <p:cNvPr id="18" name="Text 14"/>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Pandemia, inflación, IA, relocalización industrial.</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Nos afecta a todos; se nota más en quien empieza.</a:t>
            </a:r>
            <a:endParaRPr lang="en-US" sz="1200" dirty="0"/>
          </a:p>
        </p:txBody>
      </p:sp>
      <p:sp>
        <p:nvSpPr>
          <p:cNvPr id="19" name="Text 15"/>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nos está pasando a todos?</a:t>
            </a:r>
            <a:endParaRPr lang="en-US" sz="1200" dirty="0"/>
          </a:p>
        </p:txBody>
      </p:sp>
      <p:sp>
        <p:nvSpPr>
          <p:cNvPr id="20" name="Shape 16"/>
          <p:cNvSpPr/>
          <p:nvPr/>
        </p:nvSpPr>
        <p:spPr>
          <a:xfrm>
            <a:off x="8125968" y="1600200"/>
            <a:ext cx="420624" cy="420624"/>
          </a:xfrm>
          <a:prstGeom prst="ellipse">
            <a:avLst/>
          </a:prstGeom>
          <a:solidFill>
            <a:srgbClr val="AA0582"/>
          </a:solidFill>
          <a:ln/>
        </p:spPr>
      </p:sp>
      <p:sp>
        <p:nvSpPr>
          <p:cNvPr id="21" name="Text 17"/>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22" name="Text 18"/>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COHORTE</a:t>
            </a:r>
            <a:endParaRPr lang="en-US" sz="3400" dirty="0"/>
          </a:p>
        </p:txBody>
      </p:sp>
      <p:sp>
        <p:nvSpPr>
          <p:cNvPr id="23" name="Text 19"/>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Lo que marcaría a una generación</a:t>
            </a:r>
            <a:endParaRPr lang="en-US" sz="1400" dirty="0"/>
          </a:p>
        </p:txBody>
      </p:sp>
      <p:sp>
        <p:nvSpPr>
          <p:cNvPr id="24" name="Text 20"/>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Puede existir, pero suele ser pequeña y es la más difícil de probar.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Con una encuesta de un solo momento no se puede separar de la edad.</a:t>
            </a:r>
            <a:endParaRPr lang="en-US" sz="1200" dirty="0"/>
          </a:p>
        </p:txBody>
      </p:sp>
      <p:sp>
        <p:nvSpPr>
          <p:cNvPr id="25" name="Text 21"/>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¿Qué sé de esta persona, no de su generación?</a:t>
            </a:r>
            <a:endParaRPr lang="en-US" sz="1200" dirty="0"/>
          </a:p>
        </p:txBody>
      </p:sp>
      <p:sp>
        <p:nvSpPr>
          <p:cNvPr id="26" name="Text 22"/>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Generación ≠ personalidad. Hay más diferencia dentro de cada generación que entre ellas.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00 · RECESO · 10 MINUTOS</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Century Gothic" pitchFamily="34" charset="0"/>
                <a:ea typeface="Century Gothic" pitchFamily="34" charset="-122"/>
                <a:cs typeface="Century Gothic" pitchFamily="34" charset="-120"/>
              </a:rPr>
              <a:t>¿Qué ha cambiado más en estos años: la gente, o el trato entre la gente y las empresas?</a:t>
            </a:r>
            <a:endParaRPr lang="en-US" sz="3200" dirty="0"/>
          </a:p>
        </p:txBody>
      </p:sp>
      <p:sp>
        <p:nvSpPr>
          <p:cNvPr id="4" name="Text 2"/>
          <p:cNvSpPr txBox="1"/>
          <p:nvPr/>
        </p:nvSpPr>
        <p:spPr>
          <a:xfrm>
            <a:off x="548640" y="46177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Regresamos puntuales.</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29</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03</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3 · CONTEXTO · ACTOS 5 Y 6</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Cambió el entorno y cambió el trato</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30</a:t>
            </a:r>
            <a:endParaRPr lang="en-US" sz="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¿A qué mundo entramos a trabajar?</a:t>
            </a:r>
            <a:endParaRPr lang="en-US" sz="3600" dirty="0"/>
          </a:p>
        </p:txBody>
      </p:sp>
      <p:sp>
        <p:nvSpPr>
          <p:cNvPr id="4" name="Text 2"/>
          <p:cNvSpPr txBox="1"/>
          <p:nvPr/>
        </p:nvSpPr>
        <p:spPr>
          <a:xfrm>
            <a:off x="548640" y="35661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Cuatro contextos de entrada al trabajo en México. Esto describe el entorno, no a las personas. Los rangos de años son convenciones y varían por país.</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31</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el empleo prometía estabilidad</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32</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BABY BOOMERS · NACIDOS ≈1946–1964 · ENTRARON ≈1964–1985</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Desarrollo estabilizador: crecimiento cercano a 7 % anual y tipo de cambio fijo.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Acero nacional y empleo paraestatal: SICARTSA inicia operación en 1976.</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Devaluación de 1976 y crisis de la deuda de 1982.</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Reconversión industrial: cierre de Fundidora Monterrey en 1986.</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Seguridad, pertenencia y ascenso por antigüedad: una estrategia racional en un mundo de empleo estable… hasta que dejó de serlo.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Reciprocidad de largo plazo, respeto a la experiencia, aprender en el puesto.</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Leer el “¿por qué?” como falta de respeto; sentir que su experiencia pierde valor frente a lo digital.</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quieren o no pueden aprender herramientas nuevas.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crisis, apertura y privatización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33</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X · NACIDOS ≈1965–1980 · ENTRARON ≈1983–2000</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Inflación alta y la “década perdida” de los ochenta.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Entrada al GATT (1986) y privatizaciones: SICARTSA pasa a manos privadas en 1991–92 (Villacero e Ispat).</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TLCAN (1994) y crisis de 1994–95: el PIB cayó alrededor de 6 % en 1995.</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Muchos vivieron cambios de dueño; en 2006–07 ArcelorMittal integra ambas plantas.</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medio para construir autonomía y seguridad propia en entornos inestables.</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Autonomía, resultados por encima de la forma, poca supervisión cercana.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Impaciencia con la supervisión cercana y con procesos lentos; escepticismo ante promesas corporativas.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su escepticismo es falta de compromiso. Tiene historia.</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cuando la estabilidad ya no estaba garantizada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34</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MILLENNIALS · NACIDOS ≈1981–1996 · ENTRARON ≈2000–2018</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Crisis financiera global: la economía mexicana cayó más de 5 % en 2009.</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Smartphone e internet llegaron con su entrada al trabajo.</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laboral de 2012 y expansión de la subcontratación.</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Hoy muchos ya son jefes de turno, gerentes y directores.</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Aprendizaje y empleabilidad: el desarrollo como seguro ante la incertidumbre.</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Desarrollo visible, retroalimentación, sentido, flexibilidad.</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Pedir crecimiento y retroalimentación más rápido de lo que el sistema ofrece; ser leídos como impacientes.</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querer crecer rápido es falta de compromiso.</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CUATRO CONTEXTOS DE ENTRADA AL TRABAJO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Entraron entre pandemia, relocalización industrial e 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Esto describe el entorno, no a las personas. Fuentes: Paquete de evidencia §8 (Banxico, INEGI, historia de SICARTSA y Fundidora Monterrey). Cortes generacionales: convención de Pew Research.</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35</a:t>
            </a:r>
            <a:endParaRPr lang="en-US" sz="750" dirty="0"/>
          </a:p>
        </p:txBody>
      </p:sp>
      <p:sp>
        <p:nvSpPr>
          <p:cNvPr id="8" name="Text 4"/>
          <p:cNvSpPr txBox="1"/>
          <p:nvPr/>
        </p:nvSpPr>
        <p:spPr>
          <a:xfrm>
            <a:off x="548640" y="1371600"/>
            <a:ext cx="10972800" cy="320040"/>
          </a:xfrm>
          <a:prstGeom prst="rect">
            <a:avLst/>
          </a:prstGeom>
          <a:noFill/>
          <a:ln/>
        </p:spPr>
        <p:txBody>
          <a:bodyPr wrap="square" lIns="0" tIns="0" rIns="0" bIns="0" rtlCol="0" anchor="t"/>
          <a:lstStyle/>
          <a:p>
            <a:pPr indent="0" marL="0">
              <a:buNone/>
            </a:pPr>
            <a:r>
              <a:rPr lang="en-US" sz="1200" b="1" spc="150" kern="0" dirty="0">
                <a:solidFill>
                  <a:srgbClr val="8A8CA0"/>
                </a:solidFill>
                <a:latin typeface="Century Gothic" pitchFamily="34" charset="0"/>
                <a:ea typeface="Century Gothic" pitchFamily="34" charset="-122"/>
                <a:cs typeface="Century Gothic" pitchFamily="34" charset="-120"/>
              </a:rPr>
              <a:t>GENERACIÓN Z · NACIDOS ≈1997–2012 · ENTRARON ≈2015–HOY</a:t>
            </a:r>
            <a:endParaRPr lang="en-US" sz="1200" dirty="0"/>
          </a:p>
        </p:txBody>
      </p:sp>
      <p:sp>
        <p:nvSpPr>
          <p:cNvPr id="9" name="Shape 5"/>
          <p:cNvSpPr/>
          <p:nvPr/>
        </p:nvSpPr>
        <p:spPr>
          <a:xfrm>
            <a:off x="548640" y="1783080"/>
            <a:ext cx="4846320" cy="4343400"/>
          </a:xfrm>
          <a:prstGeom prst="roundRect">
            <a:avLst>
              <a:gd name="adj" fmla="val 1684"/>
            </a:avLst>
          </a:prstGeom>
          <a:solidFill>
            <a:srgbClr val="F4F5F9"/>
          </a:solidFill>
          <a:ln/>
        </p:spPr>
      </p:sp>
      <p:sp>
        <p:nvSpPr>
          <p:cNvPr id="10" name="Text 6"/>
          <p:cNvSpPr txBox="1"/>
          <p:nvPr/>
        </p:nvSpPr>
        <p:spPr>
          <a:xfrm>
            <a:off x="822960" y="1965960"/>
            <a:ext cx="429768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EL MUNDO AL QUE ENTRARON</a:t>
            </a:r>
            <a:endParaRPr lang="en-US" sz="1000" dirty="0"/>
          </a:p>
        </p:txBody>
      </p:sp>
      <p:sp>
        <p:nvSpPr>
          <p:cNvPr id="11" name="Text 7"/>
          <p:cNvSpPr txBox="1"/>
          <p:nvPr/>
        </p:nvSpPr>
        <p:spPr>
          <a:xfrm>
            <a:off x="822960" y="2350008"/>
            <a:ext cx="4343400" cy="3611880"/>
          </a:xfrm>
          <a:prstGeom prst="rect">
            <a:avLst/>
          </a:prstGeom>
          <a:noFill/>
          <a:ln/>
        </p:spPr>
        <p:txBody>
          <a:bodyPr wrap="square" lIns="0" tIns="0" rIns="0" bIns="0" rtlCol="0" anchor="t"/>
          <a:lstStyle/>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Pandemia 2020: la mayor caída del PIB desde 1932; muchos empezaron a distancia.</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Reforma de subcontratación de 2021.</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T-MEC y relocalización industrial: inversión extranjera en niveles récord (2023, cifras preliminares).</a:t>
            </a:r>
            <a:endParaRPr lang="en-US" sz="1150" dirty="0"/>
          </a:p>
          <a:p>
            <a:pPr marL="204470" indent="-204470">
              <a:spcAft>
                <a:spcPts val="690"/>
              </a:spcAft>
              <a:buSzPct val="100000"/>
              <a:buChar char="•"/>
            </a:pPr>
            <a:r>
              <a:rPr lang="en-US" sz="1150" dirty="0">
                <a:solidFill>
                  <a:srgbClr val="1A1A2E"/>
                </a:solidFill>
                <a:latin typeface="Century Gothic" pitchFamily="34" charset="0"/>
                <a:ea typeface="Century Gothic" pitchFamily="34" charset="-122"/>
                <a:cs typeface="Century Gothic" pitchFamily="34" charset="-120"/>
              </a:rPr>
              <a:t>IA generativa, y una informalidad cercana a 55 % como alternativa real.</a:t>
            </a:r>
            <a:endParaRPr lang="en-US" sz="1150" dirty="0"/>
          </a:p>
        </p:txBody>
      </p:sp>
      <p:sp>
        <p:nvSpPr>
          <p:cNvPr id="12" name="Text 8"/>
          <p:cNvSpPr txBox="1"/>
          <p:nvPr/>
        </p:nvSpPr>
        <p:spPr>
          <a:xfrm>
            <a:off x="5760720" y="1783080"/>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QUÉ SOLÍA REPRESENTAR EL TRABAJO</a:t>
            </a:r>
            <a:endParaRPr lang="en-US" sz="900" dirty="0"/>
          </a:p>
        </p:txBody>
      </p:sp>
      <p:sp>
        <p:nvSpPr>
          <p:cNvPr id="13" name="Text 9"/>
          <p:cNvSpPr txBox="1"/>
          <p:nvPr/>
        </p:nvSpPr>
        <p:spPr>
          <a:xfrm>
            <a:off x="5760720" y="2057400"/>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Un intercambio que se revisa: salario, aprendizaje, bienestar y trato.</a:t>
            </a:r>
            <a:endParaRPr lang="en-US" sz="1200" dirty="0"/>
          </a:p>
        </p:txBody>
      </p:sp>
      <p:sp>
        <p:nvSpPr>
          <p:cNvPr id="14" name="Shape 10"/>
          <p:cNvSpPr/>
          <p:nvPr/>
        </p:nvSpPr>
        <p:spPr>
          <a:xfrm>
            <a:off x="5760720" y="2788920"/>
            <a:ext cx="5852160" cy="0"/>
          </a:xfrm>
          <a:prstGeom prst="line">
            <a:avLst/>
          </a:prstGeom>
          <a:noFill/>
          <a:ln w="6350">
            <a:solidFill>
              <a:srgbClr val="D6D8EA"/>
            </a:solidFill>
            <a:prstDash val="solid"/>
          </a:ln>
        </p:spPr>
      </p:sp>
      <p:sp>
        <p:nvSpPr>
          <p:cNvPr id="15" name="Text 11"/>
          <p:cNvSpPr txBox="1"/>
          <p:nvPr/>
        </p:nvSpPr>
        <p:spPr>
          <a:xfrm>
            <a:off x="5760720" y="2862072"/>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EXPECTATIVAS FRECUENTES</a:t>
            </a:r>
            <a:endParaRPr lang="en-US" sz="900" dirty="0"/>
          </a:p>
        </p:txBody>
      </p:sp>
      <p:sp>
        <p:nvSpPr>
          <p:cNvPr id="16" name="Text 12"/>
          <p:cNvSpPr txBox="1"/>
          <p:nvPr/>
        </p:nvSpPr>
        <p:spPr>
          <a:xfrm>
            <a:off x="5760720" y="3136392"/>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Claridad, reciprocidad visible, desarrollo concreto, límites entre trabajo y vida.</a:t>
            </a:r>
            <a:endParaRPr lang="en-US" sz="1200" dirty="0"/>
          </a:p>
        </p:txBody>
      </p:sp>
      <p:sp>
        <p:nvSpPr>
          <p:cNvPr id="17" name="Shape 13"/>
          <p:cNvSpPr/>
          <p:nvPr/>
        </p:nvSpPr>
        <p:spPr>
          <a:xfrm>
            <a:off x="5760720" y="3867912"/>
            <a:ext cx="5852160" cy="0"/>
          </a:xfrm>
          <a:prstGeom prst="line">
            <a:avLst/>
          </a:prstGeom>
          <a:noFill/>
          <a:ln w="6350">
            <a:solidFill>
              <a:srgbClr val="D6D8EA"/>
            </a:solidFill>
            <a:prstDash val="solid"/>
          </a:ln>
        </p:spPr>
      </p:sp>
      <p:sp>
        <p:nvSpPr>
          <p:cNvPr id="18" name="Text 14"/>
          <p:cNvSpPr txBox="1"/>
          <p:nvPr/>
        </p:nvSpPr>
        <p:spPr>
          <a:xfrm>
            <a:off x="5760720" y="3941064"/>
            <a:ext cx="5852160" cy="256032"/>
          </a:xfrm>
          <a:prstGeom prst="rect">
            <a:avLst/>
          </a:prstGeom>
          <a:noFill/>
          <a:ln/>
        </p:spPr>
        <p:txBody>
          <a:bodyPr wrap="square" lIns="0" tIns="0" rIns="0" bIns="0" rtlCol="0" anchor="t"/>
          <a:lstStyle/>
          <a:p>
            <a:pPr indent="0" marL="0">
              <a:buNone/>
            </a:pPr>
            <a:r>
              <a:rPr lang="en-US" sz="900" b="1" spc="150" kern="0" dirty="0">
                <a:solidFill>
                  <a:srgbClr val="FA4642"/>
                </a:solidFill>
                <a:latin typeface="Century Gothic" pitchFamily="34" charset="0"/>
                <a:ea typeface="Century Gothic" pitchFamily="34" charset="-122"/>
                <a:cs typeface="Century Gothic" pitchFamily="34" charset="-120"/>
              </a:rPr>
              <a:t>POSIBLES FRICCIONES DE LIDERAZGO</a:t>
            </a:r>
            <a:endParaRPr lang="en-US" sz="900" dirty="0"/>
          </a:p>
        </p:txBody>
      </p:sp>
      <p:sp>
        <p:nvSpPr>
          <p:cNvPr id="19" name="Text 15"/>
          <p:cNvSpPr txBox="1"/>
          <p:nvPr/>
        </p:nvSpPr>
        <p:spPr>
          <a:xfrm>
            <a:off x="5760720" y="4215384"/>
            <a:ext cx="5852160" cy="749808"/>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Preguntar el porqué y poner límites de horario; ser leídos como falta de compromiso.</a:t>
            </a:r>
            <a:endParaRPr lang="en-US" sz="1200" dirty="0"/>
          </a:p>
        </p:txBody>
      </p:sp>
      <p:sp>
        <p:nvSpPr>
          <p:cNvPr id="20" name="Shape 16"/>
          <p:cNvSpPr/>
          <p:nvPr/>
        </p:nvSpPr>
        <p:spPr>
          <a:xfrm>
            <a:off x="5760720" y="4946904"/>
            <a:ext cx="5852160" cy="0"/>
          </a:xfrm>
          <a:prstGeom prst="line">
            <a:avLst/>
          </a:prstGeom>
          <a:noFill/>
          <a:ln w="6350">
            <a:solidFill>
              <a:srgbClr val="D6D8EA"/>
            </a:solidFill>
            <a:prstDash val="solid"/>
          </a:ln>
        </p:spPr>
      </p:sp>
      <p:sp>
        <p:nvSpPr>
          <p:cNvPr id="21" name="Shape 17"/>
          <p:cNvSpPr/>
          <p:nvPr/>
        </p:nvSpPr>
        <p:spPr>
          <a:xfrm>
            <a:off x="5760720" y="5074920"/>
            <a:ext cx="5879592" cy="1051560"/>
          </a:xfrm>
          <a:prstGeom prst="roundRect">
            <a:avLst>
              <a:gd name="adj" fmla="val 5217"/>
            </a:avLst>
          </a:prstGeom>
          <a:solidFill>
            <a:srgbClr val="1A1A2E"/>
          </a:solidFill>
          <a:ln/>
        </p:spPr>
      </p:sp>
      <p:sp>
        <p:nvSpPr>
          <p:cNvPr id="22" name="Text 18"/>
          <p:cNvSpPr txBox="1"/>
          <p:nvPr/>
        </p:nvSpPr>
        <p:spPr>
          <a:xfrm>
            <a:off x="5989320" y="5166360"/>
            <a:ext cx="5486400" cy="256032"/>
          </a:xfrm>
          <a:prstGeom prst="rect">
            <a:avLst/>
          </a:prstGeom>
          <a:noFill/>
          <a:ln/>
        </p:spPr>
        <p:txBody>
          <a:bodyPr wrap="square" lIns="0" tIns="0" rIns="0" bIns="0" rtlCol="0" anchor="t"/>
          <a:lstStyle/>
          <a:p>
            <a:pPr indent="0" marL="0">
              <a:buNone/>
            </a:pPr>
            <a:r>
              <a:rPr lang="en-US" sz="900" b="1" spc="150" kern="0" dirty="0">
                <a:solidFill>
                  <a:srgbClr val="FF8C47"/>
                </a:solidFill>
                <a:latin typeface="Century Gothic" pitchFamily="34" charset="0"/>
                <a:ea typeface="Century Gothic" pitchFamily="34" charset="-122"/>
                <a:cs typeface="Century Gothic" pitchFamily="34" charset="-120"/>
              </a:rPr>
              <a:t>LO QUE UN LÍDER NO DEBERÍA SUPONER</a:t>
            </a:r>
            <a:endParaRPr lang="en-US" sz="900" dirty="0"/>
          </a:p>
        </p:txBody>
      </p:sp>
      <p:sp>
        <p:nvSpPr>
          <p:cNvPr id="23" name="Text 19"/>
          <p:cNvSpPr txBox="1"/>
          <p:nvPr/>
        </p:nvSpPr>
        <p:spPr>
          <a:xfrm>
            <a:off x="5989320" y="5422392"/>
            <a:ext cx="5486400" cy="658368"/>
          </a:xfrm>
          <a:prstGeom prst="rect">
            <a:avLst/>
          </a:prstGeom>
          <a:noFill/>
          <a:ln/>
        </p:spPr>
        <p:txBody>
          <a:bodyPr wrap="square" lIns="0" tIns="0" rIns="0" bIns="0" rtlCol="0" anchor="t"/>
          <a:lstStyle/>
          <a:p>
            <a:pPr indent="0" marL="0">
              <a:buNone/>
            </a:pPr>
            <a:r>
              <a:rPr lang="en-US" sz="1200" b="1" dirty="0">
                <a:solidFill>
                  <a:srgbClr val="FFFFFF"/>
                </a:solidFill>
                <a:latin typeface="Century Gothic" pitchFamily="34" charset="0"/>
                <a:ea typeface="Century Gothic" pitchFamily="34" charset="-122"/>
                <a:cs typeface="Century Gothic" pitchFamily="34" charset="-120"/>
              </a:rPr>
              <a:t>Que no aguantan el trabajo de planta: no hay evidencia comparativa que lo sostenga.</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05 · EL CONTRATO CAMBIÓ</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contrato psicológico cambió, empezando por las empresas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Rousseau (1989; 1995); Cappelli (1999), The New Deal at Work; Paquete de evidencia E-A9.</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36</a:t>
            </a:r>
            <a:endParaRPr lang="en-US" sz="750" dirty="0"/>
          </a:p>
        </p:txBody>
      </p:sp>
      <p:sp>
        <p:nvSpPr>
          <p:cNvPr id="8" name="Shape 4"/>
          <p:cNvSpPr/>
          <p:nvPr/>
        </p:nvSpPr>
        <p:spPr>
          <a:xfrm>
            <a:off x="548640" y="1600200"/>
            <a:ext cx="5257800" cy="4069080"/>
          </a:xfrm>
          <a:prstGeom prst="roundRect">
            <a:avLst>
              <a:gd name="adj" fmla="val 1798"/>
            </a:avLst>
          </a:prstGeom>
          <a:solidFill>
            <a:srgbClr val="F4F5F9"/>
          </a:solidFill>
          <a:ln/>
        </p:spPr>
      </p:sp>
      <p:sp>
        <p:nvSpPr>
          <p:cNvPr id="9" name="Text 5"/>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CONTRATO ANTERIOR</a:t>
            </a:r>
            <a:endParaRPr lang="en-US" sz="1000" dirty="0"/>
          </a:p>
        </p:txBody>
      </p:sp>
      <p:sp>
        <p:nvSpPr>
          <p:cNvPr id="10" name="Text 6"/>
          <p:cNvSpPr txBox="1"/>
          <p:nvPr/>
        </p:nvSpPr>
        <p:spPr>
          <a:xfrm>
            <a:off x="868680" y="2560320"/>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1" name="Text 7"/>
          <p:cNvSpPr txBox="1"/>
          <p:nvPr/>
        </p:nvSpPr>
        <p:spPr>
          <a:xfrm>
            <a:off x="1188720" y="2286000"/>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Trabaja duro</a:t>
            </a:r>
            <a:endParaRPr lang="en-US" sz="1350" dirty="0"/>
          </a:p>
        </p:txBody>
      </p:sp>
      <p:sp>
        <p:nvSpPr>
          <p:cNvPr id="12" name="Text 8"/>
          <p:cNvSpPr txBox="1"/>
          <p:nvPr/>
        </p:nvSpPr>
        <p:spPr>
          <a:xfrm>
            <a:off x="868680" y="3090672"/>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3" name="Text 9"/>
          <p:cNvSpPr txBox="1"/>
          <p:nvPr/>
        </p:nvSpPr>
        <p:spPr>
          <a:xfrm>
            <a:off x="1188720" y="2816352"/>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Sé leal</a:t>
            </a:r>
            <a:endParaRPr lang="en-US" sz="1350" dirty="0"/>
          </a:p>
        </p:txBody>
      </p:sp>
      <p:sp>
        <p:nvSpPr>
          <p:cNvPr id="14" name="Text 10"/>
          <p:cNvSpPr txBox="1"/>
          <p:nvPr/>
        </p:nvSpPr>
        <p:spPr>
          <a:xfrm>
            <a:off x="868680" y="3621024"/>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5" name="Text 11"/>
          <p:cNvSpPr txBox="1"/>
          <p:nvPr/>
        </p:nvSpPr>
        <p:spPr>
          <a:xfrm>
            <a:off x="1188720" y="3346704"/>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Acumula antigüedad</a:t>
            </a:r>
            <a:endParaRPr lang="en-US" sz="1350" dirty="0"/>
          </a:p>
        </p:txBody>
      </p:sp>
      <p:sp>
        <p:nvSpPr>
          <p:cNvPr id="16" name="Text 12"/>
          <p:cNvSpPr txBox="1"/>
          <p:nvPr/>
        </p:nvSpPr>
        <p:spPr>
          <a:xfrm>
            <a:off x="868680" y="4151376"/>
            <a:ext cx="274320" cy="274320"/>
          </a:xfrm>
          <a:prstGeom prst="rect">
            <a:avLst/>
          </a:prstGeom>
          <a:noFill/>
          <a:ln/>
        </p:spPr>
        <p:txBody>
          <a:bodyPr wrap="square" lIns="0" tIns="0" rIns="0" bIns="0" rtlCol="0" anchor="t"/>
          <a:lstStyle/>
          <a:p>
            <a:pPr indent="0" marL="0">
              <a:buNone/>
            </a:pPr>
            <a:r>
              <a:rPr lang="en-US" sz="1000" dirty="0">
                <a:solidFill>
                  <a:srgbClr val="8A8CA0"/>
                </a:solidFill>
                <a:latin typeface="Century Gothic" pitchFamily="34" charset="0"/>
                <a:ea typeface="Century Gothic" pitchFamily="34" charset="-122"/>
                <a:cs typeface="Century Gothic" pitchFamily="34" charset="-120"/>
              </a:rPr>
              <a:t>↓</a:t>
            </a:r>
            <a:endParaRPr lang="en-US" sz="1000" dirty="0"/>
          </a:p>
        </p:txBody>
      </p:sp>
      <p:sp>
        <p:nvSpPr>
          <p:cNvPr id="17" name="Text 13"/>
          <p:cNvSpPr txBox="1"/>
          <p:nvPr/>
        </p:nvSpPr>
        <p:spPr>
          <a:xfrm>
            <a:off x="1188720" y="3877056"/>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La empresa te protege</a:t>
            </a:r>
            <a:endParaRPr lang="en-US" sz="1350" dirty="0"/>
          </a:p>
        </p:txBody>
      </p:sp>
      <p:sp>
        <p:nvSpPr>
          <p:cNvPr id="18" name="Text 14"/>
          <p:cNvSpPr txBox="1"/>
          <p:nvPr/>
        </p:nvSpPr>
        <p:spPr>
          <a:xfrm>
            <a:off x="1188720" y="4407408"/>
            <a:ext cx="4297680" cy="347472"/>
          </a:xfrm>
          <a:prstGeom prst="rect">
            <a:avLst/>
          </a:prstGeom>
          <a:noFill/>
          <a:ln/>
        </p:spPr>
        <p:txBody>
          <a:bodyPr wrap="square" lIns="0" tIns="0" rIns="0" bIns="0" rtlCol="0" anchor="ctr"/>
          <a:lstStyle/>
          <a:p>
            <a:pPr indent="0" marL="0">
              <a:buNone/>
            </a:pPr>
            <a:r>
              <a:rPr lang="en-US" sz="1350" b="1" dirty="0">
                <a:solidFill>
                  <a:srgbClr val="1A1A2E"/>
                </a:solidFill>
                <a:latin typeface="Century Gothic" pitchFamily="34" charset="0"/>
                <a:ea typeface="Century Gothic" pitchFamily="34" charset="-122"/>
                <a:cs typeface="Century Gothic" pitchFamily="34" charset="-120"/>
              </a:rPr>
              <a:t>Tu carrera avanza</a:t>
            </a:r>
            <a:endParaRPr lang="en-US" sz="1350" dirty="0"/>
          </a:p>
        </p:txBody>
      </p:sp>
      <p:sp>
        <p:nvSpPr>
          <p:cNvPr id="19" name="Shape 15"/>
          <p:cNvSpPr/>
          <p:nvPr/>
        </p:nvSpPr>
        <p:spPr>
          <a:xfrm>
            <a:off x="6355080" y="1600200"/>
            <a:ext cx="5257800" cy="4069080"/>
          </a:xfrm>
          <a:prstGeom prst="roundRect">
            <a:avLst>
              <a:gd name="adj" fmla="val 1798"/>
            </a:avLst>
          </a:prstGeom>
          <a:solidFill>
            <a:srgbClr val="1A1A2E"/>
          </a:solidFill>
          <a:ln/>
        </p:spPr>
      </p:sp>
      <p:sp>
        <p:nvSpPr>
          <p:cNvPr id="20" name="Text 16"/>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CONTRATO CONTEMPORÁNEO</a:t>
            </a:r>
            <a:endParaRPr lang="en-US" sz="1000" dirty="0"/>
          </a:p>
        </p:txBody>
      </p:sp>
      <p:sp>
        <p:nvSpPr>
          <p:cNvPr id="21" name="Text 17"/>
          <p:cNvSpPr txBox="1"/>
          <p:nvPr/>
        </p:nvSpPr>
        <p:spPr>
          <a:xfrm>
            <a:off x="6675120" y="2560320"/>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2" name="Text 18"/>
          <p:cNvSpPr txBox="1"/>
          <p:nvPr/>
        </p:nvSpPr>
        <p:spPr>
          <a:xfrm>
            <a:off x="6995160" y="2286000"/>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Crea valor</a:t>
            </a:r>
            <a:endParaRPr lang="en-US" sz="1350" dirty="0"/>
          </a:p>
        </p:txBody>
      </p:sp>
      <p:sp>
        <p:nvSpPr>
          <p:cNvPr id="23" name="Text 19"/>
          <p:cNvSpPr txBox="1"/>
          <p:nvPr/>
        </p:nvSpPr>
        <p:spPr>
          <a:xfrm>
            <a:off x="6675120" y="3090672"/>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4" name="Text 20"/>
          <p:cNvSpPr txBox="1"/>
          <p:nvPr/>
        </p:nvSpPr>
        <p:spPr>
          <a:xfrm>
            <a:off x="6995160" y="2816352"/>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Desarrolla habilidades</a:t>
            </a:r>
            <a:endParaRPr lang="en-US" sz="1350" dirty="0"/>
          </a:p>
        </p:txBody>
      </p:sp>
      <p:sp>
        <p:nvSpPr>
          <p:cNvPr id="25" name="Text 21"/>
          <p:cNvSpPr txBox="1"/>
          <p:nvPr/>
        </p:nvSpPr>
        <p:spPr>
          <a:xfrm>
            <a:off x="6675120" y="3621024"/>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6" name="Text 22"/>
          <p:cNvSpPr txBox="1"/>
          <p:nvPr/>
        </p:nvSpPr>
        <p:spPr>
          <a:xfrm>
            <a:off x="6995160" y="3346704"/>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Mantén tu empleabilidad</a:t>
            </a:r>
            <a:endParaRPr lang="en-US" sz="1350" dirty="0"/>
          </a:p>
        </p:txBody>
      </p:sp>
      <p:sp>
        <p:nvSpPr>
          <p:cNvPr id="27" name="Text 23"/>
          <p:cNvSpPr txBox="1"/>
          <p:nvPr/>
        </p:nvSpPr>
        <p:spPr>
          <a:xfrm>
            <a:off x="6675120" y="4151376"/>
            <a:ext cx="274320" cy="274320"/>
          </a:xfrm>
          <a:prstGeom prst="rect">
            <a:avLst/>
          </a:prstGeom>
          <a:noFill/>
          <a:ln/>
        </p:spPr>
        <p:txBody>
          <a:bodyPr wrap="square" lIns="0" tIns="0" rIns="0" bIns="0" rtlCol="0" anchor="t"/>
          <a:lstStyle/>
          <a:p>
            <a:pPr indent="0" marL="0">
              <a:buNone/>
            </a:pPr>
            <a:r>
              <a:rPr lang="en-US" sz="1000" dirty="0">
                <a:solidFill>
                  <a:srgbClr val="FF8C47"/>
                </a:solidFill>
                <a:latin typeface="Century Gothic" pitchFamily="34" charset="0"/>
                <a:ea typeface="Century Gothic" pitchFamily="34" charset="-122"/>
                <a:cs typeface="Century Gothic" pitchFamily="34" charset="-120"/>
              </a:rPr>
              <a:t>↕</a:t>
            </a:r>
            <a:endParaRPr lang="en-US" sz="1000" dirty="0"/>
          </a:p>
        </p:txBody>
      </p:sp>
      <p:sp>
        <p:nvSpPr>
          <p:cNvPr id="28" name="Text 24"/>
          <p:cNvSpPr txBox="1"/>
          <p:nvPr/>
        </p:nvSpPr>
        <p:spPr>
          <a:xfrm>
            <a:off x="6995160" y="3877056"/>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Busca experiencias con sentido</a:t>
            </a:r>
            <a:endParaRPr lang="en-US" sz="1350" dirty="0"/>
          </a:p>
        </p:txBody>
      </p:sp>
      <p:sp>
        <p:nvSpPr>
          <p:cNvPr id="29" name="Text 25"/>
          <p:cNvSpPr txBox="1"/>
          <p:nvPr/>
        </p:nvSpPr>
        <p:spPr>
          <a:xfrm>
            <a:off x="6995160" y="4407408"/>
            <a:ext cx="4297680" cy="347472"/>
          </a:xfrm>
          <a:prstGeom prst="rect">
            <a:avLst/>
          </a:prstGeom>
          <a:noFill/>
          <a:ln/>
        </p:spPr>
        <p:txBody>
          <a:bodyPr wrap="square" lIns="0" tIns="0" rIns="0" bIns="0" rtlCol="0" anchor="ctr"/>
          <a:lstStyle/>
          <a:p>
            <a:pPr indent="0" marL="0">
              <a:buNone/>
            </a:pPr>
            <a:r>
              <a:rPr lang="en-US" sz="1350" b="1" dirty="0">
                <a:solidFill>
                  <a:srgbClr val="FFFFFF"/>
                </a:solidFill>
                <a:latin typeface="Century Gothic" pitchFamily="34" charset="0"/>
                <a:ea typeface="Century Gothic" pitchFamily="34" charset="-122"/>
                <a:cs typeface="Century Gothic" pitchFamily="34" charset="-120"/>
              </a:rPr>
              <a:t>Revisa si el intercambio sigue valiendo</a:t>
            </a:r>
            <a:endParaRPr lang="en-US" sz="1350" dirty="0"/>
          </a:p>
        </p:txBody>
      </p:sp>
      <p:sp>
        <p:nvSpPr>
          <p:cNvPr id="30" name="Text 26"/>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Lo vivimos: Fundidora 1986, privatización de SICARTSA 1991–92, ArcelorMittal 2006–07.</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05 · LA LEALTAD SE GANA, EN AMBAS DIRECCIONES</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FFFFFF"/>
                </a:solidFill>
                <a:latin typeface="Century Gothic" pitchFamily="34" charset="0"/>
                <a:ea typeface="Century Gothic" pitchFamily="34" charset="-122"/>
                <a:cs typeface="Century Gothic" pitchFamily="34" charset="-120"/>
              </a:rPr>
              <a:t>¿Por qué esperamos una relación que algunas empresas dejaron de garantizar hace décadas?</a:t>
            </a:r>
            <a:endParaRPr lang="en-US" sz="3000" dirty="0"/>
          </a:p>
        </p:txBody>
      </p:sp>
      <p:sp>
        <p:nvSpPr>
          <p:cNvPr id="4" name="Text 2"/>
          <p:cNvSpPr txBox="1"/>
          <p:nvPr/>
        </p:nvSpPr>
        <p:spPr>
          <a:xfrm>
            <a:off x="548640" y="3931920"/>
            <a:ext cx="9601200" cy="109728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Cuando una persona percibe que la empresa no cumplió lo que esperaba, bajan la confianza, el compromiso y el esfuerzo extra, a cualquier edad. La lealtad de quienes llevan décadas aquí también es un activo que la empresa tiene que seguir ganando.</a:t>
            </a:r>
            <a:endParaRPr lang="en-US" sz="15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6" name="Text 3"/>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B8BACB"/>
                </a:solidFill>
                <a:latin typeface="Calibri" pitchFamily="34" charset="0"/>
                <a:ea typeface="Calibri" pitchFamily="34" charset="-122"/>
                <a:cs typeface="Calibri" pitchFamily="34" charset="-120"/>
              </a:rPr>
              <a:t>Zhao et al. (2007), meta-análisis sobre incumplimiento del contrato psicológico; van Dierendonck y Jacobs (2012), meta-análisis sobre justicia en reestructuras (37 muestras, N = 11,256).</a:t>
            </a:r>
            <a:endParaRPr lang="en-US" sz="750" dirty="0"/>
          </a:p>
        </p:txBody>
      </p:sp>
      <p:sp>
        <p:nvSpPr>
          <p:cNvPr id="7"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37</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Lo que casi todos quieren es lo mismo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(2022), 13,085 empleados, EE. UU.; Randstad Workmonitor 2025–2026 (26,000+ personas, 35 mercados); McKinsey (2021); Paquete de evidencia §7.</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38</a:t>
            </a:r>
            <a:endParaRPr lang="en-US" sz="750" dirty="0"/>
          </a:p>
        </p:txBody>
      </p:sp>
      <p:sp>
        <p:nvSpPr>
          <p:cNvPr id="8" name="Text 4"/>
          <p:cNvSpPr txBox="1"/>
          <p:nvPr/>
        </p:nvSpPr>
        <p:spPr>
          <a:xfrm>
            <a:off x="54864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Salario justo</a:t>
            </a:r>
            <a:endParaRPr lang="en-US" sz="2000" dirty="0"/>
          </a:p>
        </p:txBody>
      </p:sp>
      <p:sp>
        <p:nvSpPr>
          <p:cNvPr id="9" name="Text 5"/>
          <p:cNvSpPr txBox="1"/>
          <p:nvPr/>
        </p:nvSpPr>
        <p:spPr>
          <a:xfrm>
            <a:off x="3931920" y="164592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Estabilidad</a:t>
            </a:r>
            <a:endParaRPr lang="en-US" sz="2000" dirty="0"/>
          </a:p>
        </p:txBody>
      </p:sp>
      <p:sp>
        <p:nvSpPr>
          <p:cNvPr id="10" name="Text 6"/>
          <p:cNvSpPr txBox="1"/>
          <p:nvPr/>
        </p:nvSpPr>
        <p:spPr>
          <a:xfrm>
            <a:off x="54864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Bienestar</a:t>
            </a:r>
            <a:endParaRPr lang="en-US" sz="2000" dirty="0"/>
          </a:p>
        </p:txBody>
      </p:sp>
      <p:sp>
        <p:nvSpPr>
          <p:cNvPr id="11" name="Text 7"/>
          <p:cNvSpPr txBox="1"/>
          <p:nvPr/>
        </p:nvSpPr>
        <p:spPr>
          <a:xfrm>
            <a:off x="3931920" y="246888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Relación con el jefe</a:t>
            </a:r>
            <a:endParaRPr lang="en-US" sz="2000" dirty="0"/>
          </a:p>
        </p:txBody>
      </p:sp>
      <p:sp>
        <p:nvSpPr>
          <p:cNvPr id="12" name="Text 8"/>
          <p:cNvSpPr txBox="1"/>
          <p:nvPr/>
        </p:nvSpPr>
        <p:spPr>
          <a:xfrm>
            <a:off x="54864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Pertenencia</a:t>
            </a:r>
            <a:endParaRPr lang="en-US" sz="2000" dirty="0"/>
          </a:p>
        </p:txBody>
      </p:sp>
      <p:sp>
        <p:nvSpPr>
          <p:cNvPr id="13" name="Text 9"/>
          <p:cNvSpPr txBox="1"/>
          <p:nvPr/>
        </p:nvSpPr>
        <p:spPr>
          <a:xfrm>
            <a:off x="3931920" y="329184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Trabajo con sentido</a:t>
            </a:r>
            <a:endParaRPr lang="en-US" sz="2000" dirty="0"/>
          </a:p>
        </p:txBody>
      </p:sp>
      <p:sp>
        <p:nvSpPr>
          <p:cNvPr id="14" name="Text 10"/>
          <p:cNvSpPr txBox="1"/>
          <p:nvPr/>
        </p:nvSpPr>
        <p:spPr>
          <a:xfrm>
            <a:off x="548640" y="4114800"/>
            <a:ext cx="3291840" cy="685800"/>
          </a:xfrm>
          <a:prstGeom prst="rect">
            <a:avLst/>
          </a:prstGeom>
          <a:noFill/>
          <a:ln/>
        </p:spPr>
        <p:txBody>
          <a:bodyPr wrap="square" lIns="0" tIns="0" rIns="0" bIns="0" rtlCol="0" anchor="ctr"/>
          <a:lstStyle/>
          <a:p>
            <a:pPr indent="0" marL="0">
              <a:buNone/>
            </a:pPr>
            <a:r>
              <a:rPr lang="en-US" sz="2000" b="1" dirty="0">
                <a:solidFill>
                  <a:srgbClr val="1A1A2E"/>
                </a:solidFill>
                <a:latin typeface="Century Gothic" pitchFamily="34" charset="0"/>
                <a:ea typeface="Century Gothic" pitchFamily="34" charset="-122"/>
                <a:cs typeface="Century Gothic" pitchFamily="34" charset="-120"/>
              </a:rPr>
              <a:t>Usar mis fortalezas</a:t>
            </a:r>
            <a:endParaRPr lang="en-US" sz="2000" dirty="0"/>
          </a:p>
        </p:txBody>
      </p:sp>
      <p:sp>
        <p:nvSpPr>
          <p:cNvPr id="15" name="Text 11"/>
          <p:cNvSpPr txBox="1"/>
          <p:nvPr/>
        </p:nvSpPr>
        <p:spPr>
          <a:xfrm>
            <a:off x="548640" y="5074920"/>
            <a:ext cx="6400800" cy="32004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NECESIDADES HUMANAS COMUNES</a:t>
            </a:r>
            <a:endParaRPr lang="en-US" sz="1000" dirty="0"/>
          </a:p>
        </p:txBody>
      </p:sp>
      <p:sp>
        <p:nvSpPr>
          <p:cNvPr id="16" name="Text 12"/>
          <p:cNvSpPr txBox="1"/>
          <p:nvPr/>
        </p:nvSpPr>
        <p:spPr>
          <a:xfrm>
            <a:off x="548640" y="5394960"/>
            <a:ext cx="6400800" cy="365760"/>
          </a:xfrm>
          <a:prstGeom prst="rect">
            <a:avLst/>
          </a:prstGeom>
          <a:noFill/>
          <a:ln/>
        </p:spPr>
        <p:txBody>
          <a:bodyPr wrap="square" lIns="0" tIns="0" rIns="0" bIns="0" rtlCol="0" anchor="t"/>
          <a:lstStyle/>
          <a:p>
            <a:pPr indent="0" marL="0">
              <a:buNone/>
            </a:pPr>
            <a:r>
              <a:rPr lang="en-US" sz="1300" dirty="0">
                <a:solidFill>
                  <a:srgbClr val="5A5A6E"/>
                </a:solidFill>
                <a:latin typeface="Century Gothic" pitchFamily="34" charset="0"/>
                <a:ea typeface="Century Gothic" pitchFamily="34" charset="-122"/>
                <a:cs typeface="Century Gothic" pitchFamily="34" charset="-120"/>
              </a:rPr>
              <a:t>Las cuatro primeras son prioridades en todas las generaciones (Gallup 2022).</a:t>
            </a:r>
            <a:endParaRPr lang="en-US" sz="1300" dirty="0"/>
          </a:p>
        </p:txBody>
      </p:sp>
      <p:sp>
        <p:nvSpPr>
          <p:cNvPr id="17" name="Shape 13"/>
          <p:cNvSpPr/>
          <p:nvPr/>
        </p:nvSpPr>
        <p:spPr>
          <a:xfrm>
            <a:off x="7406640" y="1645920"/>
            <a:ext cx="4233672" cy="4434840"/>
          </a:xfrm>
          <a:prstGeom prst="roundRect">
            <a:avLst>
              <a:gd name="adj" fmla="val 1728"/>
            </a:avLst>
          </a:prstGeom>
          <a:solidFill>
            <a:srgbClr val="F4F5F9"/>
          </a:solidFill>
          <a:ln/>
        </p:spPr>
      </p:sp>
      <p:sp>
        <p:nvSpPr>
          <p:cNvPr id="18" name="Text 14"/>
          <p:cNvSpPr txBox="1"/>
          <p:nvPr/>
        </p:nvSpPr>
        <p:spPr>
          <a:xfrm>
            <a:off x="7680960" y="1828800"/>
            <a:ext cx="3685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UN DATO PARA PLANTA</a:t>
            </a:r>
            <a:endParaRPr lang="en-US" sz="1000" dirty="0"/>
          </a:p>
        </p:txBody>
      </p:sp>
      <p:sp>
        <p:nvSpPr>
          <p:cNvPr id="19" name="Text 15"/>
          <p:cNvSpPr txBox="1"/>
          <p:nvPr/>
        </p:nvSpPr>
        <p:spPr>
          <a:xfrm>
            <a:off x="7680960" y="2212848"/>
            <a:ext cx="3749040" cy="82296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85 % · 15 %</a:t>
            </a:r>
            <a:endParaRPr lang="en-US" sz="3600" dirty="0"/>
          </a:p>
        </p:txBody>
      </p:sp>
      <p:sp>
        <p:nvSpPr>
          <p:cNvPr id="20" name="Text 16"/>
          <p:cNvSpPr txBox="1"/>
          <p:nvPr/>
        </p:nvSpPr>
        <p:spPr>
          <a:xfrm>
            <a:off x="7680960" y="3127248"/>
            <a:ext cx="3749040" cy="118872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Ejecutivos vs. mandos y primera línea que dicen vivir su propósito en el trabajo (McKinsey, 2021, EE. UU.).</a:t>
            </a:r>
            <a:endParaRPr lang="en-US" sz="1200" dirty="0"/>
          </a:p>
        </p:txBody>
      </p:sp>
      <p:sp>
        <p:nvSpPr>
          <p:cNvPr id="21" name="Text 17"/>
          <p:cNvSpPr txBox="1"/>
          <p:nvPr/>
        </p:nvSpPr>
        <p:spPr>
          <a:xfrm>
            <a:off x="7680960" y="4498848"/>
            <a:ext cx="3749040" cy="914400"/>
          </a:xfrm>
          <a:prstGeom prst="rect">
            <a:avLst/>
          </a:prstGeom>
          <a:noFill/>
          <a:ln/>
        </p:spPr>
        <p:txBody>
          <a:bodyPr wrap="square" lIns="0" tIns="0" rIns="0" bIns="0" rtlCol="0" anchor="t"/>
          <a:lstStyle/>
          <a:p>
            <a:pPr indent="0" marL="0">
              <a:buNone/>
            </a:pPr>
            <a:r>
              <a:rPr lang="en-US" sz="1300" b="1" dirty="0">
                <a:solidFill>
                  <a:srgbClr val="1A1A2E"/>
                </a:solidFill>
                <a:latin typeface="Century Gothic" pitchFamily="34" charset="0"/>
                <a:ea typeface="Century Gothic" pitchFamily="34" charset="-122"/>
                <a:cs typeface="Century Gothic" pitchFamily="34" charset="-120"/>
              </a:rPr>
              <a:t>La brecha de propósito más grande es jerárquica, no generacional.</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Donde sí hay diferencias, son de frecuencia, forma y urgencia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Kooij et al. (2011), meta-análisis; Gallup/Workhuman (2022); Deloitte 2025; Randstad 2025. Diferencias promedio con alta variación individual.</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39</a:t>
            </a:r>
            <a:endParaRPr lang="en-US" sz="7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3108960"/>
                <a:gridCol w="3291840"/>
                <a:gridCol w="2679192"/>
              </a:tblGrid>
              <a:tr h="512064">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Necesidad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es común</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varía</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lo explica mejor</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Crecimiento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Todos quieren avanzar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urgencia al inicio de la carrera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Edad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asocia con compromiso a cualquier edad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Frecuencia y forma (pública o privada)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Etapa: quien empieza necesita más señales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Aprender en el puesto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jóvenes piden más mentoría; los mayores participan menos, a veces porque se les ofrece menos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Oportunidad y etapa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Compensación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número uno para casi todos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Urgencia por inseguridad financiera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etapa de vida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Autonomía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Valorada en todas las edades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Diferencias de pocos puntos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Rol y contexto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Bienestar</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Prioridad transversal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Más estrés reportado en menores de 35 y en gerentes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Época y rol</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bl>
          </a:graphicData>
        </a:graphic>
      </p:graphicFrame>
      <p:sp>
        <p:nvSpPr>
          <p:cNvPr id="9" name="Text 4"/>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Eso depende más de la etapa de vida y del jefe que del año de nacimiento.</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06 · LO QUE LA GENTE REALMENTE QUIERE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jefe es la palanca más grande, y también está desgastado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548640" y="6446520"/>
            <a:ext cx="9784080" cy="182880"/>
          </a:xfrm>
          <a:prstGeom prst="rect">
            <a:avLst/>
          </a:prstGeom>
          <a:noFill/>
          <a:ln/>
        </p:spPr>
        <p:txBody>
          <a:bodyPr wrap="square" lIns="0" tIns="0" rIns="0" bIns="0" rtlCol="0" anchor="t"/>
          <a:lstStyle/>
          <a:p>
            <a:pPr indent="0" marL="0">
              <a:buNone/>
            </a:pPr>
            <a:r>
              <a:rPr lang="en-US" sz="750" dirty="0">
                <a:solidFill>
                  <a:srgbClr val="8A8CA0"/>
                </a:solidFill>
                <a:latin typeface="Calibri" pitchFamily="34" charset="0"/>
                <a:ea typeface="Calibri" pitchFamily="34" charset="-122"/>
                <a:cs typeface="Calibri" pitchFamily="34" charset="-120"/>
              </a:rPr>
              <a:t>Gallup, State of the American Manager (2015); Gallup, State of the Global Workplace 2026. Análisis propietario, no revisado por pares.</a:t>
            </a:r>
            <a:endParaRPr lang="en-US" sz="750" dirty="0"/>
          </a:p>
        </p:txBody>
      </p:sp>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40</a:t>
            </a:r>
            <a:endParaRPr lang="en-US" sz="750" dirty="0"/>
          </a:p>
        </p:txBody>
      </p:sp>
      <p:sp>
        <p:nvSpPr>
          <p:cNvPr id="8" name="Text 4"/>
          <p:cNvSpPr txBox="1"/>
          <p:nvPr/>
        </p:nvSpPr>
        <p:spPr>
          <a:xfrm>
            <a:off x="548640" y="1691640"/>
            <a:ext cx="2926080" cy="1234440"/>
          </a:xfrm>
          <a:prstGeom prst="rect">
            <a:avLst/>
          </a:prstGeom>
          <a:noFill/>
          <a:ln/>
        </p:spPr>
        <p:txBody>
          <a:bodyPr wrap="square" lIns="0" tIns="0" rIns="0" bIns="0" rtlCol="0" anchor="b"/>
          <a:lstStyle/>
          <a:p>
            <a:pPr indent="0" marL="0">
              <a:buNone/>
            </a:pPr>
            <a:r>
              <a:rPr lang="en-US" sz="6000" b="1" dirty="0">
                <a:solidFill>
                  <a:srgbClr val="FA4642"/>
                </a:solidFill>
                <a:latin typeface="Century Gothic" pitchFamily="34" charset="0"/>
                <a:ea typeface="Century Gothic" pitchFamily="34" charset="-122"/>
                <a:cs typeface="Century Gothic" pitchFamily="34" charset="-120"/>
              </a:rPr>
              <a:t>70 %</a:t>
            </a:r>
            <a:endParaRPr lang="en-US" sz="6000" dirty="0"/>
          </a:p>
        </p:txBody>
      </p:sp>
      <p:sp>
        <p:nvSpPr>
          <p:cNvPr id="9" name="Shape 5"/>
          <p:cNvSpPr/>
          <p:nvPr/>
        </p:nvSpPr>
        <p:spPr>
          <a:xfrm>
            <a:off x="548640" y="3063240"/>
            <a:ext cx="2834640" cy="0"/>
          </a:xfrm>
          <a:prstGeom prst="line">
            <a:avLst/>
          </a:prstGeom>
          <a:noFill/>
          <a:ln w="9525">
            <a:solidFill>
              <a:srgbClr val="D6D8EA"/>
            </a:solidFill>
            <a:prstDash val="solid"/>
          </a:ln>
        </p:spPr>
      </p:sp>
      <p:sp>
        <p:nvSpPr>
          <p:cNvPr id="10" name="Text 6"/>
          <p:cNvSpPr txBox="1"/>
          <p:nvPr/>
        </p:nvSpPr>
        <p:spPr>
          <a:xfrm>
            <a:off x="5486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la varianza del compromiso entre equipos se asocia con el gerente</a:t>
            </a:r>
            <a:endParaRPr lang="en-US" sz="1400" dirty="0"/>
          </a:p>
        </p:txBody>
      </p:sp>
      <p:sp>
        <p:nvSpPr>
          <p:cNvPr id="11" name="Text 7"/>
          <p:cNvSpPr txBox="1"/>
          <p:nvPr/>
        </p:nvSpPr>
        <p:spPr>
          <a:xfrm>
            <a:off x="5486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State of the American Manager (2015): base de compromiso con millones de empleados, principalmente EE. UU.</a:t>
            </a:r>
            <a:endParaRPr lang="en-US" sz="1050" dirty="0"/>
          </a:p>
        </p:txBody>
      </p:sp>
      <p:sp>
        <p:nvSpPr>
          <p:cNvPr id="12" name="Text 8"/>
          <p:cNvSpPr txBox="1"/>
          <p:nvPr/>
        </p:nvSpPr>
        <p:spPr>
          <a:xfrm>
            <a:off x="3749040" y="1691640"/>
            <a:ext cx="2926080" cy="1234440"/>
          </a:xfrm>
          <a:prstGeom prst="rect">
            <a:avLst/>
          </a:prstGeom>
          <a:noFill/>
          <a:ln/>
        </p:spPr>
        <p:txBody>
          <a:bodyPr wrap="square" lIns="0" tIns="0" rIns="0" bIns="0" rtlCol="0" anchor="b"/>
          <a:lstStyle/>
          <a:p>
            <a:pPr indent="0" marL="0">
              <a:buNone/>
            </a:pPr>
            <a:r>
              <a:rPr lang="en-US" sz="6000" b="1" dirty="0">
                <a:solidFill>
                  <a:srgbClr val="AA0582"/>
                </a:solidFill>
                <a:latin typeface="Century Gothic" pitchFamily="34" charset="0"/>
                <a:ea typeface="Century Gothic" pitchFamily="34" charset="-122"/>
                <a:cs typeface="Century Gothic" pitchFamily="34" charset="-120"/>
              </a:rPr>
              <a:t>22 %</a:t>
            </a:r>
            <a:endParaRPr lang="en-US" sz="6000" dirty="0"/>
          </a:p>
        </p:txBody>
      </p:sp>
      <p:sp>
        <p:nvSpPr>
          <p:cNvPr id="13" name="Shape 9"/>
          <p:cNvSpPr/>
          <p:nvPr/>
        </p:nvSpPr>
        <p:spPr>
          <a:xfrm>
            <a:off x="3749040" y="3063240"/>
            <a:ext cx="2834640" cy="0"/>
          </a:xfrm>
          <a:prstGeom prst="line">
            <a:avLst/>
          </a:prstGeom>
          <a:noFill/>
          <a:ln w="9525">
            <a:solidFill>
              <a:srgbClr val="D6D8EA"/>
            </a:solidFill>
            <a:prstDash val="solid"/>
          </a:ln>
        </p:spPr>
      </p:sp>
      <p:sp>
        <p:nvSpPr>
          <p:cNvPr id="14" name="Text 10"/>
          <p:cNvSpPr txBox="1"/>
          <p:nvPr/>
        </p:nvSpPr>
        <p:spPr>
          <a:xfrm>
            <a:off x="3749040" y="3200400"/>
            <a:ext cx="2834640" cy="11887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de los gerentes en el mundo está comprometido (27 % un año antes)</a:t>
            </a:r>
            <a:endParaRPr lang="en-US" sz="1400" dirty="0"/>
          </a:p>
        </p:txBody>
      </p:sp>
      <p:sp>
        <p:nvSpPr>
          <p:cNvPr id="15" name="Text 11"/>
          <p:cNvSpPr txBox="1"/>
          <p:nvPr/>
        </p:nvSpPr>
        <p:spPr>
          <a:xfrm>
            <a:off x="3749040" y="4434840"/>
            <a:ext cx="2834640" cy="1371600"/>
          </a:xfrm>
          <a:prstGeom prst="rect">
            <a:avLst/>
          </a:prstGeom>
          <a:noFill/>
          <a:ln/>
        </p:spPr>
        <p:txBody>
          <a:bodyPr wrap="square" lIns="0" tIns="0" rIns="0" bIns="0" rtlCol="0" anchor="t"/>
          <a:lstStyle/>
          <a:p>
            <a:pPr indent="0" marL="0">
              <a:buNone/>
            </a:pPr>
            <a:r>
              <a:rPr lang="en-US" sz="1050" dirty="0">
                <a:solidFill>
                  <a:srgbClr val="5A5A6E"/>
                </a:solidFill>
                <a:latin typeface="Century Gothic" pitchFamily="34" charset="0"/>
                <a:ea typeface="Century Gothic" pitchFamily="34" charset="-122"/>
                <a:cs typeface="Century Gothic" pitchFamily="34" charset="-120"/>
              </a:rPr>
              <a:t>Gallup, State of the Global Workplace 2026, datos 2025.</a:t>
            </a:r>
            <a:endParaRPr lang="en-US" sz="1050" dirty="0"/>
          </a:p>
        </p:txBody>
      </p:sp>
      <p:sp>
        <p:nvSpPr>
          <p:cNvPr id="16" name="Shape 12"/>
          <p:cNvSpPr/>
          <p:nvPr/>
        </p:nvSpPr>
        <p:spPr>
          <a:xfrm>
            <a:off x="7132320" y="1600200"/>
            <a:ext cx="4507992" cy="4480560"/>
          </a:xfrm>
          <a:prstGeom prst="roundRect">
            <a:avLst>
              <a:gd name="adj" fmla="val 1633"/>
            </a:avLst>
          </a:prstGeom>
          <a:solidFill>
            <a:srgbClr val="F4F5F9"/>
          </a:solidFill>
          <a:ln/>
        </p:spPr>
      </p:sp>
      <p:sp>
        <p:nvSpPr>
          <p:cNvPr id="17" name="Text 13"/>
          <p:cNvSpPr txBox="1"/>
          <p:nvPr/>
        </p:nvSpPr>
        <p:spPr>
          <a:xfrm>
            <a:off x="7406640" y="1783080"/>
            <a:ext cx="395935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LECTURA PRUDENTE</a:t>
            </a:r>
            <a:endParaRPr lang="en-US" sz="1000" dirty="0"/>
          </a:p>
        </p:txBody>
      </p:sp>
      <p:sp>
        <p:nvSpPr>
          <p:cNvPr id="18" name="Text 14"/>
          <p:cNvSpPr txBox="1"/>
          <p:nvPr/>
        </p:nvSpPr>
        <p:spPr>
          <a:xfrm>
            <a:off x="7406640" y="2167128"/>
            <a:ext cx="3959352" cy="3657600"/>
          </a:xfrm>
          <a:prstGeom prst="rect">
            <a:avLst/>
          </a:prstGeom>
          <a:noFill/>
          <a:ln/>
        </p:spPr>
        <p:txBody>
          <a:bodyPr wrap="square" lIns="0" tIns="0" rIns="0" bIns="0" rtlCol="0" anchor="t"/>
          <a:lstStyle/>
          <a:p>
            <a:pPr indent="0" marL="0">
              <a:buNone/>
            </a:pPr>
            <a:r>
              <a:rPr lang="en-US" sz="1250" dirty="0">
                <a:solidFill>
                  <a:srgbClr val="1A1A2E"/>
                </a:solidFill>
                <a:latin typeface="Century Gothic" pitchFamily="34" charset="0"/>
                <a:ea typeface="Century Gothic" pitchFamily="34" charset="-122"/>
                <a:cs typeface="Century Gothic" pitchFamily="34" charset="-120"/>
              </a:rPr>
              <a:t>El jefe es la variable que más distingue a un equipo de otro en estos datos. No significa que “cause” el 70 %.</a:t>
            </a:r>
            <a:endParaRPr lang="en-US" sz="1250" dirty="0"/>
          </a:p>
          <a:p>
            <a:pPr indent="0" marL="0">
              <a:buNone/>
            </a:pPr>
            <a:endParaRPr lang="en-US" sz="1250" dirty="0"/>
          </a:p>
          <a:p>
            <a:pPr indent="0" marL="0">
              <a:buNone/>
            </a:pPr>
            <a:r>
              <a:rPr lang="en-US" sz="1250" dirty="0">
                <a:solidFill>
                  <a:srgbClr val="1A1A2E"/>
                </a:solidFill>
                <a:latin typeface="Century Gothic" pitchFamily="34" charset="0"/>
                <a:ea typeface="Century Gothic" pitchFamily="34" charset="-122"/>
                <a:cs typeface="Century Gothic" pitchFamily="34" charset="-120"/>
              </a:rPr>
              <a:t>La buena noticia es que casi todo lo que la gente pide —claridad, retroalimentación, desarrollo, cuidado— son conductas del jefe, no políticas corporativas.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04</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4 · PRÁCTICA · ACTOS 7 A 10</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Del espejo a la práctica: una persona real</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41</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Cinco minutos en silencio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42</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¿A quién me resulta más fácil liderar? ¿Qué tiene en común conmigo?</a:t>
            </a:r>
            <a:endParaRPr lang="en-US" sz="145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¿Quién me frustra, o a quién me cuesta leer?</a:t>
            </a:r>
            <a:endParaRPr lang="en-US" sz="145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conductas me detonan?</a:t>
            </a:r>
            <a:endParaRPr lang="en-US" sz="145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supongo sobre esa persona? ¿Cómo lo sé?</a:t>
            </a:r>
            <a:endParaRPr lang="en-US" sz="145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Cuando alguien trabaja distinto a mí, ¿lo interpreto como diferente o como incorrecto?</a:t>
            </a:r>
            <a:endParaRPr lang="en-US" sz="145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6035040" cy="655320"/>
          </a:xfrm>
          <a:prstGeom prst="rect">
            <a:avLst/>
          </a:prstGeom>
          <a:noFill/>
          <a:ln/>
        </p:spPr>
        <p:txBody>
          <a:bodyPr wrap="square" lIns="0" tIns="0" rIns="0" bIns="0" rtlCol="0" anchor="t"/>
          <a:lstStyle/>
          <a:p>
            <a:pPr indent="0" marL="0">
              <a:buNone/>
            </a:pPr>
            <a:r>
              <a:rPr lang="en-US" sz="1450" dirty="0">
                <a:solidFill>
                  <a:srgbClr val="1A1A2E"/>
                </a:solidFill>
                <a:latin typeface="Century Gothic" pitchFamily="34" charset="0"/>
                <a:ea typeface="Century Gothic" pitchFamily="34" charset="-122"/>
                <a:cs typeface="Century Gothic" pitchFamily="34" charset="-120"/>
              </a:rPr>
              <a:t>¿Qué parte de mi forma de liderar se formó en condiciones que hoy cambiaron, y qué parte sigue siendo igual de valiosa?</a:t>
            </a:r>
            <a:endParaRPr lang="en-US" sz="1450" dirty="0"/>
          </a:p>
        </p:txBody>
      </p:sp>
      <p:sp>
        <p:nvSpPr>
          <p:cNvPr id="19" name="Shape 15"/>
          <p:cNvSpPr/>
          <p:nvPr/>
        </p:nvSpPr>
        <p:spPr>
          <a:xfrm>
            <a:off x="7680960" y="1600200"/>
            <a:ext cx="3959352" cy="4480560"/>
          </a:xfrm>
          <a:prstGeom prst="roundRect">
            <a:avLst>
              <a:gd name="adj" fmla="val 1848"/>
            </a:avLst>
          </a:prstGeom>
          <a:solidFill>
            <a:srgbClr val="F4F5F9"/>
          </a:solidFill>
          <a:ln/>
        </p:spPr>
      </p:sp>
      <p:sp>
        <p:nvSpPr>
          <p:cNvPr id="20" name="Text 16"/>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INSTRUCCIÓN</a:t>
            </a:r>
            <a:endParaRPr lang="en-US" sz="1000" dirty="0"/>
          </a:p>
        </p:txBody>
      </p:sp>
      <p:sp>
        <p:nvSpPr>
          <p:cNvPr id="21" name="Text 17"/>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Nadie va a leer lo que escriban.</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Cuando piensen en personas concretas, escriban solo iniciales.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elijan a “mi persona”: la llevaremos al resto de la sesión.</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07 · EL ESPEJO DEL LÍDER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El que escucha tiene el trabajo más difícil: no ayudar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43</a:t>
            </a:r>
            <a:endParaRPr lang="en-US" sz="750" dirty="0"/>
          </a:p>
        </p:txBody>
      </p:sp>
      <p:sp>
        <p:nvSpPr>
          <p:cNvPr id="7" name="Text 3"/>
          <p:cNvSpPr txBox="1"/>
          <p:nvPr/>
        </p:nvSpPr>
        <p:spPr>
          <a:xfrm>
            <a:off x="54864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8" name="Text 4"/>
          <p:cNvSpPr txBox="1"/>
          <p:nvPr/>
        </p:nvSpPr>
        <p:spPr>
          <a:xfrm>
            <a:off x="54864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A</a:t>
            </a:r>
            <a:endParaRPr lang="en-US" sz="1600" dirty="0"/>
          </a:p>
        </p:txBody>
      </p:sp>
      <p:sp>
        <p:nvSpPr>
          <p:cNvPr id="9" name="Text 5"/>
          <p:cNvSpPr txBox="1"/>
          <p:nvPr/>
        </p:nvSpPr>
        <p:spPr>
          <a:xfrm>
            <a:off x="54864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Comparte solo lo que quiera. Sugerencia: empezar por la pregunta 5 o 6.</a:t>
            </a:r>
            <a:endParaRPr lang="en-US" sz="1200" dirty="0"/>
          </a:p>
        </p:txBody>
      </p:sp>
      <p:sp>
        <p:nvSpPr>
          <p:cNvPr id="10" name="Text 6"/>
          <p:cNvSpPr txBox="1"/>
          <p:nvPr/>
        </p:nvSpPr>
        <p:spPr>
          <a:xfrm>
            <a:off x="429768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2 min</a:t>
            </a:r>
            <a:endParaRPr lang="en-US" sz="3600" dirty="0"/>
          </a:p>
        </p:txBody>
      </p:sp>
      <p:sp>
        <p:nvSpPr>
          <p:cNvPr id="11" name="Text 7"/>
          <p:cNvSpPr txBox="1"/>
          <p:nvPr/>
        </p:nvSpPr>
        <p:spPr>
          <a:xfrm>
            <a:off x="429768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Habla B</a:t>
            </a:r>
            <a:endParaRPr lang="en-US" sz="1600" dirty="0"/>
          </a:p>
        </p:txBody>
      </p:sp>
      <p:sp>
        <p:nvSpPr>
          <p:cNvPr id="12" name="Text 8"/>
          <p:cNvSpPr txBox="1"/>
          <p:nvPr/>
        </p:nvSpPr>
        <p:spPr>
          <a:xfrm>
            <a:off x="429768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Se invierten los papeles.</a:t>
            </a:r>
            <a:endParaRPr lang="en-US" sz="1200" dirty="0"/>
          </a:p>
        </p:txBody>
      </p:sp>
      <p:sp>
        <p:nvSpPr>
          <p:cNvPr id="13" name="Text 9"/>
          <p:cNvSpPr txBox="1"/>
          <p:nvPr/>
        </p:nvSpPr>
        <p:spPr>
          <a:xfrm>
            <a:off x="8046720" y="1691640"/>
            <a:ext cx="3474720" cy="731520"/>
          </a:xfrm>
          <a:prstGeom prst="rect">
            <a:avLst/>
          </a:prstGeom>
          <a:noFill/>
          <a:ln/>
        </p:spPr>
        <p:txBody>
          <a:bodyPr wrap="square" lIns="0" tIns="0" rIns="0" bIns="0" rtlCol="0" anchor="t"/>
          <a:lstStyle/>
          <a:p>
            <a:pPr indent="0" marL="0">
              <a:buNone/>
            </a:pPr>
            <a:r>
              <a:rPr lang="en-US" sz="3600" b="1" dirty="0">
                <a:solidFill>
                  <a:srgbClr val="FA4642"/>
                </a:solidFill>
                <a:latin typeface="Century Gothic" pitchFamily="34" charset="0"/>
                <a:ea typeface="Century Gothic" pitchFamily="34" charset="-122"/>
                <a:cs typeface="Century Gothic" pitchFamily="34" charset="-120"/>
              </a:rPr>
              <a:t>1 min</a:t>
            </a:r>
            <a:endParaRPr lang="en-US" sz="3600" dirty="0"/>
          </a:p>
        </p:txBody>
      </p:sp>
      <p:sp>
        <p:nvSpPr>
          <p:cNvPr id="14" name="Text 10"/>
          <p:cNvSpPr txBox="1"/>
          <p:nvPr/>
        </p:nvSpPr>
        <p:spPr>
          <a:xfrm>
            <a:off x="8046720" y="2468880"/>
            <a:ext cx="3474720" cy="411480"/>
          </a:xfrm>
          <a:prstGeom prst="rect">
            <a:avLst/>
          </a:prstGeom>
          <a:noFill/>
          <a:ln/>
        </p:spPr>
        <p:txBody>
          <a:bodyPr wrap="square" lIns="0" tIns="0" rIns="0" bIns="0" rtlCol="0" anchor="t"/>
          <a:lstStyle/>
          <a:p>
            <a:pPr indent="0" marL="0">
              <a:buNone/>
            </a:pPr>
            <a:r>
              <a:rPr lang="en-US" sz="1600" b="1" dirty="0">
                <a:solidFill>
                  <a:srgbClr val="1A1A2E"/>
                </a:solidFill>
                <a:latin typeface="Century Gothic" pitchFamily="34" charset="0"/>
                <a:ea typeface="Century Gothic" pitchFamily="34" charset="-122"/>
                <a:cs typeface="Century Gothic" pitchFamily="34" charset="-120"/>
              </a:rPr>
              <a:t>Lo que te escuché decir es…</a:t>
            </a:r>
            <a:endParaRPr lang="en-US" sz="1600" dirty="0"/>
          </a:p>
        </p:txBody>
      </p:sp>
      <p:sp>
        <p:nvSpPr>
          <p:cNvPr id="15" name="Text 11"/>
          <p:cNvSpPr txBox="1"/>
          <p:nvPr/>
        </p:nvSpPr>
        <p:spPr>
          <a:xfrm>
            <a:off x="8046720" y="2926080"/>
            <a:ext cx="3474720" cy="731520"/>
          </a:xfrm>
          <a:prstGeom prst="rect">
            <a:avLst/>
          </a:prstGeom>
          <a:noFill/>
          <a:ln/>
        </p:spPr>
        <p:txBody>
          <a:bodyPr wrap="square" lIns="0" tIns="0" rIns="0" bIns="0" rtlCol="0" anchor="t"/>
          <a:lstStyle/>
          <a:p>
            <a:pPr indent="0" marL="0">
              <a:buNone/>
            </a:pPr>
            <a:r>
              <a:rPr lang="en-US" sz="1200" dirty="0">
                <a:solidFill>
                  <a:srgbClr val="5A5A6E"/>
                </a:solidFill>
                <a:latin typeface="Century Gothic" pitchFamily="34" charset="0"/>
                <a:ea typeface="Century Gothic" pitchFamily="34" charset="-122"/>
                <a:cs typeface="Century Gothic" pitchFamily="34" charset="-120"/>
              </a:rPr>
              <a:t>Una frase cada uno.</a:t>
            </a:r>
            <a:endParaRPr lang="en-US" sz="1200" dirty="0"/>
          </a:p>
        </p:txBody>
      </p:sp>
      <p:sp>
        <p:nvSpPr>
          <p:cNvPr id="16" name="Shape 12"/>
          <p:cNvSpPr/>
          <p:nvPr/>
        </p:nvSpPr>
        <p:spPr>
          <a:xfrm>
            <a:off x="548640" y="3931920"/>
            <a:ext cx="11091672" cy="2057400"/>
          </a:xfrm>
          <a:prstGeom prst="roundRect">
            <a:avLst>
              <a:gd name="adj" fmla="val 3556"/>
            </a:avLst>
          </a:prstGeom>
          <a:solidFill>
            <a:srgbClr val="F4F5F9"/>
          </a:solidFill>
          <a:ln/>
        </p:spPr>
      </p:sp>
      <p:sp>
        <p:nvSpPr>
          <p:cNvPr id="17" name="Text 13"/>
          <p:cNvSpPr txBox="1"/>
          <p:nvPr/>
        </p:nvSpPr>
        <p:spPr>
          <a:xfrm>
            <a:off x="822960" y="4114800"/>
            <a:ext cx="1054303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QUIEN ESCUCHA NO…</a:t>
            </a:r>
            <a:endParaRPr lang="en-US" sz="1000" dirty="0"/>
          </a:p>
        </p:txBody>
      </p:sp>
      <p:sp>
        <p:nvSpPr>
          <p:cNvPr id="18" name="Text 14"/>
          <p:cNvSpPr txBox="1"/>
          <p:nvPr/>
        </p:nvSpPr>
        <p:spPr>
          <a:xfrm>
            <a:off x="822960" y="4498848"/>
            <a:ext cx="10515600" cy="822960"/>
          </a:xfrm>
          <a:prstGeom prst="rect">
            <a:avLst/>
          </a:prstGeom>
          <a:noFill/>
          <a:ln/>
        </p:spPr>
        <p:txBody>
          <a:bodyPr wrap="square" lIns="0" tIns="0" rIns="0" bIns="0" rtlCol="0" anchor="t"/>
          <a:lstStyle/>
          <a:p>
            <a:pPr indent="0" marL="0">
              <a:buNone/>
            </a:pPr>
            <a:r>
              <a:rPr lang="en-US" sz="1500" b="1" dirty="0">
                <a:solidFill>
                  <a:srgbClr val="1A1A2E"/>
                </a:solidFill>
                <a:latin typeface="Century Gothic" pitchFamily="34" charset="0"/>
                <a:ea typeface="Century Gothic" pitchFamily="34" charset="-122"/>
                <a:cs typeface="Century Gothic" pitchFamily="34" charset="-120"/>
              </a:rPr>
              <a:t>da consejos  ·  evalúa ni tranquiliza  ·  cuenta su propia historia  ·  lleva al otro a una conclusión  ·  repite fuera lo que escuchó</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casos de planta. Respondan como lo harían hoy</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44</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Lectura individual del caso de su mesa. Subrayen la frase que más les hizo ruido.</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En mesa, respondan las seis preguntas en la hoja A3. Escribe alguien que no sea el de mayor rango.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Galería: lean dos hojas de otras mesas. Punto en la respuesta que sí usarían; “?” en el supuesto que cuestionarían.</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26</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Un caso por mesa · hoja A3</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A · Quince meses y ya quiere la jefatura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B · Una tableta para saber cómo suena un motor</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C · Siempre se ha hecho así</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D · Después de las siete, no</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E · Ya nadie me pregunta nada</a:t>
            </a: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F · Quiero ver más, y pronto</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Una sola respuesta de liderazgo por mesa. “Depende” no vale sin decir de qué.</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Seis preguntas para cada caso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45</a:t>
            </a:r>
            <a:endParaRPr lang="en-US" sz="750" dirty="0"/>
          </a:p>
        </p:txBody>
      </p:sp>
      <p:sp>
        <p:nvSpPr>
          <p:cNvPr id="7" name="Text 3"/>
          <p:cNvSpPr txBox="1"/>
          <p:nvPr/>
        </p:nvSpPr>
        <p:spPr>
          <a:xfrm>
            <a:off x="548640" y="16459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¿Cuál es nuestra primera reacción? Tal como salió.</a:t>
            </a:r>
            <a:endParaRPr lang="en-US" sz="1600" dirty="0"/>
          </a:p>
        </p:txBody>
      </p:sp>
      <p:sp>
        <p:nvSpPr>
          <p:cNvPr id="9" name="Text 5"/>
          <p:cNvSpPr txBox="1"/>
          <p:nvPr/>
        </p:nvSpPr>
        <p:spPr>
          <a:xfrm>
            <a:off x="548640" y="234696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4696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estamos suponiendo que no sabemos con certeza?</a:t>
            </a:r>
            <a:endParaRPr lang="en-US" sz="1600" dirty="0"/>
          </a:p>
        </p:txBody>
      </p:sp>
      <p:sp>
        <p:nvSpPr>
          <p:cNvPr id="11" name="Text 7"/>
          <p:cNvSpPr txBox="1"/>
          <p:nvPr/>
        </p:nvSpPr>
        <p:spPr>
          <a:xfrm>
            <a:off x="548640" y="304800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4800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podría necesitar la persona? No lo que pide: lo que hay detrás.</a:t>
            </a:r>
            <a:endParaRPr lang="en-US" sz="1600" dirty="0"/>
          </a:p>
        </p:txBody>
      </p:sp>
      <p:sp>
        <p:nvSpPr>
          <p:cNvPr id="13" name="Text 9"/>
          <p:cNvSpPr txBox="1"/>
          <p:nvPr/>
        </p:nvSpPr>
        <p:spPr>
          <a:xfrm>
            <a:off x="548640" y="374904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4904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resultado de negocio está en juego?</a:t>
            </a:r>
            <a:endParaRPr lang="en-US" sz="1600" dirty="0"/>
          </a:p>
        </p:txBody>
      </p:sp>
      <p:sp>
        <p:nvSpPr>
          <p:cNvPr id="15" name="Text 11"/>
          <p:cNvSpPr txBox="1"/>
          <p:nvPr/>
        </p:nvSpPr>
        <p:spPr>
          <a:xfrm>
            <a:off x="548640" y="445008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05</a:t>
            </a:r>
            <a:endParaRPr lang="en-US" sz="1600" dirty="0"/>
          </a:p>
        </p:txBody>
      </p:sp>
      <p:sp>
        <p:nvSpPr>
          <p:cNvPr id="16" name="Text 12"/>
          <p:cNvSpPr txBox="1"/>
          <p:nvPr/>
        </p:nvSpPr>
        <p:spPr>
          <a:xfrm>
            <a:off x="1234440" y="445008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respuesta de liderazgo usaríamos? El primer paso concreto.</a:t>
            </a:r>
            <a:endParaRPr lang="en-US" sz="1600" dirty="0"/>
          </a:p>
        </p:txBody>
      </p:sp>
      <p:sp>
        <p:nvSpPr>
          <p:cNvPr id="17" name="Text 13"/>
          <p:cNvSpPr txBox="1"/>
          <p:nvPr/>
        </p:nvSpPr>
        <p:spPr>
          <a:xfrm>
            <a:off x="548640" y="5151120"/>
            <a:ext cx="640080" cy="655320"/>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06</a:t>
            </a:r>
            <a:endParaRPr lang="en-US" sz="1600" dirty="0"/>
          </a:p>
        </p:txBody>
      </p:sp>
      <p:sp>
        <p:nvSpPr>
          <p:cNvPr id="18" name="Text 14"/>
          <p:cNvSpPr txBox="1"/>
          <p:nvPr/>
        </p:nvSpPr>
        <p:spPr>
          <a:xfrm>
            <a:off x="1234440" y="5151120"/>
            <a:ext cx="10241280" cy="655320"/>
          </a:xfrm>
          <a:prstGeom prst="rect">
            <a:avLst/>
          </a:prstGeom>
          <a:noFill/>
          <a:ln/>
        </p:spPr>
        <p:txBody>
          <a:bodyPr wrap="square" lIns="0" tIns="0" rIns="0" bIns="0" rtlCol="0" anchor="t"/>
          <a:lstStyle/>
          <a:p>
            <a:pPr indent="0" marL="0">
              <a:buNone/>
            </a:pPr>
            <a:r>
              <a:rPr lang="en-US" sz="1600" dirty="0">
                <a:solidFill>
                  <a:srgbClr val="1A1A2E"/>
                </a:solidFill>
                <a:latin typeface="Century Gothic" pitchFamily="34" charset="0"/>
                <a:ea typeface="Century Gothic" pitchFamily="34" charset="-122"/>
                <a:cs typeface="Century Gothic" pitchFamily="34" charset="-120"/>
              </a:rPr>
              <a:t>¿Qué NO vamos a negociar?</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08 · LABORATORIO DE COLISIONES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Miremos la pared, no a las personas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46</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¿Qué patrón ven en las primeras reacciones?</a:t>
            </a:r>
            <a:endParaRPr lang="en-US" sz="20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¿En qué casos cambió la respuesta cuando la mesa escribió sus supuestos?</a:t>
            </a:r>
            <a:endParaRPr lang="en-US" sz="20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2000" dirty="0">
                <a:solidFill>
                  <a:srgbClr val="1A1A2E"/>
                </a:solidFill>
                <a:latin typeface="Century Gothic" pitchFamily="34" charset="0"/>
                <a:ea typeface="Century Gothic" pitchFamily="34" charset="-122"/>
                <a:cs typeface="Century Gothic" pitchFamily="34" charset="-120"/>
              </a:rPr>
              <a:t>Miren las respuestas a la pregunta 6: ¿en qué caso estuvimos más cerca de ceder algo que no se negocia, y qué nos llevó ahí?</a:t>
            </a:r>
            <a:endParaRPr lang="en-US" sz="2000" dirty="0"/>
          </a:p>
        </p:txBody>
      </p:sp>
      <p:sp>
        <p:nvSpPr>
          <p:cNvPr id="13" name="Shape 9"/>
          <p:cNvSpPr/>
          <p:nvPr/>
        </p:nvSpPr>
        <p:spPr>
          <a:xfrm>
            <a:off x="7680960" y="1600200"/>
            <a:ext cx="3959352" cy="4480560"/>
          </a:xfrm>
          <a:prstGeom prst="roundRect">
            <a:avLst>
              <a:gd name="adj" fmla="val 1848"/>
            </a:avLst>
          </a:prstGeom>
          <a:solidFill>
            <a:srgbClr val="F4F5F9"/>
          </a:solidFill>
          <a:ln/>
        </p:spPr>
      </p:sp>
      <p:sp>
        <p:nvSpPr>
          <p:cNvPr id="14" name="Text 10"/>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5" name="Text 11"/>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Galería: 4 minutos.</a:t>
            </a: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Plenaria: 5 minutos.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Punto adhesivo: la respuesta que yo sí usaría.</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 el supuesto que yo cuestionaría.</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De la respuesta rígida a la respuesta adaptable</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47</a:t>
            </a:r>
            <a:endParaRPr lang="en-US" sz="750" dirty="0"/>
          </a:p>
        </p:txBody>
      </p:sp>
      <p:sp>
        <p:nvSpPr>
          <p:cNvPr id="7" name="Shape 3"/>
          <p:cNvSpPr/>
          <p:nvPr/>
        </p:nvSpPr>
        <p:spPr>
          <a:xfrm>
            <a:off x="548640" y="1600200"/>
            <a:ext cx="5257800" cy="4069080"/>
          </a:xfrm>
          <a:prstGeom prst="roundRect">
            <a:avLst>
              <a:gd name="adj" fmla="val 1798"/>
            </a:avLst>
          </a:prstGeom>
          <a:solidFill>
            <a:srgbClr val="F4F5F9"/>
          </a:solidFill>
          <a:ln/>
        </p:spPr>
      </p:sp>
      <p:sp>
        <p:nvSpPr>
          <p:cNvPr id="8" name="Text 4"/>
          <p:cNvSpPr txBox="1"/>
          <p:nvPr/>
        </p:nvSpPr>
        <p:spPr>
          <a:xfrm>
            <a:off x="868680" y="1810512"/>
            <a:ext cx="46177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RESPUESTA RÍGIDA</a:t>
            </a:r>
            <a:endParaRPr lang="en-US" sz="1000" dirty="0"/>
          </a:p>
        </p:txBody>
      </p:sp>
      <p:sp>
        <p:nvSpPr>
          <p:cNvPr id="9" name="Text 5"/>
          <p:cNvSpPr txBox="1"/>
          <p:nvPr/>
        </p:nvSpPr>
        <p:spPr>
          <a:xfrm>
            <a:off x="868680" y="2103120"/>
            <a:ext cx="4617720" cy="457200"/>
          </a:xfrm>
          <a:prstGeom prst="rect">
            <a:avLst/>
          </a:prstGeom>
          <a:noFill/>
          <a:ln/>
        </p:spPr>
        <p:txBody>
          <a:bodyPr wrap="square" lIns="0" tIns="0" rIns="0" bIns="0" rtlCol="0" anchor="t"/>
          <a:lstStyle/>
          <a:p>
            <a:pPr indent="0" marL="0">
              <a:buNone/>
            </a:pPr>
            <a:r>
              <a:rPr lang="en-US" sz="1700" b="1" dirty="0">
                <a:solidFill>
                  <a:srgbClr val="1A1A2E"/>
                </a:solidFill>
                <a:latin typeface="Century Gothic" pitchFamily="34" charset="0"/>
                <a:ea typeface="Century Gothic" pitchFamily="34" charset="-122"/>
                <a:cs typeface="Century Gothic" pitchFamily="34" charset="-120"/>
              </a:rPr>
              <a:t>Una misma respuesta para todos</a:t>
            </a:r>
            <a:endParaRPr lang="en-US" sz="1700" dirty="0"/>
          </a:p>
        </p:txBody>
      </p:sp>
      <p:sp>
        <p:nvSpPr>
          <p:cNvPr id="10" name="Shape 6"/>
          <p:cNvSpPr/>
          <p:nvPr/>
        </p:nvSpPr>
        <p:spPr>
          <a:xfrm>
            <a:off x="896112" y="2871216"/>
            <a:ext cx="82296" cy="82296"/>
          </a:xfrm>
          <a:prstGeom prst="rect">
            <a:avLst/>
          </a:prstGeom>
          <a:solidFill>
            <a:srgbClr val="FA4642"/>
          </a:solidFill>
          <a:ln/>
        </p:spPr>
      </p:sp>
      <p:sp>
        <p:nvSpPr>
          <p:cNvPr id="11" name="Text 7"/>
          <p:cNvSpPr txBox="1"/>
          <p:nvPr/>
        </p:nvSpPr>
        <p:spPr>
          <a:xfrm>
            <a:off x="1143000" y="2743200"/>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Interpreta lo distinto como incorrecto</a:t>
            </a:r>
            <a:endParaRPr lang="en-US" sz="1350" dirty="0"/>
          </a:p>
        </p:txBody>
      </p:sp>
      <p:sp>
        <p:nvSpPr>
          <p:cNvPr id="12" name="Shape 8"/>
          <p:cNvSpPr/>
          <p:nvPr/>
        </p:nvSpPr>
        <p:spPr>
          <a:xfrm>
            <a:off x="896112" y="3401568"/>
            <a:ext cx="82296" cy="82296"/>
          </a:xfrm>
          <a:prstGeom prst="rect">
            <a:avLst/>
          </a:prstGeom>
          <a:solidFill>
            <a:srgbClr val="FA4642"/>
          </a:solidFill>
          <a:ln/>
        </p:spPr>
      </p:sp>
      <p:sp>
        <p:nvSpPr>
          <p:cNvPr id="13" name="Text 9"/>
          <p:cNvSpPr txBox="1"/>
          <p:nvPr/>
        </p:nvSpPr>
        <p:spPr>
          <a:xfrm>
            <a:off x="1143000" y="3273552"/>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Decide antes de preguntar</a:t>
            </a:r>
            <a:endParaRPr lang="en-US" sz="1350" dirty="0"/>
          </a:p>
        </p:txBody>
      </p:sp>
      <p:sp>
        <p:nvSpPr>
          <p:cNvPr id="14" name="Shape 10"/>
          <p:cNvSpPr/>
          <p:nvPr/>
        </p:nvSpPr>
        <p:spPr>
          <a:xfrm>
            <a:off x="896112" y="3931920"/>
            <a:ext cx="82296" cy="82296"/>
          </a:xfrm>
          <a:prstGeom prst="rect">
            <a:avLst/>
          </a:prstGeom>
          <a:solidFill>
            <a:srgbClr val="FA4642"/>
          </a:solidFill>
          <a:ln/>
        </p:spPr>
      </p:sp>
      <p:sp>
        <p:nvSpPr>
          <p:cNvPr id="15" name="Text 11"/>
          <p:cNvSpPr txBox="1"/>
          <p:nvPr/>
        </p:nvSpPr>
        <p:spPr>
          <a:xfrm>
            <a:off x="1143000" y="3803904"/>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Confunde la costumbre con el estándar</a:t>
            </a:r>
            <a:endParaRPr lang="en-US" sz="1350" dirty="0"/>
          </a:p>
        </p:txBody>
      </p:sp>
      <p:sp>
        <p:nvSpPr>
          <p:cNvPr id="16" name="Shape 12"/>
          <p:cNvSpPr/>
          <p:nvPr/>
        </p:nvSpPr>
        <p:spPr>
          <a:xfrm>
            <a:off x="896112" y="4462272"/>
            <a:ext cx="82296" cy="82296"/>
          </a:xfrm>
          <a:prstGeom prst="rect">
            <a:avLst/>
          </a:prstGeom>
          <a:solidFill>
            <a:srgbClr val="FA4642"/>
          </a:solidFill>
          <a:ln/>
        </p:spPr>
      </p:sp>
      <p:sp>
        <p:nvSpPr>
          <p:cNvPr id="17" name="Text 13"/>
          <p:cNvSpPr txBox="1"/>
          <p:nvPr/>
        </p:nvSpPr>
        <p:spPr>
          <a:xfrm>
            <a:off x="1143000" y="4334256"/>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Mide el compromiso por disponibilidad</a:t>
            </a:r>
            <a:endParaRPr lang="en-US" sz="1350" dirty="0"/>
          </a:p>
        </p:txBody>
      </p:sp>
      <p:sp>
        <p:nvSpPr>
          <p:cNvPr id="18" name="Shape 14"/>
          <p:cNvSpPr/>
          <p:nvPr/>
        </p:nvSpPr>
        <p:spPr>
          <a:xfrm>
            <a:off x="896112" y="4992624"/>
            <a:ext cx="82296" cy="82296"/>
          </a:xfrm>
          <a:prstGeom prst="rect">
            <a:avLst/>
          </a:prstGeom>
          <a:solidFill>
            <a:srgbClr val="FA4642"/>
          </a:solidFill>
          <a:ln/>
        </p:spPr>
      </p:sp>
      <p:sp>
        <p:nvSpPr>
          <p:cNvPr id="19" name="Text 15"/>
          <p:cNvSpPr txBox="1"/>
          <p:nvPr/>
        </p:nvSpPr>
        <p:spPr>
          <a:xfrm>
            <a:off x="1143000" y="4864608"/>
            <a:ext cx="4343400" cy="347472"/>
          </a:xfrm>
          <a:prstGeom prst="rect">
            <a:avLst/>
          </a:prstGeom>
          <a:noFill/>
          <a:ln/>
        </p:spPr>
        <p:txBody>
          <a:bodyPr wrap="square" lIns="0" tIns="0" rIns="0" bIns="0" rtlCol="0" anchor="ctr"/>
          <a:lstStyle/>
          <a:p>
            <a:pPr indent="0" marL="0">
              <a:buNone/>
            </a:pPr>
            <a:r>
              <a:rPr lang="en-US" sz="1350" dirty="0">
                <a:solidFill>
                  <a:srgbClr val="1A1A2E"/>
                </a:solidFill>
                <a:latin typeface="Century Gothic" pitchFamily="34" charset="0"/>
                <a:ea typeface="Century Gothic" pitchFamily="34" charset="-122"/>
                <a:cs typeface="Century Gothic" pitchFamily="34" charset="-120"/>
              </a:rPr>
              <a:t>Espera lealtad sin revisar el trato</a:t>
            </a:r>
            <a:endParaRPr lang="en-US" sz="1350" dirty="0"/>
          </a:p>
        </p:txBody>
      </p:sp>
      <p:sp>
        <p:nvSpPr>
          <p:cNvPr id="20" name="Shape 16"/>
          <p:cNvSpPr/>
          <p:nvPr/>
        </p:nvSpPr>
        <p:spPr>
          <a:xfrm>
            <a:off x="6355080" y="1600200"/>
            <a:ext cx="5257800" cy="4069080"/>
          </a:xfrm>
          <a:prstGeom prst="roundRect">
            <a:avLst>
              <a:gd name="adj" fmla="val 1798"/>
            </a:avLst>
          </a:prstGeom>
          <a:solidFill>
            <a:srgbClr val="1A1A2E"/>
          </a:solidFill>
          <a:ln/>
        </p:spPr>
      </p:sp>
      <p:sp>
        <p:nvSpPr>
          <p:cNvPr id="21" name="Text 17"/>
          <p:cNvSpPr txBox="1"/>
          <p:nvPr/>
        </p:nvSpPr>
        <p:spPr>
          <a:xfrm>
            <a:off x="6675120" y="1810512"/>
            <a:ext cx="46177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RESPUESTA ADAPTABLE</a:t>
            </a:r>
            <a:endParaRPr lang="en-US" sz="1000" dirty="0"/>
          </a:p>
        </p:txBody>
      </p:sp>
      <p:sp>
        <p:nvSpPr>
          <p:cNvPr id="22" name="Text 18"/>
          <p:cNvSpPr txBox="1"/>
          <p:nvPr/>
        </p:nvSpPr>
        <p:spPr>
          <a:xfrm>
            <a:off x="6675120" y="2103120"/>
            <a:ext cx="4617720" cy="457200"/>
          </a:xfrm>
          <a:prstGeom prst="rect">
            <a:avLst/>
          </a:prstGeom>
          <a:noFill/>
          <a:ln/>
        </p:spPr>
        <p:txBody>
          <a:bodyPr wrap="square" lIns="0" tIns="0" rIns="0" bIns="0" rtlCol="0" anchor="t"/>
          <a:lstStyle/>
          <a:p>
            <a:pPr indent="0" marL="0">
              <a:buNone/>
            </a:pPr>
            <a:r>
              <a:rPr lang="en-US" sz="1700" b="1" dirty="0">
                <a:solidFill>
                  <a:srgbClr val="FFFFFF"/>
                </a:solidFill>
                <a:latin typeface="Century Gothic" pitchFamily="34" charset="0"/>
                <a:ea typeface="Century Gothic" pitchFamily="34" charset="-122"/>
                <a:cs typeface="Century Gothic" pitchFamily="34" charset="-120"/>
              </a:rPr>
              <a:t>Rango para leer a cada persona</a:t>
            </a:r>
            <a:endParaRPr lang="en-US" sz="1700" dirty="0"/>
          </a:p>
        </p:txBody>
      </p:sp>
      <p:sp>
        <p:nvSpPr>
          <p:cNvPr id="23" name="Shape 19"/>
          <p:cNvSpPr/>
          <p:nvPr/>
        </p:nvSpPr>
        <p:spPr>
          <a:xfrm>
            <a:off x="6702552" y="2871216"/>
            <a:ext cx="82296" cy="82296"/>
          </a:xfrm>
          <a:prstGeom prst="rect">
            <a:avLst/>
          </a:prstGeom>
          <a:solidFill>
            <a:srgbClr val="FF8C47"/>
          </a:solidFill>
          <a:ln/>
        </p:spPr>
      </p:sp>
      <p:sp>
        <p:nvSpPr>
          <p:cNvPr id="24" name="Text 20"/>
          <p:cNvSpPr txBox="1"/>
          <p:nvPr/>
        </p:nvSpPr>
        <p:spPr>
          <a:xfrm>
            <a:off x="6949440" y="2743200"/>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Distingue lo distinto de lo incorrecto</a:t>
            </a:r>
            <a:endParaRPr lang="en-US" sz="1350" dirty="0"/>
          </a:p>
        </p:txBody>
      </p:sp>
      <p:sp>
        <p:nvSpPr>
          <p:cNvPr id="25" name="Shape 21"/>
          <p:cNvSpPr/>
          <p:nvPr/>
        </p:nvSpPr>
        <p:spPr>
          <a:xfrm>
            <a:off x="6702552" y="3401568"/>
            <a:ext cx="82296" cy="82296"/>
          </a:xfrm>
          <a:prstGeom prst="rect">
            <a:avLst/>
          </a:prstGeom>
          <a:solidFill>
            <a:srgbClr val="FF8C47"/>
          </a:solidFill>
          <a:ln/>
        </p:spPr>
      </p:sp>
      <p:sp>
        <p:nvSpPr>
          <p:cNvPr id="26" name="Text 22"/>
          <p:cNvSpPr txBox="1"/>
          <p:nvPr/>
        </p:nvSpPr>
        <p:spPr>
          <a:xfrm>
            <a:off x="6949440" y="3273552"/>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Pregunta antes de concluir</a:t>
            </a:r>
            <a:endParaRPr lang="en-US" sz="1350" dirty="0"/>
          </a:p>
        </p:txBody>
      </p:sp>
      <p:sp>
        <p:nvSpPr>
          <p:cNvPr id="27" name="Shape 23"/>
          <p:cNvSpPr/>
          <p:nvPr/>
        </p:nvSpPr>
        <p:spPr>
          <a:xfrm>
            <a:off x="6702552" y="3931920"/>
            <a:ext cx="82296" cy="82296"/>
          </a:xfrm>
          <a:prstGeom prst="rect">
            <a:avLst/>
          </a:prstGeom>
          <a:solidFill>
            <a:srgbClr val="FF8C47"/>
          </a:solidFill>
          <a:ln/>
        </p:spPr>
      </p:sp>
      <p:sp>
        <p:nvSpPr>
          <p:cNvPr id="28" name="Text 24"/>
          <p:cNvSpPr txBox="1"/>
          <p:nvPr/>
        </p:nvSpPr>
        <p:spPr>
          <a:xfrm>
            <a:off x="6949440" y="3803904"/>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Separa costumbre de estándar, y lo sostiene</a:t>
            </a:r>
            <a:endParaRPr lang="en-US" sz="1350" dirty="0"/>
          </a:p>
        </p:txBody>
      </p:sp>
      <p:sp>
        <p:nvSpPr>
          <p:cNvPr id="29" name="Shape 25"/>
          <p:cNvSpPr/>
          <p:nvPr/>
        </p:nvSpPr>
        <p:spPr>
          <a:xfrm>
            <a:off x="6702552" y="4462272"/>
            <a:ext cx="82296" cy="82296"/>
          </a:xfrm>
          <a:prstGeom prst="rect">
            <a:avLst/>
          </a:prstGeom>
          <a:solidFill>
            <a:srgbClr val="FF8C47"/>
          </a:solidFill>
          <a:ln/>
        </p:spPr>
      </p:sp>
      <p:sp>
        <p:nvSpPr>
          <p:cNvPr id="30" name="Text 26"/>
          <p:cNvSpPr txBox="1"/>
          <p:nvPr/>
        </p:nvSpPr>
        <p:spPr>
          <a:xfrm>
            <a:off x="6949440" y="4334256"/>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Mide por resultados acordados</a:t>
            </a:r>
            <a:endParaRPr lang="en-US" sz="1350" dirty="0"/>
          </a:p>
        </p:txBody>
      </p:sp>
      <p:sp>
        <p:nvSpPr>
          <p:cNvPr id="31" name="Shape 27"/>
          <p:cNvSpPr/>
          <p:nvPr/>
        </p:nvSpPr>
        <p:spPr>
          <a:xfrm>
            <a:off x="6702552" y="4992624"/>
            <a:ext cx="82296" cy="82296"/>
          </a:xfrm>
          <a:prstGeom prst="rect">
            <a:avLst/>
          </a:prstGeom>
          <a:solidFill>
            <a:srgbClr val="FF8C47"/>
          </a:solidFill>
          <a:ln/>
        </p:spPr>
      </p:sp>
      <p:sp>
        <p:nvSpPr>
          <p:cNvPr id="32" name="Text 28"/>
          <p:cNvSpPr txBox="1"/>
          <p:nvPr/>
        </p:nvSpPr>
        <p:spPr>
          <a:xfrm>
            <a:off x="6949440" y="4864608"/>
            <a:ext cx="4343400" cy="347472"/>
          </a:xfrm>
          <a:prstGeom prst="rect">
            <a:avLst/>
          </a:prstGeom>
          <a:noFill/>
          <a:ln/>
        </p:spPr>
        <p:txBody>
          <a:bodyPr wrap="square" lIns="0" tIns="0" rIns="0" bIns="0" rtlCol="0" anchor="ctr"/>
          <a:lstStyle/>
          <a:p>
            <a:pPr indent="0" marL="0">
              <a:buNone/>
            </a:pPr>
            <a:r>
              <a:rPr lang="en-US" sz="1350" dirty="0">
                <a:solidFill>
                  <a:srgbClr val="FFFFFF"/>
                </a:solidFill>
                <a:latin typeface="Century Gothic" pitchFamily="34" charset="0"/>
                <a:ea typeface="Century Gothic" pitchFamily="34" charset="-122"/>
                <a:cs typeface="Century Gothic" pitchFamily="34" charset="-120"/>
              </a:rPr>
              <a:t>Revisa qué ofrece para merecer lealtad</a:t>
            </a:r>
            <a:endParaRPr lang="en-US" sz="1350" dirty="0"/>
          </a:p>
        </p:txBody>
      </p:sp>
      <p:sp>
        <p:nvSpPr>
          <p:cNvPr id="33" name="Text 29"/>
          <p:cNvSpPr txBox="1"/>
          <p:nvPr/>
        </p:nvSpPr>
        <p:spPr>
          <a:xfrm>
            <a:off x="548640" y="5788152"/>
            <a:ext cx="11064240" cy="50292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En seguridad, la respuesta firme es la adaptable: la regla no cambia; cambia cómo la explico.</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09 · LIDERAZGO ADAPTABLE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Leer, adaptar, alinear</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48</a:t>
            </a:r>
            <a:endParaRPr lang="en-US" sz="750" dirty="0"/>
          </a:p>
        </p:txBody>
      </p:sp>
      <p:sp>
        <p:nvSpPr>
          <p:cNvPr id="7" name="Shape 3"/>
          <p:cNvSpPr/>
          <p:nvPr/>
        </p:nvSpPr>
        <p:spPr>
          <a:xfrm>
            <a:off x="548640" y="1600200"/>
            <a:ext cx="420624" cy="420624"/>
          </a:xfrm>
          <a:prstGeom prst="ellipse">
            <a:avLst/>
          </a:prstGeom>
          <a:solidFill>
            <a:srgbClr val="FF8C47"/>
          </a:solidFill>
          <a:ln/>
        </p:spPr>
      </p:sp>
      <p:sp>
        <p:nvSpPr>
          <p:cNvPr id="8" name="Text 4"/>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LEER</a:t>
            </a:r>
            <a:endParaRPr lang="en-US" sz="3400" dirty="0"/>
          </a:p>
        </p:txBody>
      </p:sp>
      <p:sp>
        <p:nvSpPr>
          <p:cNvPr id="10" name="Text 6"/>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Entender a la persona y el contexto</a:t>
            </a:r>
            <a:endParaRPr lang="en-US" sz="1400" dirty="0"/>
          </a:p>
        </p:txBody>
      </p:sp>
      <p:sp>
        <p:nvSpPr>
          <p:cNvPr id="11" name="Text 7"/>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observo? ¿Qué supongo?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podría necesitar, detrás de lo que pide?</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¿Qué no sé todavía?</a:t>
            </a:r>
            <a:endParaRPr lang="en-US" sz="1200" dirty="0"/>
          </a:p>
        </p:txBody>
      </p:sp>
      <p:sp>
        <p:nvSpPr>
          <p:cNvPr id="12" name="Text 8"/>
          <p:cNvSpPr txBox="1"/>
          <p:nvPr/>
        </p:nvSpPr>
        <p:spPr>
          <a:xfrm>
            <a:off x="548640"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Pregunto antes de concluir.</a:t>
            </a:r>
            <a:endParaRPr lang="en-US" sz="1200" dirty="0"/>
          </a:p>
        </p:txBody>
      </p:sp>
      <p:sp>
        <p:nvSpPr>
          <p:cNvPr id="13" name="Shape 9"/>
          <p:cNvSpPr/>
          <p:nvPr/>
        </p:nvSpPr>
        <p:spPr>
          <a:xfrm>
            <a:off x="4337304" y="1600200"/>
            <a:ext cx="420624" cy="420624"/>
          </a:xfrm>
          <a:prstGeom prst="ellipse">
            <a:avLst/>
          </a:prstGeom>
          <a:solidFill>
            <a:srgbClr val="FA4642"/>
          </a:solidFill>
          <a:ln/>
        </p:spPr>
      </p:sp>
      <p:sp>
        <p:nvSpPr>
          <p:cNvPr id="14" name="Text 10"/>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5" name="Text 11"/>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ADAPTAR</a:t>
            </a:r>
            <a:endParaRPr lang="en-US" sz="3400" dirty="0"/>
          </a:p>
        </p:txBody>
      </p:sp>
      <p:sp>
        <p:nvSpPr>
          <p:cNvPr id="16" name="Text 12"/>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Ajustar cómo lidero</a:t>
            </a:r>
            <a:endParaRPr lang="en-US" sz="1400" dirty="0"/>
          </a:p>
        </p:txBody>
      </p:sp>
      <p:sp>
        <p:nvSpPr>
          <p:cNvPr id="17" name="Text 13"/>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Comunicación y contexto (el porqué)</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Retroalimentación, reconocimiento, autonomía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Desarrollo y frecuencia</a:t>
            </a:r>
            <a:endParaRPr lang="en-US" sz="1200" dirty="0"/>
          </a:p>
        </p:txBody>
      </p:sp>
      <p:sp>
        <p:nvSpPr>
          <p:cNvPr id="18" name="Text 14"/>
          <p:cNvSpPr txBox="1"/>
          <p:nvPr/>
        </p:nvSpPr>
        <p:spPr>
          <a:xfrm>
            <a:off x="4337304"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Cambio el cómo.</a:t>
            </a:r>
            <a:endParaRPr lang="en-US" sz="1200" dirty="0"/>
          </a:p>
        </p:txBody>
      </p:sp>
      <p:sp>
        <p:nvSpPr>
          <p:cNvPr id="19" name="Shape 15"/>
          <p:cNvSpPr/>
          <p:nvPr/>
        </p:nvSpPr>
        <p:spPr>
          <a:xfrm>
            <a:off x="8125968" y="1600200"/>
            <a:ext cx="420624" cy="420624"/>
          </a:xfrm>
          <a:prstGeom prst="ellipse">
            <a:avLst/>
          </a:prstGeom>
          <a:solidFill>
            <a:srgbClr val="AA0582"/>
          </a:solidFill>
          <a:ln/>
        </p:spPr>
      </p:sp>
      <p:sp>
        <p:nvSpPr>
          <p:cNvPr id="20" name="Text 16"/>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21" name="Text 17"/>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ALINEAR</a:t>
            </a:r>
            <a:endParaRPr lang="en-US" sz="3400" dirty="0"/>
          </a:p>
        </p:txBody>
      </p:sp>
      <p:sp>
        <p:nvSpPr>
          <p:cNvPr id="22" name="Text 18"/>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Sostener expectativas y resultados</a:t>
            </a:r>
            <a:endParaRPr lang="en-US" sz="1400" dirty="0"/>
          </a:p>
        </p:txBody>
      </p:sp>
      <p:sp>
        <p:nvSpPr>
          <p:cNvPr id="23" name="Text 19"/>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Estándares, seguridad, ética</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Rendición de cuentas y desempeño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digo de forma explícita</a:t>
            </a:r>
            <a:endParaRPr lang="en-US" sz="1200" dirty="0"/>
          </a:p>
        </p:txBody>
      </p:sp>
      <p:sp>
        <p:nvSpPr>
          <p:cNvPr id="24" name="Text 20"/>
          <p:cNvSpPr txBox="1"/>
          <p:nvPr/>
        </p:nvSpPr>
        <p:spPr>
          <a:xfrm>
            <a:off x="8125968" y="5303520"/>
            <a:ext cx="3422904" cy="685800"/>
          </a:xfrm>
          <a:prstGeom prst="rect">
            <a:avLst/>
          </a:prstGeom>
          <a:noFill/>
          <a:ln/>
        </p:spPr>
        <p:txBody>
          <a:bodyPr wrap="square" lIns="0" tIns="0" rIns="0" bIns="0" rtlCol="0" anchor="t"/>
          <a:lstStyle/>
          <a:p>
            <a:pPr indent="0" marL="0">
              <a:buNone/>
            </a:pPr>
            <a:r>
              <a:rPr lang="en-US" sz="1200" b="1" dirty="0">
                <a:solidFill>
                  <a:srgbClr val="5A5A6E"/>
                </a:solidFill>
                <a:latin typeface="Century Gothic" pitchFamily="34" charset="0"/>
                <a:ea typeface="Century Gothic" pitchFamily="34" charset="-122"/>
                <a:cs typeface="Century Gothic" pitchFamily="34" charset="-120"/>
              </a:rPr>
              <a:t>No muevo el qué.</a:t>
            </a:r>
            <a:endParaRPr lang="en-US" sz="1200" dirty="0"/>
          </a:p>
        </p:txBody>
      </p:sp>
      <p:sp>
        <p:nvSpPr>
          <p:cNvPr id="25" name="Text 2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Personas distintas no necesitan estándares distintos. Pueden necesitar un liderazgo distinto.</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Adapto el cómo. No adapto el qué</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49</a:t>
            </a:r>
            <a:endParaRPr lang="en-US" sz="750" dirty="0"/>
          </a:p>
        </p:txBody>
      </p:sp>
      <p:sp>
        <p:nvSpPr>
          <p:cNvPr id="7" name="Shape 3"/>
          <p:cNvSpPr/>
          <p:nvPr/>
        </p:nvSpPr>
        <p:spPr>
          <a:xfrm>
            <a:off x="548640" y="1645920"/>
            <a:ext cx="6675120" cy="457200"/>
          </a:xfrm>
          <a:prstGeom prst="roundRect">
            <a:avLst>
              <a:gd name="adj" fmla="val 10000"/>
            </a:avLst>
          </a:prstGeom>
          <a:solidFill>
            <a:srgbClr val="FA4642"/>
          </a:solidFill>
          <a:ln/>
        </p:spPr>
      </p:sp>
      <p:sp>
        <p:nvSpPr>
          <p:cNvPr id="8" name="Text 4"/>
          <p:cNvSpPr txBox="1"/>
          <p:nvPr/>
        </p:nvSpPr>
        <p:spPr>
          <a:xfrm>
            <a:off x="731520" y="1645920"/>
            <a:ext cx="640080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ADAPTO · el cómo</a:t>
            </a:r>
            <a:endParaRPr lang="en-US" sz="1200" dirty="0"/>
          </a:p>
        </p:txBody>
      </p:sp>
      <p:sp>
        <p:nvSpPr>
          <p:cNvPr id="9" name="Shape 5"/>
          <p:cNvSpPr/>
          <p:nvPr/>
        </p:nvSpPr>
        <p:spPr>
          <a:xfrm>
            <a:off x="7452360" y="1645920"/>
            <a:ext cx="4187952" cy="457200"/>
          </a:xfrm>
          <a:prstGeom prst="roundRect">
            <a:avLst>
              <a:gd name="adj" fmla="val 10000"/>
            </a:avLst>
          </a:prstGeom>
          <a:solidFill>
            <a:srgbClr val="1A1A2E"/>
          </a:solidFill>
          <a:ln/>
        </p:spPr>
      </p:sp>
      <p:sp>
        <p:nvSpPr>
          <p:cNvPr id="10" name="Text 6"/>
          <p:cNvSpPr txBox="1"/>
          <p:nvPr/>
        </p:nvSpPr>
        <p:spPr>
          <a:xfrm>
            <a:off x="7635240" y="1645920"/>
            <a:ext cx="3931920" cy="457200"/>
          </a:xfrm>
          <a:prstGeom prst="rect">
            <a:avLst/>
          </a:prstGeom>
          <a:noFill/>
          <a:ln/>
        </p:spPr>
        <p:txBody>
          <a:bodyPr wrap="square" lIns="0" tIns="0" rIns="0" bIns="0" rtlCol="0" anchor="ctr"/>
          <a:lstStyle/>
          <a:p>
            <a:pPr indent="0" marL="0">
              <a:buNone/>
            </a:pPr>
            <a:r>
              <a:rPr lang="en-US" sz="1200" b="1" spc="150" kern="0" dirty="0">
                <a:solidFill>
                  <a:srgbClr val="FFFFFF"/>
                </a:solidFill>
                <a:latin typeface="Century Gothic" pitchFamily="34" charset="0"/>
                <a:ea typeface="Century Gothic" pitchFamily="34" charset="-122"/>
                <a:cs typeface="Century Gothic" pitchFamily="34" charset="-120"/>
              </a:rPr>
              <a:t>LO QUE NO ADAPTO · el qué</a:t>
            </a:r>
            <a:endParaRPr lang="en-US" sz="1200" dirty="0"/>
          </a:p>
        </p:txBody>
      </p:sp>
      <p:sp>
        <p:nvSpPr>
          <p:cNvPr id="11" name="Text 7"/>
          <p:cNvSpPr txBox="1"/>
          <p:nvPr/>
        </p:nvSpPr>
        <p:spPr>
          <a:xfrm>
            <a:off x="73152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Comunicación</a:t>
            </a:r>
            <a:endParaRPr lang="en-US" sz="1800" dirty="0"/>
          </a:p>
        </p:txBody>
      </p:sp>
      <p:sp>
        <p:nvSpPr>
          <p:cNvPr id="12" name="Text 8"/>
          <p:cNvSpPr txBox="1"/>
          <p:nvPr/>
        </p:nvSpPr>
        <p:spPr>
          <a:xfrm>
            <a:off x="4023360" y="2331720"/>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Contexto (el porqué)</a:t>
            </a:r>
            <a:endParaRPr lang="en-US" sz="1800" dirty="0"/>
          </a:p>
        </p:txBody>
      </p:sp>
      <p:sp>
        <p:nvSpPr>
          <p:cNvPr id="13" name="Text 9"/>
          <p:cNvSpPr txBox="1"/>
          <p:nvPr/>
        </p:nvSpPr>
        <p:spPr>
          <a:xfrm>
            <a:off x="73152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Retroalimentación</a:t>
            </a:r>
            <a:endParaRPr lang="en-US" sz="1800" dirty="0"/>
          </a:p>
        </p:txBody>
      </p:sp>
      <p:sp>
        <p:nvSpPr>
          <p:cNvPr id="14" name="Text 10"/>
          <p:cNvSpPr txBox="1"/>
          <p:nvPr/>
        </p:nvSpPr>
        <p:spPr>
          <a:xfrm>
            <a:off x="4023360" y="2990088"/>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Reconocimiento</a:t>
            </a:r>
            <a:endParaRPr lang="en-US" sz="1800" dirty="0"/>
          </a:p>
        </p:txBody>
      </p:sp>
      <p:sp>
        <p:nvSpPr>
          <p:cNvPr id="15" name="Text 11"/>
          <p:cNvSpPr txBox="1"/>
          <p:nvPr/>
        </p:nvSpPr>
        <p:spPr>
          <a:xfrm>
            <a:off x="73152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Autonomía</a:t>
            </a:r>
            <a:endParaRPr lang="en-US" sz="1800" dirty="0"/>
          </a:p>
        </p:txBody>
      </p:sp>
      <p:sp>
        <p:nvSpPr>
          <p:cNvPr id="16" name="Text 12"/>
          <p:cNvSpPr txBox="1"/>
          <p:nvPr/>
        </p:nvSpPr>
        <p:spPr>
          <a:xfrm>
            <a:off x="4023360" y="3648456"/>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Desarrollo</a:t>
            </a:r>
            <a:endParaRPr lang="en-US" sz="1800" dirty="0"/>
          </a:p>
        </p:txBody>
      </p:sp>
      <p:sp>
        <p:nvSpPr>
          <p:cNvPr id="17" name="Text 13"/>
          <p:cNvSpPr txBox="1"/>
          <p:nvPr/>
        </p:nvSpPr>
        <p:spPr>
          <a:xfrm>
            <a:off x="731520" y="4306824"/>
            <a:ext cx="310896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Frecuencia</a:t>
            </a:r>
            <a:endParaRPr lang="en-US" sz="1800" dirty="0"/>
          </a:p>
        </p:txBody>
      </p:sp>
      <p:sp>
        <p:nvSpPr>
          <p:cNvPr id="18" name="Shape 14"/>
          <p:cNvSpPr/>
          <p:nvPr/>
        </p:nvSpPr>
        <p:spPr>
          <a:xfrm>
            <a:off x="7333488" y="1645920"/>
            <a:ext cx="0" cy="3931920"/>
          </a:xfrm>
          <a:prstGeom prst="line">
            <a:avLst/>
          </a:prstGeom>
          <a:noFill/>
          <a:ln w="38100">
            <a:solidFill>
              <a:srgbClr val="1A1A2E"/>
            </a:solidFill>
            <a:prstDash val="solid"/>
          </a:ln>
        </p:spPr>
      </p:sp>
      <p:sp>
        <p:nvSpPr>
          <p:cNvPr id="19" name="Text 15"/>
          <p:cNvSpPr txBox="1"/>
          <p:nvPr/>
        </p:nvSpPr>
        <p:spPr>
          <a:xfrm>
            <a:off x="7635240" y="2331720"/>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Estándares</a:t>
            </a:r>
            <a:endParaRPr lang="en-US" sz="1800" dirty="0"/>
          </a:p>
        </p:txBody>
      </p:sp>
      <p:sp>
        <p:nvSpPr>
          <p:cNvPr id="20" name="Text 16"/>
          <p:cNvSpPr txBox="1"/>
          <p:nvPr/>
        </p:nvSpPr>
        <p:spPr>
          <a:xfrm>
            <a:off x="7635240" y="2990088"/>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Ética</a:t>
            </a:r>
            <a:endParaRPr lang="en-US" sz="1800" dirty="0"/>
          </a:p>
        </p:txBody>
      </p:sp>
      <p:sp>
        <p:nvSpPr>
          <p:cNvPr id="21" name="Text 17"/>
          <p:cNvSpPr txBox="1"/>
          <p:nvPr/>
        </p:nvSpPr>
        <p:spPr>
          <a:xfrm>
            <a:off x="7635240" y="3648456"/>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Seguridad</a:t>
            </a:r>
            <a:endParaRPr lang="en-US" sz="1800" dirty="0"/>
          </a:p>
        </p:txBody>
      </p:sp>
      <p:sp>
        <p:nvSpPr>
          <p:cNvPr id="22" name="Text 18"/>
          <p:cNvSpPr txBox="1"/>
          <p:nvPr/>
        </p:nvSpPr>
        <p:spPr>
          <a:xfrm>
            <a:off x="7635240" y="4306824"/>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Rendición de cuentas</a:t>
            </a:r>
            <a:endParaRPr lang="en-US" sz="1800" dirty="0"/>
          </a:p>
        </p:txBody>
      </p:sp>
      <p:sp>
        <p:nvSpPr>
          <p:cNvPr id="23" name="Text 19"/>
          <p:cNvSpPr txBox="1"/>
          <p:nvPr/>
        </p:nvSpPr>
        <p:spPr>
          <a:xfrm>
            <a:off x="7635240" y="4965192"/>
            <a:ext cx="3931920" cy="548640"/>
          </a:xfrm>
          <a:prstGeom prst="rect">
            <a:avLst/>
          </a:prstGeom>
          <a:noFill/>
          <a:ln/>
        </p:spPr>
        <p:txBody>
          <a:bodyPr wrap="square" lIns="0" tIns="0" rIns="0" bIns="0" rtlCol="0" anchor="ctr"/>
          <a:lstStyle/>
          <a:p>
            <a:pPr indent="0" marL="0">
              <a:buNone/>
            </a:pPr>
            <a:r>
              <a:rPr lang="en-US" sz="1800" b="1" dirty="0">
                <a:solidFill>
                  <a:srgbClr val="1A1A2E"/>
                </a:solidFill>
                <a:latin typeface="Century Gothic" pitchFamily="34" charset="0"/>
                <a:ea typeface="Century Gothic" pitchFamily="34" charset="-122"/>
                <a:cs typeface="Century Gothic" pitchFamily="34" charset="-120"/>
              </a:rPr>
              <a:t>Desempeño</a:t>
            </a:r>
            <a:endParaRPr lang="en-US" sz="1800" dirty="0"/>
          </a:p>
        </p:txBody>
      </p:sp>
      <p:sp>
        <p:nvSpPr>
          <p:cNvPr id="24" name="Text 20"/>
          <p:cNvSpPr txBox="1"/>
          <p:nvPr/>
        </p:nvSpPr>
        <p:spPr>
          <a:xfrm>
            <a:off x="548640" y="576072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En su cuaderno: una columna para su persona (iniciales) y otra, opcional, para un caso.  La seguridad es innegociable.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Ejemplo: Rogelio, 31 años en laminación en frío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50</a:t>
            </a:r>
            <a:endParaRPr lang="en-US" sz="7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737360"/>
                <a:gridCol w="3840480"/>
                <a:gridCol w="1737360"/>
                <a:gridCol w="3776472"/>
              </a:tblGrid>
              <a:tr h="566928">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Cómo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Lo que no adapto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1000" b="1" dirty="0">
                          <a:solidFill>
                            <a:srgbClr val="FFFFFF"/>
                          </a:solidFill>
                          <a:latin typeface="Century Gothic" pitchFamily="34" charset="0"/>
                          <a:ea typeface="Century Gothic" pitchFamily="34" charset="-122"/>
                          <a:cs typeface="Century Gothic" pitchFamily="34" charset="-120"/>
                        </a:rPr>
                        <a:t>Qué se mantiene</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Comunicación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En persona, en el taller; nunca corregirlo frente al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Estándares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100 % de órdenes registradas en SAP PM en seis semanas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Contexto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Mostrarle su propio historial de fallas y para qué sirven los datos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Ética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Los registros reflejan lo que realmente se hizo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Retroalimentación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Semanal, 10 minutos, avance contra la meta</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Seguridad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Bloqueos y permisos se registran y cumplen sin excepción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Reconocimiento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Su criterio define qué variables se registran</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Rendición de cuentas</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El registro de su área es su responsabilidad</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566928">
                <a:tc>
                  <a:txBody>
                    <a:bodyPr/>
                    <a:lstStyle/>
                    <a:p>
                      <a:pPr indent="0" marL="0">
                        <a:buNone/>
                      </a:pPr>
                      <a:r>
                        <a:rPr lang="en-US" sz="1050" b="1" dirty="0">
                          <a:solidFill>
                            <a:srgbClr val="1A1A2E"/>
                          </a:solidFill>
                          <a:latin typeface="Century Gothic" pitchFamily="34" charset="0"/>
                          <a:ea typeface="Century Gothic" pitchFamily="34" charset="-122"/>
                          <a:cs typeface="Century Gothic" pitchFamily="34" charset="-120"/>
                        </a:rPr>
                        <a:t>Desarrollo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Formaliza su rol como formador en diagnóstico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Desempeño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50" dirty="0">
                          <a:solidFill>
                            <a:srgbClr val="1A1A2E"/>
                          </a:solidFill>
                          <a:latin typeface="Century Gothic" pitchFamily="34" charset="0"/>
                          <a:ea typeface="Century Gothic" pitchFamily="34" charset="-122"/>
                          <a:cs typeface="Century Gothic" pitchFamily="34" charset="-120"/>
                        </a:rPr>
                        <a:t>Se mantiene la meta de disponibilidad de equipo</a:t>
                      </a:r>
                      <a:endParaRPr lang="en-US" sz="10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“Tu experiencia es lo que más necesito en este sistema. El registro no está a discusión; cómo lo hacemos, sí.”</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10 · MATRIZ DE FLEXIBILIDAD DEL LIDERAZGO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Su persona, en la Matriz</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51</a:t>
            </a:r>
            <a:endParaRPr lang="en-US" sz="750" dirty="0"/>
          </a:p>
        </p:txBody>
      </p:sp>
      <p:sp>
        <p:nvSpPr>
          <p:cNvPr id="7" name="Shape 3"/>
          <p:cNvSpPr/>
          <p:nvPr/>
        </p:nvSpPr>
        <p:spPr>
          <a:xfrm>
            <a:off x="548640" y="1645920"/>
            <a:ext cx="420624" cy="420624"/>
          </a:xfrm>
          <a:prstGeom prst="ellipse">
            <a:avLst/>
          </a:prstGeom>
          <a:solidFill>
            <a:srgbClr val="FF8C47"/>
          </a:solidFill>
          <a:ln/>
        </p:spPr>
      </p:sp>
      <p:sp>
        <p:nvSpPr>
          <p:cNvPr id="8" name="Text 4"/>
          <p:cNvSpPr txBox="1"/>
          <p:nvPr/>
        </p:nvSpPr>
        <p:spPr>
          <a:xfrm>
            <a:off x="548640" y="1645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1170432" y="1609344"/>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Arriba, una cosa que no saben de su persona (LEER). Después, su columna: al menos tres filas de “lo que adapto” y todas las de “lo que no adapto”.</a:t>
            </a:r>
            <a:endParaRPr lang="en-US" sz="1400" dirty="0"/>
          </a:p>
        </p:txBody>
      </p:sp>
      <p:sp>
        <p:nvSpPr>
          <p:cNvPr id="10" name="Shape 6"/>
          <p:cNvSpPr/>
          <p:nvPr/>
        </p:nvSpPr>
        <p:spPr>
          <a:xfrm>
            <a:off x="548640" y="2487168"/>
            <a:ext cx="420624" cy="420624"/>
          </a:xfrm>
          <a:prstGeom prst="ellipse">
            <a:avLst/>
          </a:prstGeom>
          <a:solidFill>
            <a:srgbClr val="EA3450"/>
          </a:solidFill>
          <a:ln/>
        </p:spPr>
      </p:sp>
      <p:sp>
        <p:nvSpPr>
          <p:cNvPr id="11" name="Text 7"/>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2" name="Text 8"/>
          <p:cNvSpPr txBox="1"/>
          <p:nvPr/>
        </p:nvSpPr>
        <p:spPr>
          <a:xfrm>
            <a:off x="1170432" y="2450592"/>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Con un par (no el del Acto 7): 2½ minutos cada uno.</a:t>
            </a:r>
            <a:endParaRPr lang="en-US" sz="1400" dirty="0"/>
          </a:p>
        </p:txBody>
      </p:sp>
      <p:sp>
        <p:nvSpPr>
          <p:cNvPr id="13" name="Shape 9"/>
          <p:cNvSpPr/>
          <p:nvPr/>
        </p:nvSpPr>
        <p:spPr>
          <a:xfrm>
            <a:off x="548640" y="3328416"/>
            <a:ext cx="420624" cy="420624"/>
          </a:xfrm>
          <a:prstGeom prst="ellipse">
            <a:avLst/>
          </a:prstGeom>
          <a:solidFill>
            <a:srgbClr val="C8136C"/>
          </a:solidFill>
          <a:ln/>
        </p:spPr>
      </p:sp>
      <p:sp>
        <p:nvSpPr>
          <p:cNvPr id="14" name="Text 10"/>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5" name="Text 11"/>
          <p:cNvSpPr txBox="1"/>
          <p:nvPr/>
        </p:nvSpPr>
        <p:spPr>
          <a:xfrm>
            <a:off x="1170432" y="3291840"/>
            <a:ext cx="5943600" cy="795528"/>
          </a:xfrm>
          <a:prstGeom prst="rect">
            <a:avLst/>
          </a:prstGeom>
          <a:noFill/>
          <a:ln/>
        </p:spPr>
        <p:txBody>
          <a:bodyPr wrap="square" lIns="0" tIns="0" rIns="0" bIns="0" rtlCol="0" anchor="t"/>
          <a:lstStyle/>
          <a:p>
            <a:pPr indent="0" marL="0">
              <a:buNone/>
            </a:pPr>
            <a:r>
              <a:rPr lang="en-US" sz="1400" dirty="0">
                <a:solidFill>
                  <a:srgbClr val="1A1A2E"/>
                </a:solidFill>
                <a:latin typeface="Century Gothic" pitchFamily="34" charset="0"/>
                <a:ea typeface="Century Gothic" pitchFamily="34" charset="-122"/>
                <a:cs typeface="Century Gothic" pitchFamily="34" charset="-120"/>
              </a:rPr>
              <a:t>El par solo hace dos preguntas; no aconseja ni opina sobre la persona.</a:t>
            </a:r>
            <a:endParaRPr lang="en-US" sz="1400" dirty="0"/>
          </a:p>
        </p:txBody>
      </p:sp>
      <p:sp>
        <p:nvSpPr>
          <p:cNvPr id="16" name="Shape 12"/>
          <p:cNvSpPr/>
          <p:nvPr/>
        </p:nvSpPr>
        <p:spPr>
          <a:xfrm>
            <a:off x="7543800" y="1600200"/>
            <a:ext cx="4096512" cy="4480560"/>
          </a:xfrm>
          <a:prstGeom prst="roundRect">
            <a:avLst>
              <a:gd name="adj" fmla="val 1786"/>
            </a:avLst>
          </a:prstGeom>
          <a:solidFill>
            <a:srgbClr val="F4F5F9"/>
          </a:solidFill>
          <a:ln/>
        </p:spPr>
      </p:sp>
      <p:sp>
        <p:nvSpPr>
          <p:cNvPr id="17" name="Text 13"/>
          <p:cNvSpPr txBox="1"/>
          <p:nvPr/>
        </p:nvSpPr>
        <p:spPr>
          <a:xfrm>
            <a:off x="7818120" y="1783080"/>
            <a:ext cx="354787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DINÁMICA</a:t>
            </a:r>
            <a:endParaRPr lang="en-US" sz="1000" dirty="0"/>
          </a:p>
        </p:txBody>
      </p:sp>
      <p:sp>
        <p:nvSpPr>
          <p:cNvPr id="18" name="Text 14"/>
          <p:cNvSpPr txBox="1"/>
          <p:nvPr/>
        </p:nvSpPr>
        <p:spPr>
          <a:xfrm>
            <a:off x="7818120" y="2167128"/>
            <a:ext cx="3566160" cy="731520"/>
          </a:xfrm>
          <a:prstGeom prst="rect">
            <a:avLst/>
          </a:prstGeom>
          <a:noFill/>
          <a:ln/>
        </p:spPr>
        <p:txBody>
          <a:bodyPr wrap="square" lIns="0" tIns="0" rIns="0" bIns="0" rtlCol="0" anchor="t"/>
          <a:lstStyle/>
          <a:p>
            <a:pPr indent="0" marL="0">
              <a:buNone/>
            </a:pPr>
            <a:r>
              <a:rPr lang="en-US" sz="4000" b="1" dirty="0">
                <a:solidFill>
                  <a:srgbClr val="FA4642"/>
                </a:solidFill>
                <a:latin typeface="Century Gothic" pitchFamily="34" charset="0"/>
                <a:ea typeface="Century Gothic" pitchFamily="34" charset="-122"/>
                <a:cs typeface="Century Gothic" pitchFamily="34" charset="-120"/>
              </a:rPr>
              <a:t>12</a:t>
            </a:r>
            <a:endParaRPr lang="en-US" sz="4000" dirty="0"/>
          </a:p>
        </p:txBody>
      </p:sp>
      <p:sp>
        <p:nvSpPr>
          <p:cNvPr id="19" name="Text 15"/>
          <p:cNvSpPr txBox="1"/>
          <p:nvPr/>
        </p:nvSpPr>
        <p:spPr>
          <a:xfrm>
            <a:off x="7818120" y="2834640"/>
            <a:ext cx="3566160" cy="274320"/>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minutos</a:t>
            </a:r>
            <a:endParaRPr lang="en-US" sz="1100" dirty="0"/>
          </a:p>
        </p:txBody>
      </p:sp>
      <p:sp>
        <p:nvSpPr>
          <p:cNvPr id="20" name="Text 16"/>
          <p:cNvSpPr txBox="1"/>
          <p:nvPr/>
        </p:nvSpPr>
        <p:spPr>
          <a:xfrm>
            <a:off x="7818120" y="3264408"/>
            <a:ext cx="3566160" cy="548640"/>
          </a:xfrm>
          <a:prstGeom prst="rect">
            <a:avLst/>
          </a:prstGeom>
          <a:noFill/>
          <a:ln/>
        </p:spPr>
        <p:txBody>
          <a:bodyPr wrap="square" lIns="0" tIns="0" rIns="0" bIns="0" rtlCol="0" anchor="t"/>
          <a:lstStyle/>
          <a:p>
            <a:pPr indent="0" marL="0">
              <a:buNone/>
            </a:pPr>
            <a:r>
              <a:rPr lang="en-US" sz="1200" b="1" dirty="0">
                <a:solidFill>
                  <a:srgbClr val="1A1A2E"/>
                </a:solidFill>
                <a:latin typeface="Century Gothic" pitchFamily="34" charset="0"/>
                <a:ea typeface="Century Gothic" pitchFamily="34" charset="-122"/>
                <a:cs typeface="Century Gothic" pitchFamily="34" charset="-120"/>
              </a:rPr>
              <a:t>6 min individual · 5 min en par</a:t>
            </a:r>
            <a:endParaRPr lang="en-US" sz="1200" dirty="0"/>
          </a:p>
        </p:txBody>
      </p:sp>
      <p:sp>
        <p:nvSpPr>
          <p:cNvPr id="21" name="Text 17"/>
          <p:cNvSpPr txBox="1"/>
          <p:nvPr/>
        </p:nvSpPr>
        <p:spPr>
          <a:xfrm>
            <a:off x="7818120" y="3858768"/>
            <a:ext cx="3566160" cy="1993392"/>
          </a:xfrm>
          <a:prstGeom prst="rect">
            <a:avLst/>
          </a:prstGeom>
          <a:noFill/>
          <a:ln/>
        </p:spPr>
        <p:txBody>
          <a:bodyPr wrap="square" lIns="0" tIns="0" rIns="0" bIns="0" rtlCol="0" anchor="t"/>
          <a:lstStyle/>
          <a:p>
            <a:pPr indent="0" marL="0">
              <a:buNone/>
            </a:pPr>
            <a:r>
              <a:rPr lang="en-US" sz="1100" dirty="0">
                <a:solidFill>
                  <a:srgbClr val="5A5A6E"/>
                </a:solidFill>
                <a:latin typeface="Century Gothic" pitchFamily="34" charset="0"/>
                <a:ea typeface="Century Gothic" pitchFamily="34" charset="-122"/>
                <a:cs typeface="Century Gothic" pitchFamily="34" charset="-120"/>
              </a:rPr>
              <a:t>Las dos preguntas del par:</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1. ¿Qué de lo que vas a adaptar le cambiaría la experiencia a esa persona desde mañana?</a:t>
            </a:r>
            <a:endParaRPr lang="en-US" sz="1100" dirty="0"/>
          </a:p>
          <a:p>
            <a:pPr indent="0" marL="0">
              <a:buNone/>
            </a:pPr>
            <a:endParaRPr lang="en-US" sz="1100" dirty="0"/>
          </a:p>
          <a:p>
            <a:pPr indent="0" marL="0">
              <a:buNone/>
            </a:pPr>
            <a:r>
              <a:rPr lang="en-US" sz="1100" dirty="0">
                <a:solidFill>
                  <a:srgbClr val="5A5A6E"/>
                </a:solidFill>
                <a:latin typeface="Century Gothic" pitchFamily="34" charset="0"/>
                <a:ea typeface="Century Gothic" pitchFamily="34" charset="-122"/>
                <a:cs typeface="Century Gothic" pitchFamily="34" charset="-120"/>
              </a:rPr>
              <a:t>2. ¿Qué de lo que no vas a adaptar ya se lo dijiste de forma explícita?</a:t>
            </a:r>
            <a:endParaRPr lang="en-US" sz="1100" dirty="0"/>
          </a:p>
        </p:txBody>
      </p:sp>
      <p:sp>
        <p:nvSpPr>
          <p:cNvPr id="22" name="Text 18"/>
          <p:cNvSpPr txBox="1"/>
          <p:nvPr/>
        </p:nvSpPr>
        <p:spPr>
          <a:xfrm>
            <a:off x="548640" y="5715000"/>
            <a:ext cx="6766560" cy="548640"/>
          </a:xfrm>
          <a:prstGeom prst="rect">
            <a:avLst/>
          </a:prstGeom>
          <a:noFill/>
          <a:ln/>
        </p:spPr>
        <p:txBody>
          <a:bodyPr wrap="square" lIns="0" tIns="0" rIns="0" bIns="0" rtlCol="0" anchor="ctr"/>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Un espacio vacío en “lo que no adapto” es una alerta.</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011680"/>
            <a:ext cx="2743200" cy="1097280"/>
          </a:xfrm>
          <a:prstGeom prst="rect">
            <a:avLst/>
          </a:prstGeom>
          <a:noFill/>
          <a:ln/>
        </p:spPr>
        <p:txBody>
          <a:bodyPr wrap="square" lIns="0" tIns="0" rIns="0" bIns="0" rtlCol="0" anchor="t"/>
          <a:lstStyle/>
          <a:p>
            <a:pPr indent="0" marL="0">
              <a:buNone/>
            </a:pPr>
            <a:r>
              <a:rPr lang="en-US" sz="7200" b="1" dirty="0">
                <a:solidFill>
                  <a:srgbClr val="FF8C47"/>
                </a:solidFill>
                <a:latin typeface="Century Gothic" pitchFamily="34" charset="0"/>
                <a:ea typeface="Century Gothic" pitchFamily="34" charset="-122"/>
                <a:cs typeface="Century Gothic" pitchFamily="34" charset="-120"/>
              </a:rPr>
              <a:t>05</a:t>
            </a:r>
            <a:endParaRPr lang="en-US" sz="7200" dirty="0"/>
          </a:p>
        </p:txBody>
      </p:sp>
      <p:sp>
        <p:nvSpPr>
          <p:cNvPr id="3" name="Text 1"/>
          <p:cNvSpPr txBox="1"/>
          <p:nvPr/>
        </p:nvSpPr>
        <p:spPr>
          <a:xfrm>
            <a:off x="548640" y="3154680"/>
            <a:ext cx="10058400" cy="320040"/>
          </a:xfrm>
          <a:prstGeom prst="rect">
            <a:avLst/>
          </a:prstGeom>
          <a:noFill/>
          <a:ln/>
        </p:spPr>
        <p:txBody>
          <a:bodyPr wrap="square" lIns="0" tIns="0" rIns="0" bIns="0" rtlCol="0" anchor="t"/>
          <a:lstStyle/>
          <a:p>
            <a:pPr indent="0" marL="0">
              <a:buNone/>
            </a:pPr>
            <a:r>
              <a:rPr lang="en-US" sz="1200" b="1" spc="200" kern="0" dirty="0">
                <a:solidFill>
                  <a:srgbClr val="FF8C47"/>
                </a:solidFill>
                <a:latin typeface="Century Gothic" pitchFamily="34" charset="0"/>
                <a:ea typeface="Century Gothic" pitchFamily="34" charset="-122"/>
                <a:cs typeface="Century Gothic" pitchFamily="34" charset="-120"/>
              </a:rPr>
              <a:t>SECCIÓN 5 · COMPROMISO · ACTOS 11 Y 12</a:t>
            </a:r>
            <a:endParaRPr lang="en-US" sz="1200" dirty="0"/>
          </a:p>
        </p:txBody>
      </p:sp>
      <p:sp>
        <p:nvSpPr>
          <p:cNvPr id="4" name="Text 2"/>
          <p:cNvSpPr txBox="1"/>
          <p:nvPr/>
        </p:nvSpPr>
        <p:spPr>
          <a:xfrm>
            <a:off x="548640" y="3520440"/>
            <a:ext cx="10058400" cy="914400"/>
          </a:xfrm>
          <a:prstGeom prst="rect">
            <a:avLst/>
          </a:prstGeom>
          <a:noFill/>
          <a:ln/>
        </p:spPr>
        <p:txBody>
          <a:bodyPr wrap="square" lIns="0" tIns="0" rIns="0" bIns="0" rtlCol="0" anchor="t"/>
          <a:lstStyle/>
          <a:p>
            <a:pPr indent="0" marL="0">
              <a:buNone/>
            </a:pPr>
            <a:r>
              <a:rPr lang="en-US" sz="2800" b="1" dirty="0">
                <a:solidFill>
                  <a:srgbClr val="FFFFFF"/>
                </a:solidFill>
                <a:latin typeface="Century Gothic" pitchFamily="34" charset="0"/>
                <a:ea typeface="Century Gothic" pitchFamily="34" charset="-122"/>
                <a:cs typeface="Century Gothic" pitchFamily="34" charset="-120"/>
              </a:rPr>
              <a:t>Una persona, una conversación, treinta días</a:t>
            </a:r>
            <a:endParaRPr lang="en-US" sz="2800" dirty="0"/>
          </a:p>
        </p:txBody>
      </p:sp>
      <p:pic>
        <p:nvPicPr>
          <p:cNvPr id="5" name="Image 0" descr="/home/user/Training-and-Development-PROYECTS/workshop-liderazgo-intergeneracional/src/assets/am_logo_white.png">    </p:cNvPr>
          <p:cNvPicPr>
            <a:picLocks noChangeAspect="1"/>
          </p:cNvPicPr>
          <p:nvPr/>
        </p:nvPicPr>
        <p:blipFill>
          <a:blip r:embed="rId2"/>
          <a:stretch>
            <a:fillRect/>
          </a:stretch>
        </p:blipFill>
        <p:spPr>
          <a:xfrm>
            <a:off x="10744200" y="6035040"/>
            <a:ext cx="914400" cy="377645"/>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52</a:t>
            </a:r>
            <a:endParaRPr lang="en-US" sz="7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11 · INVERTIR EL LENTE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Busquen a alguien que empezó a trabajar en otro contexto</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53</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los líderes malinterpretan de las personas en mi etapa de carrera es…</a:t>
            </a:r>
            <a:endParaRPr lang="en-US" sz="17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mi etapa podríamos aprender de las de la tuya es…</a:t>
            </a:r>
            <a:endParaRPr lang="en-US" sz="17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las personas en tu etapa podrían aprender de la mía es…</a:t>
            </a:r>
            <a:endParaRPr lang="en-US" sz="1700" dirty="0"/>
          </a:p>
        </p:txBody>
      </p:sp>
      <p:sp>
        <p:nvSpPr>
          <p:cNvPr id="13" name="Text 9"/>
          <p:cNvSpPr txBox="1"/>
          <p:nvPr/>
        </p:nvSpPr>
        <p:spPr>
          <a:xfrm>
            <a:off x="548640" y="3785616"/>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04</a:t>
            </a:r>
            <a:endParaRPr lang="en-US" sz="1600" dirty="0"/>
          </a:p>
        </p:txBody>
      </p:sp>
      <p:sp>
        <p:nvSpPr>
          <p:cNvPr id="14" name="Text 10"/>
          <p:cNvSpPr txBox="1"/>
          <p:nvPr/>
        </p:nvSpPr>
        <p:spPr>
          <a:xfrm>
            <a:off x="1234440" y="3785616"/>
            <a:ext cx="6035040" cy="667512"/>
          </a:xfrm>
          <a:prstGeom prst="rect">
            <a:avLst/>
          </a:prstGeom>
          <a:noFill/>
          <a:ln/>
        </p:spPr>
        <p:txBody>
          <a:bodyPr wrap="square" lIns="0" tIns="0" rIns="0" bIns="0" rtlCol="0" anchor="t"/>
          <a:lstStyle/>
          <a:p>
            <a:pPr indent="0" marL="0">
              <a:buNone/>
            </a:pPr>
            <a:r>
              <a:rPr lang="en-US" sz="1700" dirty="0">
                <a:solidFill>
                  <a:srgbClr val="1A1A2E"/>
                </a:solidFill>
                <a:latin typeface="Century Gothic" pitchFamily="34" charset="0"/>
                <a:ea typeface="Century Gothic" pitchFamily="34" charset="-122"/>
                <a:cs typeface="Century Gothic" pitchFamily="34" charset="-120"/>
              </a:rPr>
              <a:t>Algo que probablemente ambos queremos es…</a:t>
            </a:r>
            <a:endParaRPr lang="en-US" sz="1700" dirty="0"/>
          </a:p>
        </p:txBody>
      </p:sp>
      <p:sp>
        <p:nvSpPr>
          <p:cNvPr id="15" name="Shape 11"/>
          <p:cNvSpPr/>
          <p:nvPr/>
        </p:nvSpPr>
        <p:spPr>
          <a:xfrm>
            <a:off x="7680960" y="1600200"/>
            <a:ext cx="3959352" cy="4480560"/>
          </a:xfrm>
          <a:prstGeom prst="roundRect">
            <a:avLst>
              <a:gd name="adj" fmla="val 1848"/>
            </a:avLst>
          </a:prstGeom>
          <a:solidFill>
            <a:srgbClr val="F4F5F9"/>
          </a:solidFill>
          <a:ln/>
        </p:spPr>
      </p:sp>
      <p:sp>
        <p:nvSpPr>
          <p:cNvPr id="16" name="Text 12"/>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CÓMO</a:t>
            </a:r>
            <a:endParaRPr lang="en-US" sz="1000" dirty="0"/>
          </a:p>
        </p:txBody>
      </p:sp>
      <p:sp>
        <p:nvSpPr>
          <p:cNvPr id="17" name="Text 13"/>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Otra década, otra empresa, otra área u otro país.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3 min cada uno. Quien escucha no interrumpe.</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Al final: “Lo que me llevo de lo que dijiste es…”</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Hablen desde su experiencia, no en nombre de nadie más.</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11 · INVERTIR EL LENTE · VARIANTE</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Invertir el lente con mi persona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54</a:t>
            </a:r>
            <a:endParaRPr lang="en-US" sz="750" dirty="0"/>
          </a:p>
        </p:txBody>
      </p:sp>
      <p:sp>
        <p:nvSpPr>
          <p:cNvPr id="7" name="Text 3"/>
          <p:cNvSpPr txBox="1"/>
          <p:nvPr/>
        </p:nvSpPr>
        <p:spPr>
          <a:xfrm>
            <a:off x="548640" y="1645920"/>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01</a:t>
            </a:r>
            <a:endParaRPr lang="en-US" sz="1600" dirty="0"/>
          </a:p>
        </p:txBody>
      </p:sp>
      <p:sp>
        <p:nvSpPr>
          <p:cNvPr id="8" name="Text 4"/>
          <p:cNvSpPr txBox="1"/>
          <p:nvPr/>
        </p:nvSpPr>
        <p:spPr>
          <a:xfrm>
            <a:off x="1234440" y="1645920"/>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los líderes malinterpretan de las personas en su etapa de carrera es…</a:t>
            </a:r>
            <a:endParaRPr lang="en-US" sz="1900" dirty="0"/>
          </a:p>
        </p:txBody>
      </p:sp>
      <p:sp>
        <p:nvSpPr>
          <p:cNvPr id="9" name="Text 5"/>
          <p:cNvSpPr txBox="1"/>
          <p:nvPr/>
        </p:nvSpPr>
        <p:spPr>
          <a:xfrm>
            <a:off x="548640" y="2359152"/>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02</a:t>
            </a:r>
            <a:endParaRPr lang="en-US" sz="1600" dirty="0"/>
          </a:p>
        </p:txBody>
      </p:sp>
      <p:sp>
        <p:nvSpPr>
          <p:cNvPr id="10" name="Text 6"/>
          <p:cNvSpPr txBox="1"/>
          <p:nvPr/>
        </p:nvSpPr>
        <p:spPr>
          <a:xfrm>
            <a:off x="1234440" y="2359152"/>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yo podría aprender de su etapa es…</a:t>
            </a:r>
            <a:endParaRPr lang="en-US" sz="1900" dirty="0"/>
          </a:p>
        </p:txBody>
      </p:sp>
      <p:sp>
        <p:nvSpPr>
          <p:cNvPr id="11" name="Text 7"/>
          <p:cNvSpPr txBox="1"/>
          <p:nvPr/>
        </p:nvSpPr>
        <p:spPr>
          <a:xfrm>
            <a:off x="548640" y="3072384"/>
            <a:ext cx="640080" cy="667512"/>
          </a:xfrm>
          <a:prstGeom prst="rect">
            <a:avLst/>
          </a:prstGeom>
          <a:noFill/>
          <a:ln/>
        </p:spPr>
        <p:txBody>
          <a:bodyPr wrap="square" lIns="0" tIns="0" rIns="0" bIns="0" rtlCol="0" anchor="t"/>
          <a:lstStyle/>
          <a:p>
            <a:pPr indent="0" marL="0">
              <a:buNone/>
            </a:pPr>
            <a:r>
              <a:rPr lang="en-US" sz="1600" b="1" dirty="0">
                <a:solidFill>
                  <a:srgbClr val="FA4642"/>
                </a:solidFill>
                <a:latin typeface="Century Gothic" pitchFamily="34" charset="0"/>
                <a:ea typeface="Century Gothic" pitchFamily="34" charset="-122"/>
                <a:cs typeface="Century Gothic" pitchFamily="34" charset="-120"/>
              </a:rPr>
              <a:t>03</a:t>
            </a:r>
            <a:endParaRPr lang="en-US" sz="1600" dirty="0"/>
          </a:p>
        </p:txBody>
      </p:sp>
      <p:sp>
        <p:nvSpPr>
          <p:cNvPr id="12" name="Text 8"/>
          <p:cNvSpPr txBox="1"/>
          <p:nvPr/>
        </p:nvSpPr>
        <p:spPr>
          <a:xfrm>
            <a:off x="1234440" y="3072384"/>
            <a:ext cx="6035040" cy="667512"/>
          </a:xfrm>
          <a:prstGeom prst="rect">
            <a:avLst/>
          </a:prstGeom>
          <a:noFill/>
          <a:ln/>
        </p:spPr>
        <p:txBody>
          <a:bodyPr wrap="square" lIns="0" tIns="0" rIns="0" bIns="0" rtlCol="0" anchor="t"/>
          <a:lstStyle/>
          <a:p>
            <a:pPr indent="0" marL="0">
              <a:buNone/>
            </a:pPr>
            <a:r>
              <a:rPr lang="en-US" sz="1900" dirty="0">
                <a:solidFill>
                  <a:srgbClr val="1A1A2E"/>
                </a:solidFill>
                <a:latin typeface="Century Gothic" pitchFamily="34" charset="0"/>
                <a:ea typeface="Century Gothic" pitchFamily="34" charset="-122"/>
                <a:cs typeface="Century Gothic" pitchFamily="34" charset="-120"/>
              </a:rPr>
              <a:t>Algo que probablemente ambos queremos es…</a:t>
            </a:r>
            <a:endParaRPr lang="en-US" sz="1900" dirty="0"/>
          </a:p>
        </p:txBody>
      </p:sp>
      <p:sp>
        <p:nvSpPr>
          <p:cNvPr id="13" name="Shape 9"/>
          <p:cNvSpPr/>
          <p:nvPr/>
        </p:nvSpPr>
        <p:spPr>
          <a:xfrm>
            <a:off x="7680960" y="1600200"/>
            <a:ext cx="3959352" cy="4480560"/>
          </a:xfrm>
          <a:prstGeom prst="roundRect">
            <a:avLst>
              <a:gd name="adj" fmla="val 1848"/>
            </a:avLst>
          </a:prstGeom>
          <a:solidFill>
            <a:srgbClr val="F4F5F9"/>
          </a:solidFill>
          <a:ln/>
        </p:spPr>
      </p:sp>
      <p:sp>
        <p:nvSpPr>
          <p:cNvPr id="14" name="Text 10"/>
          <p:cNvSpPr txBox="1"/>
          <p:nvPr/>
        </p:nvSpPr>
        <p:spPr>
          <a:xfrm>
            <a:off x="7955280" y="1783080"/>
            <a:ext cx="34107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CÓMO</a:t>
            </a:r>
            <a:endParaRPr lang="en-US" sz="1000" dirty="0"/>
          </a:p>
        </p:txBody>
      </p:sp>
      <p:sp>
        <p:nvSpPr>
          <p:cNvPr id="15" name="Text 11"/>
          <p:cNvSpPr txBox="1"/>
          <p:nvPr/>
        </p:nvSpPr>
        <p:spPr>
          <a:xfrm>
            <a:off x="7955280" y="2167128"/>
            <a:ext cx="3429000" cy="3749040"/>
          </a:xfrm>
          <a:prstGeom prst="rect">
            <a:avLst/>
          </a:prstGeom>
          <a:noFill/>
          <a:ln/>
        </p:spPr>
        <p:txBody>
          <a:bodyPr wrap="square" lIns="0" tIns="0" rIns="0" bIns="0" rtlCol="0" anchor="t"/>
          <a:lstStyle/>
          <a:p>
            <a:pPr indent="0" marL="0">
              <a:buNone/>
            </a:pPr>
            <a:r>
              <a:rPr lang="en-US" sz="1200" dirty="0">
                <a:solidFill>
                  <a:srgbClr val="1A1A2E"/>
                </a:solidFill>
                <a:latin typeface="Century Gothic" pitchFamily="34" charset="0"/>
                <a:ea typeface="Century Gothic" pitchFamily="34" charset="-122"/>
                <a:cs typeface="Century Gothic" pitchFamily="34" charset="-120"/>
              </a:rPr>
              <a:t>Respondan como creen que respondería su persona. Iniciales, no nombre.</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El par pregunta: “¿Qué tan seguro estás de que diría eso? ¿Cuándo se lo preguntaste por última vez?”</a:t>
            </a:r>
            <a:endParaRPr lang="en-US" sz="1200" dirty="0"/>
          </a:p>
          <a:p>
            <a:pPr indent="0" marL="0">
              <a:buNone/>
            </a:pPr>
            <a:endParaRPr lang="en-US" sz="1200" dirty="0"/>
          </a:p>
          <a:p>
            <a:pPr indent="0" marL="0">
              <a:buNone/>
            </a:pPr>
            <a:r>
              <a:rPr lang="en-US" sz="1200" dirty="0">
                <a:solidFill>
                  <a:srgbClr val="1A1A2E"/>
                </a:solidFill>
                <a:latin typeface="Century Gothic" pitchFamily="34" charset="0"/>
                <a:ea typeface="Century Gothic" pitchFamily="34" charset="-122"/>
                <a:cs typeface="Century Gothic" pitchFamily="34" charset="-120"/>
              </a:rPr>
              <a:t>Hoy imaginamos sus respuestas. La única forma de saber si acertamos es preguntar.</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600" b="1" dirty="0">
                <a:solidFill>
                  <a:srgbClr val="1A1A2E"/>
                </a:solidFill>
                <a:latin typeface="Century Gothic" pitchFamily="34" charset="0"/>
                <a:ea typeface="Century Gothic" pitchFamily="34" charset="-122"/>
                <a:cs typeface="Century Gothic" pitchFamily="34" charset="-120"/>
              </a:rPr>
              <a:t>¿Responderían hoy lo mismo?</a:t>
            </a:r>
            <a:endParaRPr lang="en-US" sz="3600" dirty="0"/>
          </a:p>
        </p:txBody>
      </p:sp>
      <p:sp>
        <p:nvSpPr>
          <p:cNvPr id="4" name="Text 2"/>
          <p:cNvSpPr txBox="1"/>
          <p:nvPr/>
        </p:nvSpPr>
        <p:spPr>
          <a:xfrm>
            <a:off x="548640" y="310896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Abran el sobre con sus respuestas del trabajo previo. Léanlas en silencio. Miren también su resultado del diagnóstico: ¿qué respuesta necesitan usar más con su persona?</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55</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COMPROMISO</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decisión, no una intención</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56</a:t>
            </a:r>
            <a:endParaRPr lang="en-US" sz="750" dirty="0"/>
          </a:p>
        </p:txBody>
      </p:sp>
      <p:sp>
        <p:nvSpPr>
          <p:cNvPr id="7" name="Shape 3"/>
          <p:cNvSpPr/>
          <p:nvPr/>
        </p:nvSpPr>
        <p:spPr>
          <a:xfrm>
            <a:off x="548640" y="1600200"/>
            <a:ext cx="420624" cy="420624"/>
          </a:xfrm>
          <a:prstGeom prst="ellipse">
            <a:avLst/>
          </a:prstGeom>
          <a:solidFill>
            <a:srgbClr val="FF8C47"/>
          </a:solidFill>
          <a:ln/>
        </p:spPr>
      </p:sp>
      <p:sp>
        <p:nvSpPr>
          <p:cNvPr id="8" name="Text 4"/>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1</a:t>
            </a:r>
            <a:endParaRPr lang="en-US" sz="1300" dirty="0"/>
          </a:p>
        </p:txBody>
      </p:sp>
      <p:sp>
        <p:nvSpPr>
          <p:cNvPr id="9" name="Text 5"/>
          <p:cNvSpPr txBox="1"/>
          <p:nvPr/>
        </p:nvSpPr>
        <p:spPr>
          <a:xfrm>
            <a:off x="548640"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DEJAR</a:t>
            </a:r>
            <a:endParaRPr lang="en-US" sz="3400" dirty="0"/>
          </a:p>
        </p:txBody>
      </p:sp>
      <p:sp>
        <p:nvSpPr>
          <p:cNvPr id="10" name="Text 6"/>
          <p:cNvSpPr txBox="1"/>
          <p:nvPr/>
        </p:nvSpPr>
        <p:spPr>
          <a:xfrm>
            <a:off x="548640" y="2724912"/>
            <a:ext cx="3514344" cy="457200"/>
          </a:xfrm>
          <a:prstGeom prst="rect">
            <a:avLst/>
          </a:prstGeom>
          <a:noFill/>
          <a:ln/>
        </p:spPr>
        <p:txBody>
          <a:bodyPr wrap="square" lIns="0" tIns="0" rIns="0" bIns="0" rtlCol="0" anchor="t"/>
          <a:lstStyle/>
          <a:p>
            <a:pPr indent="0" marL="0">
              <a:buNone/>
            </a:pPr>
            <a:r>
              <a:rPr lang="en-US" sz="1400" b="1" dirty="0">
                <a:solidFill>
                  <a:srgbClr val="FF8C47"/>
                </a:solidFill>
                <a:latin typeface="Century Gothic" pitchFamily="34" charset="0"/>
                <a:ea typeface="Century Gothic" pitchFamily="34" charset="-122"/>
                <a:cs typeface="Century Gothic" pitchFamily="34" charset="-120"/>
              </a:rPr>
              <a:t>Algo que dejaré de hacer</a:t>
            </a:r>
            <a:endParaRPr lang="en-US" sz="1400" dirty="0"/>
          </a:p>
        </p:txBody>
      </p:sp>
      <p:sp>
        <p:nvSpPr>
          <p:cNvPr id="11" name="Text 7"/>
          <p:cNvSpPr txBox="1"/>
          <p:nvPr/>
        </p:nvSpPr>
        <p:spPr>
          <a:xfrm>
            <a:off x="548640"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Una conducta concreta, no un rasgo.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responder “todavía te falta piso” sin decir qué falta.</a:t>
            </a:r>
            <a:endParaRPr lang="en-US" sz="1200" dirty="0"/>
          </a:p>
        </p:txBody>
      </p:sp>
      <p:sp>
        <p:nvSpPr>
          <p:cNvPr id="12" name="Shape 8"/>
          <p:cNvSpPr/>
          <p:nvPr/>
        </p:nvSpPr>
        <p:spPr>
          <a:xfrm>
            <a:off x="4337304" y="1600200"/>
            <a:ext cx="420624" cy="420624"/>
          </a:xfrm>
          <a:prstGeom prst="ellipse">
            <a:avLst/>
          </a:prstGeom>
          <a:solidFill>
            <a:srgbClr val="FA4642"/>
          </a:solidFill>
          <a:ln/>
        </p:spPr>
      </p:sp>
      <p:sp>
        <p:nvSpPr>
          <p:cNvPr id="13" name="Text 9"/>
          <p:cNvSpPr txBox="1"/>
          <p:nvPr/>
        </p:nvSpPr>
        <p:spPr>
          <a:xfrm>
            <a:off x="4337304"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2</a:t>
            </a:r>
            <a:endParaRPr lang="en-US" sz="1300" dirty="0"/>
          </a:p>
        </p:txBody>
      </p:sp>
      <p:sp>
        <p:nvSpPr>
          <p:cNvPr id="14" name="Text 10"/>
          <p:cNvSpPr txBox="1"/>
          <p:nvPr/>
        </p:nvSpPr>
        <p:spPr>
          <a:xfrm>
            <a:off x="4337304"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EMPEZAR</a:t>
            </a:r>
            <a:endParaRPr lang="en-US" sz="3400" dirty="0"/>
          </a:p>
        </p:txBody>
      </p:sp>
      <p:sp>
        <p:nvSpPr>
          <p:cNvPr id="15" name="Text 11"/>
          <p:cNvSpPr txBox="1"/>
          <p:nvPr/>
        </p:nvSpPr>
        <p:spPr>
          <a:xfrm>
            <a:off x="4337304" y="2724912"/>
            <a:ext cx="3514344" cy="457200"/>
          </a:xfrm>
          <a:prstGeom prst="rect">
            <a:avLst/>
          </a:prstGeom>
          <a:noFill/>
          <a:ln/>
        </p:spPr>
        <p:txBody>
          <a:bodyPr wrap="square" lIns="0" tIns="0" rIns="0" bIns="0" rtlCol="0" anchor="t"/>
          <a:lstStyle/>
          <a:p>
            <a:pPr indent="0" marL="0">
              <a:buNone/>
            </a:pPr>
            <a:r>
              <a:rPr lang="en-US" sz="1400" b="1" dirty="0">
                <a:solidFill>
                  <a:srgbClr val="FA4642"/>
                </a:solidFill>
                <a:latin typeface="Century Gothic" pitchFamily="34" charset="0"/>
                <a:ea typeface="Century Gothic" pitchFamily="34" charset="-122"/>
                <a:cs typeface="Century Gothic" pitchFamily="34" charset="-120"/>
              </a:rPr>
              <a:t>Algo que empezaré a hacer</a:t>
            </a:r>
            <a:endParaRPr lang="en-US" sz="1400" dirty="0"/>
          </a:p>
        </p:txBody>
      </p:sp>
      <p:sp>
        <p:nvSpPr>
          <p:cNvPr id="16" name="Text 12"/>
          <p:cNvSpPr txBox="1"/>
          <p:nvPr/>
        </p:nvSpPr>
        <p:spPr>
          <a:xfrm>
            <a:off x="4337304"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Observable por mi equipo.</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preguntar antes de concluir.</a:t>
            </a:r>
            <a:endParaRPr lang="en-US" sz="1200" dirty="0"/>
          </a:p>
        </p:txBody>
      </p:sp>
      <p:sp>
        <p:nvSpPr>
          <p:cNvPr id="17" name="Shape 13"/>
          <p:cNvSpPr/>
          <p:nvPr/>
        </p:nvSpPr>
        <p:spPr>
          <a:xfrm>
            <a:off x="8125968" y="1600200"/>
            <a:ext cx="420624" cy="420624"/>
          </a:xfrm>
          <a:prstGeom prst="ellipse">
            <a:avLst/>
          </a:prstGeom>
          <a:solidFill>
            <a:srgbClr val="AA0582"/>
          </a:solidFill>
          <a:ln/>
        </p:spPr>
      </p:sp>
      <p:sp>
        <p:nvSpPr>
          <p:cNvPr id="18" name="Text 14"/>
          <p:cNvSpPr txBox="1"/>
          <p:nvPr/>
        </p:nvSpPr>
        <p:spPr>
          <a:xfrm>
            <a:off x="8125968" y="16002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entury Gothic" pitchFamily="34" charset="0"/>
                <a:ea typeface="Century Gothic" pitchFamily="34" charset="-122"/>
                <a:cs typeface="Century Gothic" pitchFamily="34" charset="-120"/>
              </a:rPr>
              <a:t>3</a:t>
            </a:r>
            <a:endParaRPr lang="en-US" sz="1300" dirty="0"/>
          </a:p>
        </p:txBody>
      </p:sp>
      <p:sp>
        <p:nvSpPr>
          <p:cNvPr id="19" name="Text 15"/>
          <p:cNvSpPr txBox="1"/>
          <p:nvPr/>
        </p:nvSpPr>
        <p:spPr>
          <a:xfrm>
            <a:off x="8125968" y="2103120"/>
            <a:ext cx="3514344" cy="640080"/>
          </a:xfrm>
          <a:prstGeom prst="rect">
            <a:avLst/>
          </a:prstGeom>
          <a:noFill/>
          <a:ln/>
        </p:spPr>
        <p:txBody>
          <a:bodyPr wrap="square" lIns="0" tIns="0" rIns="0" bIns="0" rtlCol="0" anchor="ctr"/>
          <a:lstStyle/>
          <a:p>
            <a:pPr indent="0" marL="0">
              <a:buNone/>
            </a:pPr>
            <a:r>
              <a:rPr lang="en-US" sz="3400" b="1" dirty="0">
                <a:solidFill>
                  <a:srgbClr val="1A1A2E"/>
                </a:solidFill>
                <a:latin typeface="Century Gothic" pitchFamily="34" charset="0"/>
                <a:ea typeface="Century Gothic" pitchFamily="34" charset="-122"/>
                <a:cs typeface="Century Gothic" pitchFamily="34" charset="-120"/>
              </a:rPr>
              <a:t>MANTENER</a:t>
            </a:r>
            <a:endParaRPr lang="en-US" sz="3400" dirty="0"/>
          </a:p>
        </p:txBody>
      </p:sp>
      <p:sp>
        <p:nvSpPr>
          <p:cNvPr id="20" name="Text 16"/>
          <p:cNvSpPr txBox="1"/>
          <p:nvPr/>
        </p:nvSpPr>
        <p:spPr>
          <a:xfrm>
            <a:off x="8125968" y="2724912"/>
            <a:ext cx="3514344" cy="457200"/>
          </a:xfrm>
          <a:prstGeom prst="rect">
            <a:avLst/>
          </a:prstGeom>
          <a:noFill/>
          <a:ln/>
        </p:spPr>
        <p:txBody>
          <a:bodyPr wrap="square" lIns="0" tIns="0" rIns="0" bIns="0" rtlCol="0" anchor="t"/>
          <a:lstStyle/>
          <a:p>
            <a:pPr indent="0" marL="0">
              <a:buNone/>
            </a:pPr>
            <a:r>
              <a:rPr lang="en-US" sz="1400" b="1" dirty="0">
                <a:solidFill>
                  <a:srgbClr val="AA0582"/>
                </a:solidFill>
                <a:latin typeface="Century Gothic" pitchFamily="34" charset="0"/>
                <a:ea typeface="Century Gothic" pitchFamily="34" charset="-122"/>
                <a:cs typeface="Century Gothic" pitchFamily="34" charset="-120"/>
              </a:rPr>
              <a:t>Algo que ya hago bien</a:t>
            </a:r>
            <a:endParaRPr lang="en-US" sz="1400" dirty="0"/>
          </a:p>
        </p:txBody>
      </p:sp>
      <p:sp>
        <p:nvSpPr>
          <p:cNvPr id="21" name="Text 17"/>
          <p:cNvSpPr txBox="1"/>
          <p:nvPr/>
        </p:nvSpPr>
        <p:spPr>
          <a:xfrm>
            <a:off x="8125968" y="3200400"/>
            <a:ext cx="3422904" cy="2103120"/>
          </a:xfrm>
          <a:prstGeom prst="rect">
            <a:avLst/>
          </a:prstGeom>
          <a:noFill/>
          <a:ln/>
        </p:spPr>
        <p:txBody>
          <a:bodyPr wrap="square" lIns="0" tIns="0" rIns="0" bIns="0" rtlCol="0" anchor="t"/>
          <a:lstStyle/>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Lo que sí funciona y voy a sostener.</a:t>
            </a:r>
            <a:endParaRPr lang="en-US" sz="1200" dirty="0"/>
          </a:p>
          <a:p>
            <a:pPr marL="213360" indent="-213360">
              <a:spcAft>
                <a:spcPts val="720"/>
              </a:spcAft>
              <a:buSzPct val="100000"/>
              <a:buChar char="•"/>
            </a:pPr>
            <a:r>
              <a:rPr lang="en-US" sz="1200" dirty="0">
                <a:solidFill>
                  <a:srgbClr val="1A1A2E"/>
                </a:solidFill>
                <a:latin typeface="Century Gothic" pitchFamily="34" charset="0"/>
                <a:ea typeface="Century Gothic" pitchFamily="34" charset="-122"/>
                <a:cs typeface="Century Gothic" pitchFamily="34" charset="-120"/>
              </a:rPr>
              <a:t>Ejemplo: ser claro con el estándar de seguridad.</a:t>
            </a:r>
            <a:endParaRPr lang="en-US" sz="1200" dirty="0"/>
          </a:p>
        </p:txBody>
      </p:sp>
      <p:sp>
        <p:nvSpPr>
          <p:cNvPr id="22" name="Text 18"/>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Una persona, una conversación: en los próximos 7 días tendré una conversación distinta con ___ sobre ___.</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ANTES DE CERRAR</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Dos minutos en silencio para la encuesta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57</a:t>
            </a:r>
            <a:endParaRPr lang="en-US" sz="750" dirty="0"/>
          </a:p>
        </p:txBody>
      </p:sp>
      <p:sp>
        <p:nvSpPr>
          <p:cNvPr id="7" name="Shape 3"/>
          <p:cNvSpPr/>
          <p:nvPr/>
        </p:nvSpPr>
        <p:spPr>
          <a:xfrm>
            <a:off x="548640" y="1691640"/>
            <a:ext cx="2926080" cy="2926080"/>
          </a:xfrm>
          <a:prstGeom prst="roundRect">
            <a:avLst>
              <a:gd name="adj" fmla="val 2500"/>
            </a:avLst>
          </a:prstGeom>
          <a:solidFill>
            <a:srgbClr val="FFFFFF"/>
          </a:solidFill>
          <a:ln w="25400">
            <a:solidFill>
              <a:srgbClr val="1A1A2E"/>
            </a:solidFill>
            <a:prstDash val="solid"/>
          </a:ln>
        </p:spPr>
      </p:sp>
      <p:sp>
        <p:nvSpPr>
          <p:cNvPr id="8" name="Text 4"/>
          <p:cNvSpPr txBox="1"/>
          <p:nvPr/>
        </p:nvSpPr>
        <p:spPr>
          <a:xfrm>
            <a:off x="731520" y="2651760"/>
            <a:ext cx="2560320" cy="914400"/>
          </a:xfrm>
          <a:prstGeom prst="rect">
            <a:avLst/>
          </a:prstGeom>
          <a:noFill/>
          <a:ln/>
        </p:spPr>
        <p:txBody>
          <a:bodyPr wrap="square" lIns="0" tIns="0" rIns="0" bIns="0" rtlCol="0" anchor="ctr"/>
          <a:lstStyle/>
          <a:p>
            <a:pPr algn="ctr" indent="0" marL="0">
              <a:buNone/>
            </a:pPr>
            <a:r>
              <a:rPr lang="en-US" sz="1100" dirty="0">
                <a:solidFill>
                  <a:srgbClr val="5A5A6E"/>
                </a:solidFill>
                <a:latin typeface="Century Gothic" pitchFamily="34" charset="0"/>
                <a:ea typeface="Century Gothic" pitchFamily="34" charset="-122"/>
                <a:cs typeface="Century Gothic" pitchFamily="34" charset="-120"/>
              </a:rPr>
              <a:t>Código QR de la encuesta institucional</a:t>
            </a:r>
            <a:endParaRPr lang="en-US" sz="1100" dirty="0"/>
          </a:p>
        </p:txBody>
      </p:sp>
      <p:sp>
        <p:nvSpPr>
          <p:cNvPr id="9" name="Shape 5"/>
          <p:cNvSpPr/>
          <p:nvPr/>
        </p:nvSpPr>
        <p:spPr>
          <a:xfrm>
            <a:off x="548640" y="4800600"/>
            <a:ext cx="2926080" cy="237744"/>
          </a:xfrm>
          <a:prstGeom prst="rect">
            <a:avLst/>
          </a:prstGeom>
          <a:solidFill>
            <a:srgbClr val="FFF4D6"/>
          </a:solidFill>
          <a:ln/>
        </p:spPr>
      </p:sp>
      <p:sp>
        <p:nvSpPr>
          <p:cNvPr id="10" name="Text 6"/>
          <p:cNvSpPr txBox="1"/>
          <p:nvPr/>
        </p:nvSpPr>
        <p:spPr>
          <a:xfrm>
            <a:off x="640080" y="4800600"/>
            <a:ext cx="2743200" cy="237744"/>
          </a:xfrm>
          <a:prstGeom prst="rect">
            <a:avLst/>
          </a:prstGeom>
          <a:noFill/>
          <a:ln/>
        </p:spPr>
        <p:txBody>
          <a:bodyPr wrap="square" lIns="0" tIns="0" rIns="0" bIns="0" rtlCol="0" anchor="ctr"/>
          <a:lstStyle/>
          <a:p>
            <a:pPr indent="0" marL="0">
              <a:buNone/>
            </a:pPr>
            <a:r>
              <a:rPr lang="en-US" sz="750" b="1" spc="100" kern="0" dirty="0">
                <a:solidFill>
                  <a:srgbClr val="8A5A00"/>
                </a:solidFill>
                <a:latin typeface="Century Gothic" pitchFamily="34" charset="0"/>
                <a:ea typeface="Century Gothic" pitchFamily="34" charset="-122"/>
                <a:cs typeface="Century Gothic" pitchFamily="34" charset="-120"/>
              </a:rPr>
              <a:t>POR CONFIRMAR  </a:t>
            </a:r>
            <a:pPr indent="0" marL="0">
              <a:buNone/>
            </a:pPr>
            <a:r>
              <a:rPr lang="en-US" sz="750" dirty="0">
                <a:solidFill>
                  <a:srgbClr val="8A5A00"/>
                </a:solidFill>
                <a:latin typeface="Century Gothic" pitchFamily="34" charset="0"/>
                <a:ea typeface="Century Gothic" pitchFamily="34" charset="-122"/>
                <a:cs typeface="Century Gothic" pitchFamily="34" charset="-120"/>
              </a:rPr>
              <a:t>Insertar QR en T–3</a:t>
            </a:r>
            <a:endParaRPr lang="en-US" sz="750" dirty="0"/>
          </a:p>
        </p:txBody>
      </p:sp>
      <p:sp>
        <p:nvSpPr>
          <p:cNvPr id="11" name="Text 7"/>
          <p:cNvSpPr txBox="1"/>
          <p:nvPr/>
        </p:nvSpPr>
        <p:spPr>
          <a:xfrm>
            <a:off x="4023360" y="1737360"/>
            <a:ext cx="7315200" cy="548640"/>
          </a:xfrm>
          <a:prstGeom prst="rect">
            <a:avLst/>
          </a:prstGeom>
          <a:noFill/>
          <a:ln/>
        </p:spPr>
        <p:txBody>
          <a:bodyPr wrap="square" lIns="0" tIns="0" rIns="0" bIns="0" rtlCol="0" anchor="t"/>
          <a:lstStyle/>
          <a:p>
            <a:pPr indent="0" marL="0">
              <a:buNone/>
            </a:pPr>
            <a:r>
              <a:rPr lang="en-US" sz="2200" b="1" dirty="0">
                <a:solidFill>
                  <a:srgbClr val="1A1A2E"/>
                </a:solidFill>
                <a:latin typeface="Century Gothic" pitchFamily="34" charset="0"/>
                <a:ea typeface="Century Gothic" pitchFamily="34" charset="-122"/>
                <a:cs typeface="Century Gothic" pitchFamily="34" charset="-120"/>
              </a:rPr>
              <a:t>Anónima. Dos minutos.</a:t>
            </a:r>
            <a:endParaRPr lang="en-US" sz="2200" dirty="0"/>
          </a:p>
        </p:txBody>
      </p:sp>
      <p:sp>
        <p:nvSpPr>
          <p:cNvPr id="12" name="Text 8"/>
          <p:cNvSpPr txBox="1"/>
          <p:nvPr/>
        </p:nvSpPr>
        <p:spPr>
          <a:xfrm>
            <a:off x="4023360" y="2468880"/>
            <a:ext cx="7498080" cy="2011680"/>
          </a:xfrm>
          <a:prstGeom prst="rect">
            <a:avLst/>
          </a:prstGeom>
          <a:noFill/>
          <a:ln/>
        </p:spPr>
        <p:txBody>
          <a:bodyPr wrap="square" lIns="0" tIns="0" rIns="0" bIns="0" rtlCol="0" anchor="t"/>
          <a:lstStyle/>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Relevancia para los retos reales de su equipo.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el taller respetó su experiencia.</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Si al releer su trabajo previo respondería lo mismo.</a:t>
            </a:r>
            <a:endParaRPr lang="en-US" sz="1500" dirty="0"/>
          </a:p>
          <a:p>
            <a:pPr marL="266700" indent="-266700">
              <a:spcAft>
                <a:spcPts val="900"/>
              </a:spcAft>
              <a:buSzPct val="100000"/>
              <a:buChar char="•"/>
            </a:pPr>
            <a:r>
              <a:rPr lang="en-US" sz="1500" dirty="0">
                <a:solidFill>
                  <a:srgbClr val="1A1A2E"/>
                </a:solidFill>
                <a:latin typeface="Century Gothic" pitchFamily="34" charset="0"/>
                <a:ea typeface="Century Gothic" pitchFamily="34" charset="-122"/>
                <a:cs typeface="Century Gothic" pitchFamily="34" charset="-120"/>
              </a:rPr>
              <a:t>Qué cambiaría para la siguiente cohorte.</a:t>
            </a:r>
            <a:endParaRPr lang="en-US" sz="1500" dirty="0"/>
          </a:p>
        </p:txBody>
      </p:sp>
      <p:sp>
        <p:nvSpPr>
          <p:cNvPr id="13" name="Shape 9"/>
          <p:cNvSpPr/>
          <p:nvPr/>
        </p:nvSpPr>
        <p:spPr>
          <a:xfrm>
            <a:off x="4023360" y="4572000"/>
            <a:ext cx="7616952" cy="1463040"/>
          </a:xfrm>
          <a:prstGeom prst="roundRect">
            <a:avLst>
              <a:gd name="adj" fmla="val 5000"/>
            </a:avLst>
          </a:prstGeom>
          <a:solidFill>
            <a:srgbClr val="F4F5F9"/>
          </a:solidFill>
          <a:ln/>
        </p:spPr>
      </p:sp>
      <p:sp>
        <p:nvSpPr>
          <p:cNvPr id="14" name="Text 10"/>
          <p:cNvSpPr txBox="1"/>
          <p:nvPr/>
        </p:nvSpPr>
        <p:spPr>
          <a:xfrm>
            <a:off x="4297680" y="4754880"/>
            <a:ext cx="7068312"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EN SU SOBRE</a:t>
            </a:r>
            <a:endParaRPr lang="en-US" sz="1000" dirty="0"/>
          </a:p>
        </p:txBody>
      </p:sp>
      <p:sp>
        <p:nvSpPr>
          <p:cNvPr id="15" name="Text 11"/>
          <p:cNvSpPr txBox="1"/>
          <p:nvPr/>
        </p:nvSpPr>
        <p:spPr>
          <a:xfrm>
            <a:off x="4297680" y="5093208"/>
            <a:ext cx="7132320" cy="640080"/>
          </a:xfrm>
          <a:prstGeom prst="rect">
            <a:avLst/>
          </a:prstGeom>
          <a:noFill/>
          <a:ln/>
        </p:spPr>
        <p:txBody>
          <a:bodyPr wrap="square" lIns="0" tIns="0" rIns="0" bIns="0" rtlCol="0" anchor="t"/>
          <a:lstStyle/>
          <a:p>
            <a:pPr indent="0" marL="0">
              <a:buNone/>
            </a:pPr>
            <a:r>
              <a:rPr lang="en-US" sz="1250" dirty="0">
                <a:solidFill>
                  <a:srgbClr val="1A1A2E"/>
                </a:solidFill>
                <a:latin typeface="Century Gothic" pitchFamily="34" charset="0"/>
                <a:ea typeface="Century Gothic" pitchFamily="34" charset="-122"/>
                <a:cs typeface="Century Gothic" pitchFamily="34" charset="-120"/>
              </a:rPr>
              <a:t>La tarjeta del Experimento de Liderazgo a 30 días: una persona que les cueste leer; leer, adaptar, alinear.</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EXPERIMENTO DE LIDERAZGO A 30 DÍAS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Una persona que me cuesta leer. Treinta días</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58</a:t>
            </a:r>
            <a:endParaRPr lang="en-US" sz="750" dirty="0"/>
          </a:p>
        </p:txBody>
      </p:sp>
      <p:sp>
        <p:nvSpPr>
          <p:cNvPr id="7" name="Shape 3"/>
          <p:cNvSpPr/>
          <p:nvPr/>
        </p:nvSpPr>
        <p:spPr>
          <a:xfrm>
            <a:off x="1655064" y="1965960"/>
            <a:ext cx="8851392" cy="0"/>
          </a:xfrm>
          <a:prstGeom prst="line">
            <a:avLst/>
          </a:prstGeom>
          <a:noFill/>
          <a:ln w="12700">
            <a:solidFill>
              <a:srgbClr val="D6D8EA"/>
            </a:solidFill>
            <a:prstDash val="solid"/>
          </a:ln>
        </p:spPr>
      </p:sp>
      <p:sp>
        <p:nvSpPr>
          <p:cNvPr id="8" name="Shape 4"/>
          <p:cNvSpPr/>
          <p:nvPr/>
        </p:nvSpPr>
        <p:spPr>
          <a:xfrm>
            <a:off x="1472184" y="1783080"/>
            <a:ext cx="365760" cy="365760"/>
          </a:xfrm>
          <a:prstGeom prst="ellipse">
            <a:avLst/>
          </a:prstGeom>
          <a:solidFill>
            <a:srgbClr val="FF8C47"/>
          </a:solidFill>
          <a:ln/>
        </p:spPr>
      </p:sp>
      <p:sp>
        <p:nvSpPr>
          <p:cNvPr id="9" name="Text 5"/>
          <p:cNvSpPr txBox="1"/>
          <p:nvPr/>
        </p:nvSpPr>
        <p:spPr>
          <a:xfrm>
            <a:off x="1472184"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1</a:t>
            </a:r>
            <a:endParaRPr lang="en-US" sz="1000" dirty="0"/>
          </a:p>
        </p:txBody>
      </p:sp>
      <p:sp>
        <p:nvSpPr>
          <p:cNvPr id="10" name="Text 6"/>
          <p:cNvSpPr txBox="1"/>
          <p:nvPr/>
        </p:nvSpPr>
        <p:spPr>
          <a:xfrm>
            <a:off x="594360"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Elegir a la persona</a:t>
            </a:r>
            <a:endParaRPr lang="en-US" sz="1000" dirty="0"/>
          </a:p>
        </p:txBody>
      </p:sp>
      <p:sp>
        <p:nvSpPr>
          <p:cNvPr id="11" name="Text 7"/>
          <p:cNvSpPr txBox="1"/>
          <p:nvPr/>
        </p:nvSpPr>
        <p:spPr>
          <a:xfrm>
            <a:off x="594360"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1</a:t>
            </a:r>
            <a:endParaRPr lang="en-US" sz="900" dirty="0"/>
          </a:p>
        </p:txBody>
      </p:sp>
      <p:sp>
        <p:nvSpPr>
          <p:cNvPr id="12" name="Shape 8"/>
          <p:cNvSpPr/>
          <p:nvPr/>
        </p:nvSpPr>
        <p:spPr>
          <a:xfrm>
            <a:off x="3685032" y="1783080"/>
            <a:ext cx="365760" cy="365760"/>
          </a:xfrm>
          <a:prstGeom prst="ellipse">
            <a:avLst/>
          </a:prstGeom>
          <a:solidFill>
            <a:srgbClr val="FA4642"/>
          </a:solidFill>
          <a:ln/>
        </p:spPr>
      </p:sp>
      <p:sp>
        <p:nvSpPr>
          <p:cNvPr id="13" name="Text 9"/>
          <p:cNvSpPr txBox="1"/>
          <p:nvPr/>
        </p:nvSpPr>
        <p:spPr>
          <a:xfrm>
            <a:off x="3685032"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2</a:t>
            </a:r>
            <a:endParaRPr lang="en-US" sz="1000" dirty="0"/>
          </a:p>
        </p:txBody>
      </p:sp>
      <p:sp>
        <p:nvSpPr>
          <p:cNvPr id="14" name="Text 10"/>
          <p:cNvSpPr txBox="1"/>
          <p:nvPr/>
        </p:nvSpPr>
        <p:spPr>
          <a:xfrm>
            <a:off x="2807208"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LEER: conversación para preguntar</a:t>
            </a:r>
            <a:endParaRPr lang="en-US" sz="1000" dirty="0"/>
          </a:p>
        </p:txBody>
      </p:sp>
      <p:sp>
        <p:nvSpPr>
          <p:cNvPr id="15" name="Text 11"/>
          <p:cNvSpPr txBox="1"/>
          <p:nvPr/>
        </p:nvSpPr>
        <p:spPr>
          <a:xfrm>
            <a:off x="2807208"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1</a:t>
            </a:r>
            <a:endParaRPr lang="en-US" sz="900" dirty="0"/>
          </a:p>
        </p:txBody>
      </p:sp>
      <p:sp>
        <p:nvSpPr>
          <p:cNvPr id="16" name="Shape 12"/>
          <p:cNvSpPr/>
          <p:nvPr/>
        </p:nvSpPr>
        <p:spPr>
          <a:xfrm>
            <a:off x="5897880" y="1783080"/>
            <a:ext cx="365760" cy="365760"/>
          </a:xfrm>
          <a:prstGeom prst="ellipse">
            <a:avLst/>
          </a:prstGeom>
          <a:solidFill>
            <a:srgbClr val="DB2259"/>
          </a:solidFill>
          <a:ln/>
        </p:spPr>
      </p:sp>
      <p:sp>
        <p:nvSpPr>
          <p:cNvPr id="17" name="Text 13"/>
          <p:cNvSpPr txBox="1"/>
          <p:nvPr/>
        </p:nvSpPr>
        <p:spPr>
          <a:xfrm>
            <a:off x="5897880"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3</a:t>
            </a:r>
            <a:endParaRPr lang="en-US" sz="1000" dirty="0"/>
          </a:p>
        </p:txBody>
      </p:sp>
      <p:sp>
        <p:nvSpPr>
          <p:cNvPr id="18" name="Text 14"/>
          <p:cNvSpPr txBox="1"/>
          <p:nvPr/>
        </p:nvSpPr>
        <p:spPr>
          <a:xfrm>
            <a:off x="5020056"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ADAPTAR: una o dos variables</a:t>
            </a:r>
            <a:endParaRPr lang="en-US" sz="1000" dirty="0"/>
          </a:p>
        </p:txBody>
      </p:sp>
      <p:sp>
        <p:nvSpPr>
          <p:cNvPr id="19" name="Text 15"/>
          <p:cNvSpPr txBox="1"/>
          <p:nvPr/>
        </p:nvSpPr>
        <p:spPr>
          <a:xfrm>
            <a:off x="5020056"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Semanas 2–3</a:t>
            </a:r>
            <a:endParaRPr lang="en-US" sz="900" dirty="0"/>
          </a:p>
        </p:txBody>
      </p:sp>
      <p:sp>
        <p:nvSpPr>
          <p:cNvPr id="20" name="Shape 16"/>
          <p:cNvSpPr/>
          <p:nvPr/>
        </p:nvSpPr>
        <p:spPr>
          <a:xfrm>
            <a:off x="8110728" y="1783080"/>
            <a:ext cx="365760" cy="365760"/>
          </a:xfrm>
          <a:prstGeom prst="ellipse">
            <a:avLst/>
          </a:prstGeom>
          <a:solidFill>
            <a:srgbClr val="C8136C"/>
          </a:solidFill>
          <a:ln/>
        </p:spPr>
      </p:sp>
      <p:sp>
        <p:nvSpPr>
          <p:cNvPr id="21" name="Text 17"/>
          <p:cNvSpPr txBox="1"/>
          <p:nvPr/>
        </p:nvSpPr>
        <p:spPr>
          <a:xfrm>
            <a:off x="8110728"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4</a:t>
            </a:r>
            <a:endParaRPr lang="en-US" sz="1000" dirty="0"/>
          </a:p>
        </p:txBody>
      </p:sp>
      <p:sp>
        <p:nvSpPr>
          <p:cNvPr id="22" name="Text 18"/>
          <p:cNvSpPr txBox="1"/>
          <p:nvPr/>
        </p:nvSpPr>
        <p:spPr>
          <a:xfrm>
            <a:off x="7232904"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ALINEAR: resultado y estándar</a:t>
            </a:r>
            <a:endParaRPr lang="en-US" sz="1000" dirty="0"/>
          </a:p>
        </p:txBody>
      </p:sp>
      <p:sp>
        <p:nvSpPr>
          <p:cNvPr id="23" name="Text 19"/>
          <p:cNvSpPr txBox="1"/>
          <p:nvPr/>
        </p:nvSpPr>
        <p:spPr>
          <a:xfrm>
            <a:off x="7232904"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Semana 4</a:t>
            </a:r>
            <a:endParaRPr lang="en-US" sz="900" dirty="0"/>
          </a:p>
        </p:txBody>
      </p:sp>
      <p:sp>
        <p:nvSpPr>
          <p:cNvPr id="24" name="Shape 20"/>
          <p:cNvSpPr/>
          <p:nvPr/>
        </p:nvSpPr>
        <p:spPr>
          <a:xfrm>
            <a:off x="10323576" y="1783080"/>
            <a:ext cx="365760" cy="365760"/>
          </a:xfrm>
          <a:prstGeom prst="ellipse">
            <a:avLst/>
          </a:prstGeom>
          <a:solidFill>
            <a:srgbClr val="5B2A86"/>
          </a:solidFill>
          <a:ln/>
        </p:spPr>
      </p:sp>
      <p:sp>
        <p:nvSpPr>
          <p:cNvPr id="25" name="Text 21"/>
          <p:cNvSpPr txBox="1"/>
          <p:nvPr/>
        </p:nvSpPr>
        <p:spPr>
          <a:xfrm>
            <a:off x="10323576" y="1783080"/>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entury Gothic" pitchFamily="34" charset="0"/>
                <a:ea typeface="Century Gothic" pitchFamily="34" charset="-122"/>
                <a:cs typeface="Century Gothic" pitchFamily="34" charset="-120"/>
              </a:rPr>
              <a:t>5</a:t>
            </a:r>
            <a:endParaRPr lang="en-US" sz="1000" dirty="0"/>
          </a:p>
        </p:txBody>
      </p:sp>
      <p:sp>
        <p:nvSpPr>
          <p:cNvPr id="26" name="Text 22"/>
          <p:cNvSpPr txBox="1"/>
          <p:nvPr/>
        </p:nvSpPr>
        <p:spPr>
          <a:xfrm>
            <a:off x="9445752" y="2240280"/>
            <a:ext cx="2121408" cy="457200"/>
          </a:xfrm>
          <a:prstGeom prst="rect">
            <a:avLst/>
          </a:prstGeom>
          <a:noFill/>
          <a:ln/>
        </p:spPr>
        <p:txBody>
          <a:bodyPr wrap="square" lIns="0" tIns="0" rIns="0" bIns="0" rtlCol="0" anchor="t"/>
          <a:lstStyle/>
          <a:p>
            <a:pPr algn="ctr" indent="0" marL="0">
              <a:buNone/>
            </a:pPr>
            <a:r>
              <a:rPr lang="en-US" sz="1000" b="1" dirty="0">
                <a:solidFill>
                  <a:srgbClr val="1A1A2E"/>
                </a:solidFill>
                <a:latin typeface="Century Gothic" pitchFamily="34" charset="0"/>
                <a:ea typeface="Century Gothic" pitchFamily="34" charset="-122"/>
                <a:cs typeface="Century Gothic" pitchFamily="34" charset="-120"/>
              </a:rPr>
              <a:t>Compartir aprendizajes</a:t>
            </a:r>
            <a:endParaRPr lang="en-US" sz="1000" dirty="0"/>
          </a:p>
        </p:txBody>
      </p:sp>
      <p:sp>
        <p:nvSpPr>
          <p:cNvPr id="27" name="Text 23"/>
          <p:cNvSpPr txBox="1"/>
          <p:nvPr/>
        </p:nvSpPr>
        <p:spPr>
          <a:xfrm>
            <a:off x="9445752" y="2697480"/>
            <a:ext cx="2121408" cy="274320"/>
          </a:xfrm>
          <a:prstGeom prst="rect">
            <a:avLst/>
          </a:prstGeom>
          <a:noFill/>
          <a:ln/>
        </p:spPr>
        <p:txBody>
          <a:bodyPr wrap="square" lIns="0" tIns="0" rIns="0" bIns="0" rtlCol="0" anchor="t"/>
          <a:lstStyle/>
          <a:p>
            <a:pPr algn="ctr" indent="0" marL="0">
              <a:buNone/>
            </a:pPr>
            <a:r>
              <a:rPr lang="en-US" sz="900" dirty="0">
                <a:solidFill>
                  <a:srgbClr val="FF8C47"/>
                </a:solidFill>
                <a:latin typeface="Century Gothic" pitchFamily="34" charset="0"/>
                <a:ea typeface="Century Gothic" pitchFamily="34" charset="-122"/>
                <a:cs typeface="Century Gothic" pitchFamily="34" charset="-120"/>
              </a:rPr>
              <a:t>Día 35–45</a:t>
            </a:r>
            <a:endParaRPr lang="en-US" sz="900" dirty="0"/>
          </a:p>
        </p:txBody>
      </p:sp>
      <p:sp>
        <p:nvSpPr>
          <p:cNvPr id="28" name="Shape 24"/>
          <p:cNvSpPr/>
          <p:nvPr/>
        </p:nvSpPr>
        <p:spPr>
          <a:xfrm>
            <a:off x="548640" y="3749040"/>
            <a:ext cx="2103120" cy="1371600"/>
          </a:xfrm>
          <a:prstGeom prst="roundRect">
            <a:avLst>
              <a:gd name="adj" fmla="val 4000"/>
            </a:avLst>
          </a:prstGeom>
          <a:solidFill>
            <a:srgbClr val="F4F5F9"/>
          </a:solidFill>
          <a:ln/>
        </p:spPr>
      </p:sp>
      <p:sp>
        <p:nvSpPr>
          <p:cNvPr id="29" name="Text 25"/>
          <p:cNvSpPr txBox="1"/>
          <p:nvPr/>
        </p:nvSpPr>
        <p:spPr>
          <a:xfrm>
            <a:off x="685800"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supuse</a:t>
            </a:r>
            <a:endParaRPr lang="en-US" sz="1400" dirty="0"/>
          </a:p>
        </p:txBody>
      </p:sp>
      <p:sp>
        <p:nvSpPr>
          <p:cNvPr id="30" name="Shape 26"/>
          <p:cNvSpPr/>
          <p:nvPr/>
        </p:nvSpPr>
        <p:spPr>
          <a:xfrm>
            <a:off x="2779776" y="3749040"/>
            <a:ext cx="2103120" cy="1371600"/>
          </a:xfrm>
          <a:prstGeom prst="roundRect">
            <a:avLst>
              <a:gd name="adj" fmla="val 4000"/>
            </a:avLst>
          </a:prstGeom>
          <a:solidFill>
            <a:srgbClr val="F4F5F9"/>
          </a:solidFill>
          <a:ln/>
        </p:spPr>
      </p:sp>
      <p:sp>
        <p:nvSpPr>
          <p:cNvPr id="31" name="Text 27"/>
          <p:cNvSpPr txBox="1"/>
          <p:nvPr/>
        </p:nvSpPr>
        <p:spPr>
          <a:xfrm>
            <a:off x="2916936"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pregunté</a:t>
            </a:r>
            <a:endParaRPr lang="en-US" sz="1400" dirty="0"/>
          </a:p>
        </p:txBody>
      </p:sp>
      <p:sp>
        <p:nvSpPr>
          <p:cNvPr id="32" name="Shape 28"/>
          <p:cNvSpPr/>
          <p:nvPr/>
        </p:nvSpPr>
        <p:spPr>
          <a:xfrm>
            <a:off x="5010912" y="3749040"/>
            <a:ext cx="2103120" cy="1371600"/>
          </a:xfrm>
          <a:prstGeom prst="roundRect">
            <a:avLst>
              <a:gd name="adj" fmla="val 4000"/>
            </a:avLst>
          </a:prstGeom>
          <a:solidFill>
            <a:srgbClr val="F4F5F9"/>
          </a:solidFill>
          <a:ln/>
        </p:spPr>
      </p:sp>
      <p:sp>
        <p:nvSpPr>
          <p:cNvPr id="33" name="Text 29"/>
          <p:cNvSpPr txBox="1"/>
          <p:nvPr/>
        </p:nvSpPr>
        <p:spPr>
          <a:xfrm>
            <a:off x="5148072"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aprendí</a:t>
            </a:r>
            <a:endParaRPr lang="en-US" sz="1400" dirty="0"/>
          </a:p>
        </p:txBody>
      </p:sp>
      <p:sp>
        <p:nvSpPr>
          <p:cNvPr id="34" name="Shape 30"/>
          <p:cNvSpPr/>
          <p:nvPr/>
        </p:nvSpPr>
        <p:spPr>
          <a:xfrm>
            <a:off x="7242048" y="3749040"/>
            <a:ext cx="2103120" cy="1371600"/>
          </a:xfrm>
          <a:prstGeom prst="roundRect">
            <a:avLst>
              <a:gd name="adj" fmla="val 4000"/>
            </a:avLst>
          </a:prstGeom>
          <a:solidFill>
            <a:srgbClr val="F4F5F9"/>
          </a:solidFill>
          <a:ln/>
        </p:spPr>
      </p:sp>
      <p:sp>
        <p:nvSpPr>
          <p:cNvPr id="35" name="Text 31"/>
          <p:cNvSpPr txBox="1"/>
          <p:nvPr/>
        </p:nvSpPr>
        <p:spPr>
          <a:xfrm>
            <a:off x="7379208"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cambié</a:t>
            </a:r>
            <a:endParaRPr lang="en-US" sz="1400" dirty="0"/>
          </a:p>
        </p:txBody>
      </p:sp>
      <p:sp>
        <p:nvSpPr>
          <p:cNvPr id="36" name="Shape 32"/>
          <p:cNvSpPr/>
          <p:nvPr/>
        </p:nvSpPr>
        <p:spPr>
          <a:xfrm>
            <a:off x="9473184" y="3749040"/>
            <a:ext cx="2103120" cy="1371600"/>
          </a:xfrm>
          <a:prstGeom prst="roundRect">
            <a:avLst>
              <a:gd name="adj" fmla="val 4000"/>
            </a:avLst>
          </a:prstGeom>
          <a:solidFill>
            <a:srgbClr val="F4F5F9"/>
          </a:solidFill>
          <a:ln/>
        </p:spPr>
      </p:sp>
      <p:sp>
        <p:nvSpPr>
          <p:cNvPr id="37" name="Text 33"/>
          <p:cNvSpPr txBox="1"/>
          <p:nvPr/>
        </p:nvSpPr>
        <p:spPr>
          <a:xfrm>
            <a:off x="9610344" y="3886200"/>
            <a:ext cx="1828800" cy="731520"/>
          </a:xfrm>
          <a:prstGeom prst="rect">
            <a:avLst/>
          </a:prstGeom>
          <a:noFill/>
          <a:ln/>
        </p:spPr>
        <p:txBody>
          <a:bodyPr wrap="square" lIns="0" tIns="0" rIns="0" bIns="0" rtlCol="0" anchor="t"/>
          <a:lstStyle/>
          <a:p>
            <a:pPr indent="0" marL="0">
              <a:buNone/>
            </a:pPr>
            <a:r>
              <a:rPr lang="en-US" sz="1400" b="1" dirty="0">
                <a:solidFill>
                  <a:srgbClr val="1A1A2E"/>
                </a:solidFill>
                <a:latin typeface="Century Gothic" pitchFamily="34" charset="0"/>
                <a:ea typeface="Century Gothic" pitchFamily="34" charset="-122"/>
                <a:cs typeface="Century Gothic" pitchFamily="34" charset="-120"/>
              </a:rPr>
              <a:t>Lo que pasó</a:t>
            </a:r>
            <a:endParaRPr lang="en-US" sz="1400" dirty="0"/>
          </a:p>
        </p:txBody>
      </p:sp>
      <p:sp>
        <p:nvSpPr>
          <p:cNvPr id="38" name="Text 34"/>
          <p:cNvSpPr txBox="1"/>
          <p:nvPr/>
        </p:nvSpPr>
        <p:spPr>
          <a:xfrm>
            <a:off x="548640" y="5349240"/>
            <a:ext cx="10972800" cy="411480"/>
          </a:xfrm>
          <a:prstGeom prst="rect">
            <a:avLst/>
          </a:prstGeom>
          <a:noFill/>
          <a:ln/>
        </p:spPr>
        <p:txBody>
          <a:bodyPr wrap="square" lIns="0" tIns="0" rIns="0" bIns="0" rtlCol="0" anchor="t"/>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Bitácora personal: cinco minutos por semana. Nadie la revisa.</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12 · LA OTRA PREGUNTA</a:t>
            </a:r>
            <a:endParaRPr lang="en-US" sz="1000" dirty="0"/>
          </a:p>
        </p:txBody>
      </p:sp>
      <p:sp>
        <p:nvSpPr>
          <p:cNvPr id="3" name="Text 1"/>
          <p:cNvSpPr txBox="1"/>
          <p:nvPr/>
        </p:nvSpPr>
        <p:spPr>
          <a:xfrm>
            <a:off x="548640" y="1645920"/>
            <a:ext cx="10241280" cy="2651760"/>
          </a:xfrm>
          <a:prstGeom prst="rect">
            <a:avLst/>
          </a:prstGeom>
          <a:noFill/>
          <a:ln/>
        </p:spPr>
        <p:txBody>
          <a:bodyPr wrap="square" lIns="0" tIns="0" rIns="0" bIns="0" rtlCol="0" anchor="t"/>
          <a:lstStyle/>
          <a:p>
            <a:pPr indent="0" marL="0">
              <a:lnSpc>
                <a:spcPct val="105000"/>
              </a:lnSpc>
              <a:buNone/>
            </a:pPr>
            <a:r>
              <a:rPr lang="en-US" sz="3000" b="1" dirty="0">
                <a:solidFill>
                  <a:srgbClr val="1A1A2E"/>
                </a:solidFill>
                <a:latin typeface="Century Gothic" pitchFamily="34" charset="0"/>
                <a:ea typeface="Century Gothic" pitchFamily="34" charset="-122"/>
                <a:cs typeface="Century Gothic" pitchFamily="34" charset="-120"/>
              </a:rPr>
              <a:t>¿Qué está ocurriendo en el entorno, qué necesita esta persona y cómo adapto mi liderazgo sin bajar el estándar?</a:t>
            </a:r>
            <a:endParaRPr lang="en-US" sz="3000" dirty="0"/>
          </a:p>
        </p:txBody>
      </p:sp>
      <p:sp>
        <p:nvSpPr>
          <p:cNvPr id="4" name="Text 2"/>
          <p:cNvSpPr txBox="1"/>
          <p:nvPr/>
        </p:nvSpPr>
        <p:spPr>
          <a:xfrm>
            <a:off x="548640" y="4206240"/>
            <a:ext cx="9601200" cy="1097280"/>
          </a:xfrm>
          <a:prstGeom prst="rect">
            <a:avLst/>
          </a:prstGeom>
          <a:noFill/>
          <a:ln/>
        </p:spPr>
        <p:txBody>
          <a:bodyPr wrap="square" lIns="0" tIns="0" rIns="0" bIns="0" rtlCol="0" anchor="t"/>
          <a:lstStyle/>
          <a:p>
            <a:pPr indent="0" marL="0">
              <a:buNone/>
            </a:pPr>
            <a:r>
              <a:rPr lang="en-US" sz="1500" dirty="0">
                <a:solidFill>
                  <a:srgbClr val="5A5A6E"/>
                </a:solidFill>
                <a:latin typeface="Century Gothic" pitchFamily="34" charset="0"/>
                <a:ea typeface="Century Gothic" pitchFamily="34" charset="-122"/>
                <a:cs typeface="Century Gothic" pitchFamily="34" charset="-120"/>
              </a:rPr>
              <a:t>La pregunta que proponemos llevar de vuelta a la planta, en lugar de “¿qué les pasa a estas nuevas generaciones?”.</a:t>
            </a:r>
            <a:endParaRPr lang="en-US" sz="1500" dirty="0"/>
          </a:p>
        </p:txBody>
      </p:sp>
      <p:pic>
        <p:nvPicPr>
          <p:cNvPr id="5"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6" name="Text 3"/>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59</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F8C47"/>
                </a:solidFill>
                <a:latin typeface="Century Gothic" pitchFamily="34" charset="0"/>
                <a:ea typeface="Century Gothic" pitchFamily="34" charset="-122"/>
                <a:cs typeface="Century Gothic" pitchFamily="34" charset="-120"/>
              </a:rPr>
              <a:t>12 · CIERRE</a:t>
            </a:r>
            <a:endParaRPr lang="en-US" sz="1000" dirty="0"/>
          </a:p>
        </p:txBody>
      </p:sp>
      <p:sp>
        <p:nvSpPr>
          <p:cNvPr id="3" name="Text 1"/>
          <p:cNvSpPr txBox="1"/>
          <p:nvPr/>
        </p:nvSpPr>
        <p:spPr>
          <a:xfrm>
            <a:off x="548640" y="1737360"/>
            <a:ext cx="10972800" cy="1280160"/>
          </a:xfrm>
          <a:prstGeom prst="rect">
            <a:avLst/>
          </a:prstGeom>
          <a:noFill/>
          <a:ln/>
        </p:spPr>
        <p:txBody>
          <a:bodyPr wrap="square" lIns="0" tIns="0" rIns="0" bIns="0" rtlCol="0" anchor="b"/>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Personas distintas no necesitan estándares distintos.</a:t>
            </a:r>
            <a:endParaRPr lang="en-US" sz="3800" dirty="0"/>
          </a:p>
        </p:txBody>
      </p:sp>
      <p:sp>
        <p:nvSpPr>
          <p:cNvPr id="4" name="Text 2"/>
          <p:cNvSpPr txBox="1"/>
          <p:nvPr/>
        </p:nvSpPr>
        <p:spPr>
          <a:xfrm>
            <a:off x="548640" y="3063240"/>
            <a:ext cx="10972800" cy="1280160"/>
          </a:xfrm>
          <a:prstGeom prst="rect">
            <a:avLst/>
          </a:prstGeom>
          <a:noFill/>
          <a:ln/>
        </p:spPr>
        <p:txBody>
          <a:bodyPr wrap="square" lIns="0" tIns="0" rIns="0" bIns="0" rtlCol="0" anchor="t"/>
          <a:lstStyle/>
          <a:p>
            <a:pPr indent="0" marL="0">
              <a:buNone/>
            </a:pPr>
            <a:r>
              <a:rPr lang="en-US" sz="3800" b="1" dirty="0">
                <a:solidFill>
                  <a:srgbClr val="FF8C47"/>
                </a:solidFill>
                <a:latin typeface="Century Gothic" pitchFamily="34" charset="0"/>
                <a:ea typeface="Century Gothic" pitchFamily="34" charset="-122"/>
                <a:cs typeface="Century Gothic" pitchFamily="34" charset="-120"/>
              </a:rPr>
              <a:t>Pueden necesitar un liderazgo distinto.</a:t>
            </a:r>
            <a:endParaRPr lang="en-US" sz="3800" dirty="0"/>
          </a:p>
        </p:txBody>
      </p:sp>
      <p:sp>
        <p:nvSpPr>
          <p:cNvPr id="5" name="Text 3"/>
          <p:cNvSpPr txBox="1"/>
          <p:nvPr/>
        </p:nvSpPr>
        <p:spPr>
          <a:xfrm>
            <a:off x="548640" y="4800600"/>
            <a:ext cx="10058400" cy="914400"/>
          </a:xfrm>
          <a:prstGeom prst="rect">
            <a:avLst/>
          </a:prstGeom>
          <a:noFill/>
          <a:ln/>
        </p:spPr>
        <p:txBody>
          <a:bodyPr wrap="square" lIns="0" tIns="0" rIns="0" bIns="0" rtlCol="0" anchor="t"/>
          <a:lstStyle/>
          <a:p>
            <a:pPr indent="0" marL="0">
              <a:buNone/>
            </a:pPr>
            <a:r>
              <a:rPr lang="en-US" sz="1500" dirty="0">
                <a:solidFill>
                  <a:srgbClr val="D6D8EA"/>
                </a:solidFill>
                <a:latin typeface="Century Gothic" pitchFamily="34" charset="0"/>
                <a:ea typeface="Century Gothic" pitchFamily="34" charset="-122"/>
                <a:cs typeface="Century Gothic" pitchFamily="34" charset="-120"/>
              </a:rPr>
              <a:t>En una siderúrgica, la seguridad no se adapta. El liderazgo sí.</a:t>
            </a:r>
            <a:endParaRPr lang="en-US" sz="1500" dirty="0"/>
          </a:p>
        </p:txBody>
      </p:sp>
      <p:pic>
        <p:nvPicPr>
          <p:cNvPr id="6" name="Image 0" descr="/home/user/Training-and-Development-PROYECTS/workshop-liderazgo-intergeneracional/src/assets/am_logo_white.png">    </p:cNvPr>
          <p:cNvPicPr>
            <a:picLocks noChangeAspect="1"/>
          </p:cNvPicPr>
          <p:nvPr/>
        </p:nvPicPr>
        <p:blipFill>
          <a:blip r:embed="rId2"/>
          <a:stretch>
            <a:fillRect/>
          </a:stretch>
        </p:blipFill>
        <p:spPr>
          <a:xfrm>
            <a:off x="10561320" y="6382512"/>
            <a:ext cx="566928" cy="234140"/>
          </a:xfrm>
          <a:prstGeom prst="rect">
            <a:avLst/>
          </a:prstGeom>
        </p:spPr>
      </p:pic>
      <p:sp>
        <p:nvSpPr>
          <p:cNvPr id="7" name="Text 4"/>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B8BACB"/>
                </a:solidFill>
                <a:latin typeface="Calibri" pitchFamily="34" charset="0"/>
                <a:ea typeface="Calibri" pitchFamily="34" charset="-122"/>
                <a:cs typeface="Calibri" pitchFamily="34" charset="-120"/>
              </a:rPr>
              <a:t>60</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9875520" cy="274320"/>
          </a:xfrm>
          <a:prstGeom prst="rect">
            <a:avLst/>
          </a:prstGeom>
          <a:noFill/>
          <a:ln/>
        </p:spPr>
        <p:txBody>
          <a:bodyPr wrap="square" lIns="0" tIns="0" rIns="0" bIns="0" rtlCol="0" anchor="t"/>
          <a:lstStyle/>
          <a:p>
            <a:pPr indent="0" marL="0">
              <a:buNone/>
            </a:pPr>
            <a:r>
              <a:rPr lang="en-US" sz="1000" b="1" spc="200" kern="0" dirty="0">
                <a:solidFill>
                  <a:srgbClr val="FA4642"/>
                </a:solidFill>
                <a:latin typeface="Century Gothic" pitchFamily="34" charset="0"/>
                <a:ea typeface="Century Gothic" pitchFamily="34" charset="-122"/>
                <a:cs typeface="Century Gothic" pitchFamily="34" charset="-120"/>
              </a:rPr>
              <a:t>ANEXO · FUENTES PRINCIPALES</a:t>
            </a:r>
            <a:endParaRPr lang="en-US" sz="1000" dirty="0"/>
          </a:p>
        </p:txBody>
      </p:sp>
      <p:sp>
        <p:nvSpPr>
          <p:cNvPr id="3" name="Text 1"/>
          <p:cNvSpPr txBox="1"/>
          <p:nvPr/>
        </p:nvSpPr>
        <p:spPr>
          <a:xfrm>
            <a:off x="548640" y="566928"/>
            <a:ext cx="11109960" cy="685800"/>
          </a:xfrm>
          <a:prstGeom prst="rect">
            <a:avLst/>
          </a:prstGeom>
          <a:noFill/>
          <a:ln/>
        </p:spPr>
        <p:txBody>
          <a:bodyPr wrap="square" lIns="0" tIns="0" rIns="0" bIns="0" rtlCol="0" anchor="ctr"/>
          <a:lstStyle/>
          <a:p>
            <a:pPr indent="0" marL="0">
              <a:buNone/>
            </a:pPr>
            <a:r>
              <a:rPr lang="en-US" sz="2400" b="1" dirty="0">
                <a:solidFill>
                  <a:srgbClr val="1A1A2E"/>
                </a:solidFill>
                <a:latin typeface="Century Gothic" pitchFamily="34" charset="0"/>
                <a:ea typeface="Century Gothic" pitchFamily="34" charset="-122"/>
                <a:cs typeface="Century Gothic" pitchFamily="34" charset="-120"/>
              </a:rPr>
              <a:t>Fuentes de la evidencia presentada</a:t>
            </a:r>
            <a:endParaRPr lang="en-US" sz="2400" dirty="0"/>
          </a:p>
        </p:txBody>
      </p:sp>
      <p:pic>
        <p:nvPicPr>
          <p:cNvPr id="4" name="Image 0" descr="/home/user/Training-and-Development-PROYECTS/workshop-liderazgo-intergeneracional/src/assets/am_logo.png">    </p:cNvPr>
          <p:cNvPicPr>
            <a:picLocks noChangeAspect="1"/>
          </p:cNvPicPr>
          <p:nvPr/>
        </p:nvPicPr>
        <p:blipFill>
          <a:blip r:embed="rId1"/>
          <a:stretch>
            <a:fillRect/>
          </a:stretch>
        </p:blipFill>
        <p:spPr>
          <a:xfrm>
            <a:off x="10561320" y="6382512"/>
            <a:ext cx="566928" cy="234140"/>
          </a:xfrm>
          <a:prstGeom prst="rect">
            <a:avLst/>
          </a:prstGeom>
        </p:spPr>
      </p:pic>
      <p:sp>
        <p:nvSpPr>
          <p:cNvPr id="5" name="Text 2"/>
          <p:cNvSpPr txBox="1"/>
          <p:nvPr/>
        </p:nvSpPr>
        <p:spPr>
          <a:xfrm>
            <a:off x="11247120" y="6446520"/>
            <a:ext cx="411480" cy="182880"/>
          </a:xfrm>
          <a:prstGeom prst="rect">
            <a:avLst/>
          </a:prstGeom>
          <a:noFill/>
          <a:ln/>
        </p:spPr>
        <p:txBody>
          <a:bodyPr wrap="square" lIns="0" tIns="0" rIns="0" bIns="0" rtlCol="0" anchor="t"/>
          <a:lstStyle/>
          <a:p>
            <a:pPr algn="r" indent="0" marL="0">
              <a:buNone/>
            </a:pPr>
            <a:r>
              <a:rPr lang="en-US" sz="750" dirty="0">
                <a:solidFill>
                  <a:srgbClr val="8A8CA0"/>
                </a:solidFill>
                <a:latin typeface="Calibri" pitchFamily="34" charset="0"/>
                <a:ea typeface="Calibri" pitchFamily="34" charset="-122"/>
                <a:cs typeface="Calibri" pitchFamily="34" charset="-120"/>
              </a:rPr>
              <a:t>61</a:t>
            </a:r>
            <a:endParaRPr lang="en-US" sz="75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931920"/>
                <a:gridCol w="4389120"/>
                <a:gridCol w="2770632"/>
              </a:tblGrid>
              <a:tr h="475488">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Fuente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Qué aporta</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c>
                  <a:txBody>
                    <a:bodyPr/>
                    <a:lstStyle/>
                    <a:p>
                      <a:pPr indent="0" marL="0">
                        <a:buNone/>
                      </a:pPr>
                      <a:r>
                        <a:rPr lang="en-US" sz="950" b="1" dirty="0">
                          <a:solidFill>
                            <a:srgbClr val="FFFFFF"/>
                          </a:solidFill>
                          <a:latin typeface="Century Gothic" pitchFamily="34" charset="0"/>
                          <a:ea typeface="Century Gothic" pitchFamily="34" charset="-122"/>
                          <a:cs typeface="Century Gothic" pitchFamily="34" charset="-120"/>
                        </a:rPr>
                        <a:t>Alcance</a:t>
                      </a:r>
                      <a:endParaRPr lang="en-US" sz="95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1A1A2E"/>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Costanza et al. (2012); Ravid et al.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Diferencias generacionales pequeñas e inconsistentes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N = 19,961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National Academies (2020); Pew Research (2023)</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Gestionar por generación no está respaldado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revisión de consenso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Ng y Feldman (2008, 2010, 2012)</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Estereotipos sobre trabajadores mayores; edad y seguridad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Meta-análisis · 418 estudios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Rousseau (1989, 1995); Zhao et al. (2007)</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Contrato psicológico y lealtad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Teoría y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BLS (2024); EBRI (2025)</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Antigüedad por edad, 1983–2024</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EE. UU. · CPS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Gallup SOGW 2026; Deloitte 2025–2026</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Compromiso, gerentes, aspiraciones de liderazgo</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Global · 44–100+ países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4F5F9"/>
                    </a:solidFill>
                  </a:tcPr>
                </a:tc>
              </a:tr>
              <a:tr h="475488">
                <a:tc>
                  <a:txBody>
                    <a:bodyPr/>
                    <a:lstStyle/>
                    <a:p>
                      <a:pPr indent="0" marL="0">
                        <a:buNone/>
                      </a:pPr>
                      <a:r>
                        <a:rPr lang="en-US" sz="1000" b="1" dirty="0">
                          <a:solidFill>
                            <a:srgbClr val="1A1A2E"/>
                          </a:solidFill>
                          <a:latin typeface="Century Gothic" pitchFamily="34" charset="0"/>
                          <a:ea typeface="Century Gothic" pitchFamily="34" charset="-122"/>
                          <a:cs typeface="Century Gothic" pitchFamily="34" charset="-120"/>
                        </a:rPr>
                        <a:t>OCDE (2023); McKinsey (2021); Kooij et al. (2011)</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Horas trabajadas; propósito; motivos por edad</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c>
                  <a:txBody>
                    <a:bodyPr/>
                    <a:lstStyle/>
                    <a:p>
                      <a:pPr indent="0" marL="0">
                        <a:buNone/>
                      </a:pPr>
                      <a:r>
                        <a:rPr lang="en-US" sz="1000" dirty="0">
                          <a:solidFill>
                            <a:srgbClr val="1A1A2E"/>
                          </a:solidFill>
                          <a:latin typeface="Century Gothic" pitchFamily="34" charset="0"/>
                          <a:ea typeface="Century Gothic" pitchFamily="34" charset="-122"/>
                          <a:cs typeface="Century Gothic" pitchFamily="34" charset="-120"/>
                        </a:rPr>
                        <a:t>México / EE. UU. / meta-análisis</a:t>
                      </a:r>
                      <a:endParaRPr lang="en-US" sz="1000" dirty="0">
                        <a:latin typeface="Century Gothic" charset="0"/>
                        <a:ea typeface="Century Gothic" charset="0"/>
                        <a:cs typeface="Century Gothic" charset="0"/>
                      </a:endParaRPr>
                    </a:p>
                  </a:txBody>
                  <a:tcPr marL="63500" marR="63500" marT="25400" marB="25400" anchor="ctr">
                    <a:lnL w="6350" cap="flat" cmpd="sng" algn="ctr">
                      <a:solidFill>
                        <a:srgbClr val="D6D8EA"/>
                      </a:solidFill>
                      <a:prstDash val="solid"/>
                      <a:round/>
                      <a:headEnd type="none" w="med" len="med"/>
                      <a:tailEnd type="none" w="med" len="med"/>
                    </a:lnL>
                    <a:lnR w="6350" cap="flat" cmpd="sng" algn="ctr">
                      <a:solidFill>
                        <a:srgbClr val="D6D8EA"/>
                      </a:solidFill>
                      <a:prstDash val="solid"/>
                      <a:round/>
                      <a:headEnd type="none" w="med" len="med"/>
                      <a:tailEnd type="none" w="med" len="med"/>
                    </a:lnR>
                    <a:lnT w="6350" cap="flat" cmpd="sng" algn="ctr">
                      <a:solidFill>
                        <a:srgbClr val="D6D8EA"/>
                      </a:solidFill>
                      <a:prstDash val="solid"/>
                      <a:round/>
                      <a:headEnd type="none" w="med" len="med"/>
                      <a:tailEnd type="none" w="med" len="med"/>
                    </a:lnT>
                    <a:lnB w="6350" cap="flat" cmpd="sng" algn="ctr">
                      <a:solidFill>
                        <a:srgbClr val="D6D8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b="1" dirty="0">
                <a:solidFill>
                  <a:srgbClr val="FA4642"/>
                </a:solidFill>
                <a:latin typeface="Century Gothic" pitchFamily="34" charset="0"/>
                <a:ea typeface="Century Gothic" pitchFamily="34" charset="-122"/>
                <a:cs typeface="Century Gothic" pitchFamily="34" charset="-120"/>
              </a:rPr>
              <a:t>Referencias completas, muestras, URL y nivel de confianza: Paquete de evidencia (entregable 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ArcelorMittal México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Liderar entre generaciones — De los estereotipos al liderazgo adaptativo</dc:title>
  <dc:subject>PptxGenJS Presentation</dc:subject>
  <dc:creator>Gerencia de Capacitación y Desarrollo</dc:creator>
  <cp:lastModifiedBy>Gerencia de Capacitación y Desarrollo</cp:lastModifiedBy>
  <cp:revision>1</cp:revision>
  <dcterms:created xsi:type="dcterms:W3CDTF">2026-09-28T23:12:40Z</dcterms:created>
  <dcterms:modified xsi:type="dcterms:W3CDTF">2026-09-28T23:12:40Z</dcterms:modified>
</cp:coreProperties>
</file>