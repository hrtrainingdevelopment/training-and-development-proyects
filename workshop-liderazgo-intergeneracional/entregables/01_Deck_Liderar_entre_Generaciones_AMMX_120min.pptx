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Recibir a la sala. La lámina está en pantalla mientras los participantes llegan; no se presenta.
TIEMPO
Previo al inicio y 0:00–0:02 (palabras de la CXO).
GUION DEL FACILITADOR
Sin guion. Los facilitadores saludan en la puerta y dirigen a cada persona a su mesa asignada (la CXO en una mesa sin reportes directos, D-13). Cada lugar tiene el workbook cerrado y el sobre del pre-work cerrado.
PREGUNTA
—
RESPUESTA ESPERADA
—
TRANSICIÓN
La CXO abre con 2 minutos (D-09): por qué esta conversación importa al negocio y que participará como una directora más. Facilitador A la presenta en una línea.
LIDERA: CXO (2 min) → Facilitador A.
PRINCIPIO RECTOR: Personas distintas no necesitan estándares distintos. Pueden necesitar un liderazgo distinto.
GUIA PARA LA CXO: no anticipar conclusiones ni hablar de "las nuevas generaciones"; hablar del negocio (sucesión, conocimiento crítico, seguridad, retención) y de su propio interés en la conversación.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PREGUNTA
Pregunta retórica; no se abre a respuesta.
RESPUESTA ESPERADA
Sonrisas de reconocimiento; algún comentario tipo "la hacemos diario". No se discute todavía.
TRANSICIÓN
"Para llegar a esa otra pregunta vamos a trabajar de una forma particular."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PREGUNTA
—
RESPUESTA ESPERADA
Atención; algunos escépticos esperando "el curso de RH". El mensaje "en ninguna dirección" reduce la sospecha de que el taller defiende a los jóvenes.
TRANSICIÓN
"Para que funcione necesitamos tres acuerdos."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Crear seguridad psicológica, especialmente con la CXO en la sala y con facilitadores que le reportan (D-13).
TIEMPO
0:06–0:08 (2 min).
GUION DEL FACILITADOR
A (con la CXO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workbook se recoge ni se comparte; tampoco con [CXO], y ella está de acuerdo. Y una petición práctica: teléfonos boca abajo; los vemos en el receso." (La CXO lo modela.)
PREGUNTA
"¿Alguien quiere agregar un acuerdo?"
RESPUESTA ESPERADA
Normalmente nadie agrega. Si alguien pide "que no sea teoría", aceptarlo como acuerdo.
TRANSICIÓN
Handoff A → B con una observación: "Empecemos por lo más cercano: cómo reaccionamos nosotros."
LIDERA: A. La CXO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cada director vea su respuesta por defecto antes de hablar de generaciones (Idea 1).
TIEMPO
Versión corta: 1 min instrucción + 6 min respuesta (8 situaciones: se omiten la 5 y la 9).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PREGUNTA
—
RESPUESTA ESPERADA
Silencio y concentración. Algunas personas preguntan "¿y si haría dos cosas?": "Elijan la primera."
TRANSICIÓN
"Vamos a ver qué dice su hoja de puntuación."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PREGUNTA
—
RESPUESTA ESPERADA
Sorpresa en algunos ("salí muy DIRIGIR", "casi no EXPLORO"). Prohibido pedir manos por estilo o hacer conteos de sala (D-16).
TRANSICIÓN
"Compártanlo con la persona de al lado. Solo lo que quieran."
LIDERA: B.
CLAVE DE PUNTUACIÓN: está en el workbook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LIDERA: B (pares) → A (cierre de Idea 1).
HANDOFF: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PREGUNTA
—
RESPUESTA ESPERADA
Asentimientos en las partes sobre empresas y liderazgo; posibles risas o incomodidad en las partes sobre jóvenes y celulares.
TRANSICIÓN
B: "Cuatro preguntas para sus mesas."
LIDERA: A (encuadre) · B opera el video.
[POR CONFIRMAR] Fragmento exacto contra el video que proporcionó la CXO (D-01).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CXO proporcionó otra pieza: Nordic Business Forum 2025 ("We gave them no loyalty…") — acceso por membresía.
COMPROMISO CON LA CXO (D-13): sabe de antemano que el taller cuestionará algunas afirmaciones del video.
Archivo local con licencia o la copia de la CXO, con subtítulos en español incrustados (.srt revisado); los subtítulos automáticos de YouTube no funcionan sin conexión. Fragmento congelado en T–14. Respaldo: laptop 2 → streaming por la red del recinto → A resume el argumento en voz (máx.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COLOCACIÓN EN DOS OLEADAS de 90 s (mesas 1–2, luego 3–4/5) para no amontonarse; superficie ≥ 6 m o dos paneles (G2-28). Tarjetas con adhesivo removible, sin número de mesa.
LIDERA: B. A observa qué frases generan duda (personas que caminan entre dos zonas) para usarlas en el debrief.
TARJETAS (D-14, en primera persona): 16 necesidades del Activity Pack.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Seis afirmaciones."
LIDERA: B (tarjetas) → A (frase de salida y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Desmontar estereotipos con evidencia antes de explicar contextos (D-03, Idea 2). El voto simultáneo evita la conformidad con el rango.
TIEMPO
0:57–0:58 (1 min de instrucción; el bloque completo dura 13 min).
GUION DEL FACILITADOR
A: "Cuatro afirmaciones que escuchamos en la industria. Tienen tres segundos para decidir. Cuando cuente tres, todos levantan su tarjeta al mismo tiempo. Nadie mira al vecino antes. Una advertencia: los datos no le dan la razón a nadie en todo. Tampoco a los jóvenes."
PREGUNTA
—
RESPUESTA ESPERADA
Energía alta; competencia sana.
TRANSICIÓN
"Primera afirmación."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CXO vota como cualquier participante y no se le pregunta en plenaria (D-13).
Versiones 120/90: afirmaciones 1, 2, 4 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1.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o DEPENDE. Voz disidente típica: "Los de antes también se iban."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Generación Z no tiene lealtad." con prudencia, sin sobrecorregir.
TIEMPO
≈40–60 s (revelación + una frase de A).
GUION DEL FACILITADOR
A: "El dato de Estados Unidos, que es el que tiene series largas, muestra que las personas de 25 a 34 años llevan en promedio menos de tres años con su empleador… y que era prácticamente igual en el año 2000. Los que hoy tienen 55 a 64 llevan casi diez. Es la edad, no la generación. Y la lealtad, según la investigación sobre contrato psicológico, sigue a la reciprocidad."
PREGUNTA
—
RESPUESTA ESPERADA
Asentimientos de reconocimiento ("yo también me moví a los 25"). Alguien: "pero antes no se iban por 15 %". Validar y preguntar: "¿Qué más se ofrecía antes para quedarse?"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2.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PREGUNTA
"¿Qué viste tú?" (a alguien de la minoría; nunca a la CXO; nunca dos veces seguidas a la misma mesa).
RESPUESTA ESPERADA
Muchos votos DEPENDE; risas de reconocimiento entre directores mayores que usan tecnología intensivamente.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PREGUNTA
—
RESPUESTA ESPERADA
Directores mayores sonríen; alguien puede citar un caso de rechazo a SAP. Preguntar: "¿Se le explicó para qué le servía a él?"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3.
TIEMPO
≈60 s (lectura, voto, distribución y una voz disidente).
GUION DEL FACILITADOR
A lee en voz alta: "La gente ya no quiere trabajar.". "Uno, dos, tres." B anuncia la distribución aproximada ("mayoría ___, unos ___"). A pregunta a una persona que votó distinto a la mayoría: "¿Qué viste tú?"
PREGUNTA
"¿Qué viste tú?" (a alguien de la minoría; nunca a la CXO; nunca dos veces seguidas a la misma mesa).
RESPUESTA ESPERADA
Voto dividido. Un director puede decir "en planta cuesta mucho cubrir turnos": validar el dato local y separar disposición de condiciones.
TRANSICIÓN
"Veamos qué dice la evidencia."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gente ya no quiere trabajar." con prudencia, sin sobrecorregir.
TIEMPO
≈40–60 s (revelación + una frase de A).
GUION DEL FACILITADOR
A: "México es el país de la OCDE donde más horas se trabajan al año. En Estados Unidos, el empleo en edad productiva está en máximos de 25 años. Lo que sí está bajo, en todo el mundo y en todas las edades, es el compromiso: uno de cada cinco. Esa es una conversación de liderazgo."
PREGUNTA
—
RESPUESTA ESPERADA
Alguien: "en planta no cubrimos turnos". Separar disponibilidad para el trabajo de condiciones del trabajo.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4.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La pregunta final suele producir silencio: es el momento más fuerte del bloque. No llenarlo.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los jefes de hoy sí estamos desgastados." Pausa. Leer la pregunta final.
PREGUNTA
¿Qué ven cuando nos ven liderar?
RESPUESTA ESPERADA
Silencio. Algún director: "es que el puesto de jefe sí es pesado". Validar: "Exacto. Eso es lo que ven." No llenar la pausa.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5.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Aquí la sala acierta en parte: reconocerlo aumenta la credibilidad del bloque.
TRANSICIÓN
"Veamos qué dice la evidencia."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 X y Boomers también lo quiere varias veces al mes. Y el efecto del reconocimiento aparece en todas las edades. Lo que cambia es cada cuánto y de qué forma."
PREGUNTA
—
RESPUESTA ESPERADA
La sala acierta en parte; decirlo en voz alta aumenta la credibilidad del bloque: "Aquí tenían razón a medias."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6.
TIEMPO
≈60 s (lectura, voto, distribución y una voz disidente).
GUION DEL FACILITADOR
A lee en voz alta: "Lo quieren todo ya.".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Contraejemplos de la sala: "yo a los 25 también quería todo ya".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 Z no se siente financieramente segura. La prisa se vuelve problema cuando no le mostramos una ruta."
PREGUNTA
—
RESPUESTA ESPERADA
"Yo a los 25 también quería todo ya." Validar y preguntar: "¿Tenía una ruta visible?"
TRANSICIÓN
A: "Un minuto antes de cerrar este bloque."
AFIRMACIÓN TOMADA DEL VIDEO (D-18): obligatoria en todas las versiones.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conceptual del Acto 4 (Idea 2): distinguir efecto edad, época y cohorte en lenguaje de directores.
TIEMPO
1:08–1:10 (1 min escritura + ≈45 s de A).
GUION DEL FACILITADOR
A: "En su workbook,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Receso con una pregunta que prepara el Acto 5.
TIEMPO
1:10–1:20 (10 min).
GUION DEL FACILITADOR
A: "Diez minutos. Les dejamos una pregunta para el café." Los facilitadores escuchan conversaciones sin intervenir y recogen frases para el Acto 5.
PREGUNTA
La de la lámina.
RESPUESTA ESPERADA
Conversaciones informales sobre recortes, cambios de dueño y crisis vividas.
TRANSICIÓN
A reinicia puntual con la lámina de contextos.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Reencuadrar las generaciones como contextos (D-17): entender experiencias formativas sin etiquetar a personas.
TIEMPO
Versión corta: 30 s; las cuatro láminas de contexto están ocultas y A enuncia en una frase que cada generación entró a un mundo distinto.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PREGUNTA
—
RESPUESTA ESPERADA
Curiosidad; directores ubicando su propia historia.
TRANSICIÓN
"Empecemos por quienes entraron a trabajar entre los sesenta y mediados de los ochenta."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3: el contrato laboral cambió de forma documentada, desde las empresas, antes que la gente.
TIEMPO
Versión corta: 2 min.
GUION DEL FACILITADOR
A: "Durante décadas el trato implícito fue el de la izquierda. Muchos en esta sala lo cumplieron y les funcionó. Desde los ochenta, las empresas en todo el mundo —y la siderurgia mexicana no fue excepción— pasaron a reestructuras, outsourcing y relaciones más de mercado. Quienes entraron después aprendieron el contrato de la derecha. No es mejor ni peor: es una respuesta racional al entorno que encontraron." B lee dos frases del rotafolio "Lo que escuchamos" del Acto 2 que hablen de cambio.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4: explorar críticamente "la lealtad se gana" como conversación sobre confianza, reciprocidad y relación jefe–colaborador, no como crítica a la empresa.
TIEMPO
Versión corta: 2 min + 3 min en pares con esta pregunta.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eso es en todas las edades, no en una. Un dato que para una siderúrgica importa: la brecha de propósito más grande no es entre generaciones, es entre ejecutivos y primera línea."
PREGUNTA
—
RESPUESTA ESPERADA
Reconocimiento: "es lo mismo que yo quiero".
TRANSICIÓN
"¿Y dónde sí hay diferencias?"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LIDERA: A.
DATO DE APOYO: Gallup atribuye al gerente al menos 70 % de la varianza del engagement entre equipos (2015, 2.7 millones de empleados; análisis propietario, no "causa 70 %"). Engagement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más desgastados que hace un año. Eso no es un reproche: es parte del problema que queremos resolver." B: "En su mapa de motivadores, marquen en silencio la necesidad común que peor están atendiendo, y con quién. Noventa segundos." Después, 4 min en mesa.
PREGUNTA
"¿Qué necesidad común estamos atendiendo peor, y con quién?"
RESPUESTA ESPERADA
Conversación de mesa; se reconoce el propio desgaste.
TRANSICIÓN
B: "Hasta aquí hemos hablado de otros. Los próximos cinco minutos son sobre ustedes."
LIDERA: A → B. Versión 120: solo 2 min en mesa, sin escritura.
NO DECIR "70 % del engagement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Introspección fuerte (arco: comprensión). Elegir a "mi persona", el hilo que conecta con la Matriz, el compromiso y el Experimento (D-06).
TIEMPO
Versión 120: 3 min de silencio (preguntas 2, 3, 5 y "mi persona").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PREGUNTA
Las seis de la lámina (workbook).
RESPUESTA ESPERADA
Silencio incómodo los primeros 60–90 segundos; luego escritura concentrada.
TRANSICIÓN
B: "En pares, cinco minutos. Uno habla, el otro solo escucha."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PREGUNTA
"¿Qué más?" · "¿Cómo lo sabes?"
RESPUESTA ESPERADA
Algunos pares se ríen al notar que querían aconsejar. Es el aprendizaje.
TRANSICIÓN
B: "Llevemos esto a situaciones reales de planta."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PREGUNTA
Preguntas de reto de B por caso (Activity Pack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LIDERA: B · A observa y anota qué mesa confundió "adaptar" con "conceder" y qué mesa confundió "firmeza" con "no escuchar" (se usa en el Acto 9).
CON 4 MESAS: casos A, B, D y E. CON 5: omitir C o F según el perfil de la sala.
La CXO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referencia en pantalla durante el trabajo de mesa.
TIEMPO
En pantalla 1:57–2:09.
GUION DEL FACILITADOR
Sin guion; B recorre mesas. La pregunta 6 lleva la distinción de D-04 al caso.
PREGUNTA
Las seis de la lámina.
RESPUESTA ESPERADA
La pregunta 2 (supuestos) es la que más cuesta y la que más cambia la respuesta.
TRANSICIÓN
Galería.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Handoff a A.
PREGUNTA
¿En qué caso estuvimos más cerca de ceder algo que no se negocia, y qué nos llevó ahí?
RESPUESTA ESPERADA
Casi nunca ocurre. Mensaje: adaptarse no fue bajar la vara.
TRANSICIÓN
A recibe: "Ese cómo tiene un nombre."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PREGUNTA
"¿En cuál de los casos vieron una respuesta rígida que parecía firmeza?"
RESPUESTA ESPERADA
Referencias al Caso D (disponibilidad como compromiso) y al Caso B (capacitación sin preguntar).
TRANSICIÓN
"Para ampliar ese rango proponemos algo muy simple: tres verbos."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PREGUNTA
"¿Cuál de los tres verbos se saltaron más en su caso?"
RESPUESTA ESPERADA
Casi siempre LEER: se pasa directo a la respuesta.
TRANSICIÓN
B: "Llevemos los tres verbos a su persona."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PREGUNTA
—
RESPUESTA ESPERADA
Asentimientos: la columna derecha es la que hace aceptable el mensaje para una audiencia operativa.
TRANSICIÓN
"Así se ve llena."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Ejemplo resuelto del Caso B para que el llenado individual sea concreto.
TIEMPO
2:28 (30 s; se deja en pantalla).
GUION DEL FACILITADOR
B lee dos filas: una de cada lado. Luego lee la frase final en voz alta. "Esa frase es la Matriz en una línea."
PREGUNTA
—
RESPUESTA ESPERADA
Reconocimiento: "así sí".
TRANSICIÓN
B: "Ahora con su persona. Seis minutos en silencio."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Aplicar la herramienta a una persona real (hilo D-06) y validar concreción y claridad del estándar con un par.
TIEMPO
2:28–2:39 (6 min individual + 5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PREGUNTA
Las dos preguntas del par.
RESPUESTA ESPERADA
La pregunta 2 del par suele revelar que el estándar nunca se dijo explícitamente: aprendizaje central.
TRANSICIÓN
B: "Última conversación antes de cerrar, y es distinta a las demás."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pre-work, cerrados (D-20). Al final, B pide a dos voluntarios compartir solo la respuesta a la frase 4. Handoff a A: "Parece que lo que queremos se parece más de lo que el Muro sugería."
PREGUNTA
Frase 4: "Algo que probablemente ambos queremos es…"
RESPUESTA ESPERADA
Respuestas como "que nos tomen en cuenta", "hacer un buen trabajo", "que el jefe sea claro". Emoción contenida; buen clima.
TRANSICIÓN
A: "Cerremos donde empezamos."
LIDERA: B → A.
SALA HOMOGÉNEA (decidir en T–7 sin consultar edades): ocultar esta lámina y mostrar la variante siguiente ("Invertir el lente con mi persona").
ACORDEÓN: si vamos tarde, 8 min (solo frases 1 y 4).
Evitar parejas jefe–colaborador directo. La CXO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PREGUNTA
"¿Cuándo se lo preguntaste por última vez?"
RESPUESTA ESPERADA
Reconocimiento de que "nunca se lo he preguntado". Es el aprendizaje.
TRANSICIÓN
A: "Cerremos donde empezamos."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el diagnóstico y el pre-work: comparar la mirada de entrada con la de salida.
TIEMPO
Versión corta: 2 min (el sobre se entregó durante la Matriz).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PREGUNTA
¿Responderían hoy lo mismo?
RESPUESTA ESPERADA
Sonrisas, algún "yo escribí eso…". Silencio.
TRANSICIÓN
"Convirtamos esto en una decisión."
LIDERA: A.
El sobre y su contenido son del participante; no se recogen. Quien no respondió el pre-work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Compromiso personal concreto (DEJAR / EMPEZAR / MANTENER + una persona, una conversación). Nada de compromisos abstractos.
TIEMPO
Versión corta: 4 min individual.
GUION DEL FACILITADOR
A: "Cuatro minutos en silencio, en su workbook.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PREGUNTA
"¿Cómo vas a saber que fue una conversación distinta?"
RESPUESTA ESPERADA
Compromisos concretos; algunos genéricos ("escuchar más"). B recorre y pregunta en privado: "¿Con quién, cuándo y sobre qué?"
TRANSICIÓN
A: "Antes de cerrar, dos minutos para ustedes."
LIDERA: A.
El compromiso vive en el workbook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Encuesta de salida dentro del horario (Nivel 1 y 2 del plan de medición), antes del compromiso de la CXO, para que la sesión termine en la frase ancla (G3-09, G3-10).
TIEMPO
Versión corta: 2 min encuesta + 1 min con el vecino.
GUION DEL FACILITADOR
A: "Dos minutos, en silencio: la encuesta del código de su mesa. Es anónima." Al terminar: "Díganle a la persona de al lado, en una frase: en siete días voy a…" Sin comentarios. A menciona en una frase la tarjeta del Experimento que está en su sobre.
PREGUNTA
—
RESPUESTA ESPERADA
Silencio operativo; teléfonos en uso por 2 minutos.
TRANSICIÓN
A cede la palabra a la CXO: 1 minuto.
LIDERA: A · B verifica que el QR cargue en la red del recinto; 10 encuestas impresas de respaldo.
CXO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PREGUNTA
—
RESPUESTA ESPERADA
Alguien puede preguntar si es obligatorio: "Es una invitación. Los aprendizajes de la sala dependen de quién lo haga."
TRANSICIÓN
—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la pregunta de apertura: reemplazar la frase de pasillo por una pregunta de liderazgo.
TIEMPO
30 s.
GUION DEL FACILITADOR
A: "Al inicio les dijimos que al final les propondríamos otra pregunta. Es esta. No es más cómoda. Pero es la que sí depende de nosotros."
PREGUNTA
La de la lámina.
RESPUESTA ESPERADA
Silencio; asentimientos.
TRANSICIÓN
Última lámina.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 la frase ancla y la regla de seguridad. Sin aplausos ni dinámica final.
TIEMPO
30 s.
GUION DEL FACILITADOR
A lee las dos líneas y la frase de seguridad. Silencio breve. "Gracias."
PREGUNTA
—
RESPUESTA ESPERADA
Cierre sobrio.
TRANSICIÓN
Fin. B hace barrido de sala (sobres olvidados) y desmontaje del Muro.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Respaldo de fuentes para consulta; oculta.
TIEMPO
No se proyecta salvo pregunta.
GUION DEL FACILITADOR
Si un participante pregunta por una fuente: "Está en el Evidence Pack, con la muestra y la URL. Se lo compartimos."
PREGUNTA
—
RESPUESTA ESPERADA
—
TRANSICIÓN
—
Antes de cada edición, abrir las URL primarias y confirmar cifras (Evidence Pack,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Versión de 120 minutos. 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2 h</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11</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Ocho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workbook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Workbook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feedback, hago coaching</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sugerido: segmento final sobre el entorno corporativo (≈10:00–14:30; confirmar en la copia proporcionada).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preguntas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¿Con qué estuvieron de acuerdo?</a:t>
            </a:r>
            <a:endParaRPr lang="en-US" sz="22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los incomodó?</a:t>
            </a:r>
            <a:endParaRPr lang="en-US" sz="22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creen que no ve?</a:t>
            </a:r>
            <a:endParaRPr lang="en-US" sz="22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cambió: la gente o el trato?</a:t>
            </a:r>
            <a:endParaRPr lang="en-US" sz="22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12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11</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13</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10</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2024 (CPS,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2.7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2024). En 2000 era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a cualquier edad.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sentido,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Participar menos en capacitación suele reflejar que se les ofrece menos, no que aprendan menos: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usuarios de IA, 73 % de las personas de 58 años o más la lleva por su cuenta al trabajo (Gen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tasa de empleo de 25 a 54 años está en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está comprometido (Gallup, 2025), en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"Quiet quitting" describe al grupo no comprometido: un fenómeno de gestión, no de edad.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2026 (≈22,500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 Z: tener liderazgo como meta principal hoy (6 %) vs. interés en liderazgo senior en algún momento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burnout,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más desgastado: su compromiso bajó de 27 % a 22 % en un año.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"conscious unbossing"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feedback.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feedback diario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al inicio de la carrera y bajan con la edad. También fue así para quienes hoy dirigimos.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vivienda, inflación,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
        <p:nvSpPr>
          <p:cNvPr id="8" name="Shape 4"/>
          <p:cNvSpPr/>
          <p:nvPr/>
        </p:nvSpPr>
        <p:spPr>
          <a:xfrm>
            <a:off x="548640" y="1645920"/>
            <a:ext cx="3514344" cy="109728"/>
          </a:xfrm>
          <a:prstGeom prst="rect">
            <a:avLst/>
          </a:prstGeom>
          <a:solidFill>
            <a:srgbClr val="FF8C47"/>
          </a:solidFill>
          <a:ln/>
        </p:spPr>
      </p:sp>
      <p:sp>
        <p:nvSpPr>
          <p:cNvPr id="9" name="Text 5"/>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0" name="Text 6"/>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3" name="Shape 9"/>
          <p:cNvSpPr/>
          <p:nvPr/>
        </p:nvSpPr>
        <p:spPr>
          <a:xfrm>
            <a:off x="4337304" y="1645920"/>
            <a:ext cx="3514344" cy="109728"/>
          </a:xfrm>
          <a:prstGeom prst="rect">
            <a:avLst/>
          </a:prstGeom>
          <a:solidFill>
            <a:srgbClr val="FA4642"/>
          </a:solidFill>
          <a:ln/>
        </p:spPr>
      </p:sp>
      <p:sp>
        <p:nvSpPr>
          <p:cNvPr id="14" name="Text 10"/>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5" name="Text 11"/>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nearshoring.</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7" name="Text 13"/>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18" name="Shape 14"/>
          <p:cNvSpPr/>
          <p:nvPr/>
        </p:nvSpPr>
        <p:spPr>
          <a:xfrm>
            <a:off x="8125968" y="1645920"/>
            <a:ext cx="3514344" cy="109728"/>
          </a:xfrm>
          <a:prstGeom prst="rect">
            <a:avLst/>
          </a:prstGeom>
          <a:solidFill>
            <a:srgbClr val="AA0582"/>
          </a:solidFill>
          <a:ln/>
        </p:spPr>
      </p:sp>
      <p:sp>
        <p:nvSpPr>
          <p:cNvPr id="19" name="Text 15"/>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0" name="Text 16"/>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Existe, pero es la más pequeña y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2" name="Text 18"/>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3" name="Text 19"/>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27</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5"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29</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30</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se privatiza en 1991.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6.2 %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 llega ArcelorMittal.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feedback,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feedback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nearshoring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nearshoring: inversión extranjera récord en 2023.</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Evidence Pack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nuestra industria lo vivimos: Fundidora 1986, SICARTSA 1991, ArcelorMittal 2006.</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5"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34</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Evidence Pack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Hacer lo que hago bien</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Aparecen entre las prioridades de todas las edades.</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a los mayores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personalidad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37</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engagement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2.7 millones de empleados, ≈100,000 equipos (2015).</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feedback, desarrollo, cuidado— son conductas del jefe, no políticas corporativas.</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41</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1" name="Text 7"/>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2" name="Shape 8"/>
          <p:cNvSpPr/>
          <p:nvPr/>
        </p:nvSpPr>
        <p:spPr>
          <a:xfrm>
            <a:off x="4337304" y="1645920"/>
            <a:ext cx="3514344" cy="109728"/>
          </a:xfrm>
          <a:prstGeom prst="rect">
            <a:avLst/>
          </a:prstGeom>
          <a:solidFill>
            <a:srgbClr val="FA4642"/>
          </a:solidFill>
          <a:ln/>
        </p:spPr>
      </p:sp>
      <p:sp>
        <p:nvSpPr>
          <p:cNvPr id="13" name="Text 9"/>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4" name="Text 10"/>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5" name="Text 11"/>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Feedback,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6" name="Text 12"/>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7" name="Shape 13"/>
          <p:cNvSpPr/>
          <p:nvPr/>
        </p:nvSpPr>
        <p:spPr>
          <a:xfrm>
            <a:off x="8125968" y="1645920"/>
            <a:ext cx="3514344" cy="109728"/>
          </a:xfrm>
          <a:prstGeom prst="rect">
            <a:avLst/>
          </a:prstGeom>
          <a:solidFill>
            <a:srgbClr val="AA0582"/>
          </a:solidFill>
          <a:ln/>
        </p:spPr>
      </p:sp>
      <p:sp>
        <p:nvSpPr>
          <p:cNvPr id="18" name="Text 14"/>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19" name="Text 15"/>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0" name="Text 16"/>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Accountability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1" name="Text 17"/>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Feedback</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Accountability</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workbook: una columna para su persona (iniciales) y otra, opcional, para un caso.  La seguridad es innegociable.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Feedback</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Accountability</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5"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pre-work. Léanlas en silencio. Miren también su resultado del diagnóstico: ¿qué respuesta necesitan usar más con su persona?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1" name="Shape 7"/>
          <p:cNvSpPr/>
          <p:nvPr/>
        </p:nvSpPr>
        <p:spPr>
          <a:xfrm>
            <a:off x="4337304" y="1645920"/>
            <a:ext cx="3514344" cy="109728"/>
          </a:xfrm>
          <a:prstGeom prst="rect">
            <a:avLst/>
          </a:prstGeom>
          <a:solidFill>
            <a:srgbClr val="FA4642"/>
          </a:solidFill>
          <a:ln/>
        </p:spPr>
      </p:sp>
      <p:sp>
        <p:nvSpPr>
          <p:cNvPr id="12" name="Text 8"/>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3" name="Text 9"/>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4" name="Text 10"/>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5" name="Shape 11"/>
          <p:cNvSpPr/>
          <p:nvPr/>
        </p:nvSpPr>
        <p:spPr>
          <a:xfrm>
            <a:off x="8125968" y="1645920"/>
            <a:ext cx="3514344" cy="109728"/>
          </a:xfrm>
          <a:prstGeom prst="rect">
            <a:avLst/>
          </a:prstGeom>
          <a:solidFill>
            <a:srgbClr val="AA0582"/>
          </a:solidFill>
          <a:ln/>
        </p:spPr>
      </p:sp>
      <p:sp>
        <p:nvSpPr>
          <p:cNvPr id="16" name="Text 12"/>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17" name="Text 13"/>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18" name="Text 14"/>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19" name="Text 15"/>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52</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pre-work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5"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pic>
        <p:nvPicPr>
          <p:cNvPr id="5" name="Image 0" descr="/home/user/Training-and-Development-PROYECTS/workshop-liderazgo-intergeneracional/src/assets/gradient_band.png">    </p:cNvPr>
          <p:cNvPicPr>
            <a:picLocks noChangeAspect="1"/>
          </p:cNvPicPr>
          <p:nvPr/>
        </p:nvPicPr>
        <p:blipFill>
          <a:blip r:embed="rId2"/>
          <a:srcRect l="0" r="0" t="0" b="0"/>
          <a:stretch/>
        </p:blipFill>
        <p:spPr>
          <a:xfrm>
            <a:off x="548640" y="4572000"/>
            <a:ext cx="2743200" cy="64008"/>
          </a:xfrm>
          <a:prstGeom prst="rect">
            <a:avLst/>
          </a:prstGeom>
        </p:spPr>
      </p:pic>
      <p:sp>
        <p:nvSpPr>
          <p:cNvPr id="6"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7"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Engagement,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Evidence Pack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2026-09-28T22:53:45Z</dcterms:created>
  <dcterms:modified xsi:type="dcterms:W3CDTF">2026-09-28T22:53:45Z</dcterms:modified>
</cp:coreProperties>
</file>