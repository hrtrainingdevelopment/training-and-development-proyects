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Recibir a la sala. La lámina está en pantalla mientras los participantes llegan; no se presenta.
TIEMPO: Previo al inicio y 0:00–0:02 (palabras de la CHRO).
GUION DEL FACILITADOR: Sin guion. Los facilitadores saludan en la puerta y dirigen a cada persona a su mesa asignada (la CHRO en una mesa sin reportes directos, D-13). Cada lugar tiene el cuaderno cerrado y el sobre del trabajo previo cerrado.
PUNTOS A CERRAR
PREGUNTA: —
RESPUESTA ESPERADA: —
TRANSICIÓN: La CHRO abre con 2 minutos (D-09): por qué esta conversación importa al negocio y que participará como una directora más. Facilitador A la presenta en una línea.
NOTAS PARA LOS FACILITADORES
LIDERA: CHRO (2 min) → Facilitador A.
PRINCIPIO RECTOR: Personas distintas no necesitan estándares distintos. Pueden necesitar un liderazgo distinto.
GUÍA PARA LA CHRO (D-21): como titular de RH, el riesgo es que la sala lo lea como "otro programa de RH". Hablar de negocio (sucesión en posiciones críticas de turno, conocimiento que se jubila, seguridad, retención de talento temprano) y de su propio interés en la conversación; no anticipar conclusiones ni hablar de "las nuevas generaciones".
[POR CONFIRMAR]
Propuesta para aprobación de la CHRO: que un director de Operaciones respetado co-abra 1 minuto con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PUNTOS A CERRAR
PREGUNTA: Pregunta retórica; no se abre a respuesta.
RESPUESTA ESPERADA: Sonrisas de reconocimiento; algún comentario tipo "la hacemos diario". No se discute todavía.
TRANSICIÓN: "Para llegar a esa otra pregunta vamos a trabajar de una forma particular."
NOTAS PARA LOS FACILITADORES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PUNTOS A CERRAR
PREGUNTA: —
RESPUESTA ESPERADA: Atención; algunos escépticos esperando "el curso de RH". El mensaje "en ninguna dirección" reduce la sospecha de que el taller defiende a los jóvenes.
TRANSICIÓN: "Para que funcione necesitamos tres acuerdos."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Crear seguridad psicológica, especialmente con la CHRO en la sala y con facilitadores que le reportan (D-13).
TIEMPO: 0:06–0:08 (2 min).
GUION DEL FACILITADOR: A (con la CHRO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cuaderno se recoge ni se comparte; tampoco con [CHRO], y ella está de acuerdo. Y una petición práctica: teléfonos boca abajo; los vemos en el receso." (La CHRO lo modela.)
PUNTOS A CERRAR
PREGUNTA: "¿Alguien quiere agregar un acuerdo?"
RESPUESTA ESPERADA: Normalmente nadie agrega. Si alguien pide "que no sea teoría", aceptarlo como acuerdo.
TRANSICIÓN: Relevo A → B con una observación: "Empecemos por lo más cercano: cómo reaccionamos nosotros."
NOTAS PARA LOS FACILITADORES
LIDERA: A. La CHRO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experiencia: el taller empieza por los directores, no por las generaciones.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cada director vea su respuesta por defecto antes de hablar de generaciones (Idea 1).
TIEMPO: Versión corta: 1 min instrucción + 6 min respuesta (8 situaciones: se omiten la 5 y la 9).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PUNTOS A CERRAR
PREGUNTA: —
RESPUESTA ESPERADA: Silencio y concentración. Algunas personas preguntan "¿y si haría dos cosas?": "Elijan la primera."
TRANSICIÓN: "Vamos a ver qué dice su hoja de puntuación."
NOTAS PARA LOS FACILITADORES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PUNTOS A CERRAR
PREGUNTA: —
RESPUESTA ESPERADA: Sorpresa en algunos ("salí muy DIRIGIR", "casi no EXPLORO"). Prohibido pedir manos por estilo o hacer conteos de sala (D-16).
TRANSICIÓN: "Compártanlo con la persona de al lado. Solo lo que quieran."
NOTAS PARA LOS FACILITADORES
LIDERA: B.
CLAVE DE PUNTUACIÓN: está en el cuaderno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PUNTOS A CERRAR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NOTAS PARA LOS FACILITADORES
LIDERA: B (pares) → A (cierre de Idea 1).
RELEVO: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provocación y evidencia.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PUNTOS A CERRAR
PREGUNTA: —
RESPUESTA ESPERADA: Asentimientos en las partes sobre empresas y liderazgo; posibles risas o incomodidad en las partes sobre jóvenes y celulares.
TRANSICIÓN: B: "Cuatro preguntas para sus mesas."
NOTAS PARA LOS FACILITADORES
LIDERA: A (encuadre) · B opera el video.
COMPROMISO CON LA CHRO (D-13): sabe de antemano que el taller cuestionará algunas afirmaciones del video.
Archivo local con licencia o la copia de la CHRO, con subtítulos en español incrustados (.srt revisado); los subtítulos automáticos de YouTube no funcionan sin conexión. Fragmento congelado en T–14. Respaldo: laptop 2 → streaming por la red del recinto → A resume el argumento en voz (máx. 2 min).
[POR CONFIRMAR]
Fragmento exacto contra el video que proporcionó la CHRO (D-01); tiempos sugeridos ≈10:00–14:30 de la entrevista de 2016 (aproximados).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CHRO proporcionó otra pieza: Nordic Business Forum 2025 ("We gave them no loyalty…") — acceso por membresía.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PUNTOS A CERRAR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NOTAS PARA LOS FACILITADORES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PUNTOS A CERRAR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NOTAS PARA LOS FACILITADORES
COLOCACIÓN EN DOS OLEADAS de 90 s (mesas 1–2, luego 3–4/5) para no amontonarse; superficie ≥ 6 m o dos paneles (G2-28). Tarjetas con adhesivo removible, sin número de mesa.
LIDERA: B. A observa qué frases generan duda (personas que caminan entre dos zonas) para usarlas en el cierre reflexivo.
TARJETAS (D-14, en primera persona): 16 necesidades del Paquete de actividades.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PUNTOS A CERRAR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NOTAS PARA LOS FACILITADORES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PUNTOS A CERRAR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Cinco afirmaciones."
NOTAS PARA LOS FACILITADORES
LIDERA: B (tarjetas) → A (frase de salida y relevo).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Desmontar estereotipos con evidencia antes de explicar contextos (D-03, Idea 2). El voto simultáneo evita la conformidad con el rango.
TIEMPO: 0:57–0:58 (1 min de instrucción; el bloque completo dura 13 min).
GUION DEL FACILITADOR: A: "Cuatro afirmaciones que escuchamos en la industria. Tienen tres segundos para decidir. Cuando cuente tres, todos levantan su tarjeta al mismo tiempo. Nadie mira al vecino antes. Una advertencia: los datos no le dan la razón a nadie en todo. Tampoco a los jóvenes."
PUNTOS A CERRAR
PREGUNTA: —
RESPUESTA ESPERADA: Energía alta; competencia sana.
TRANSICIÓN: "Primera afirmación."
NOTAS PARA LOS FACILITADORES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CHRO vota como cualquier participante y no se le pregunta en plenaria (D-13).
Versiones 120/90: cuatro afirmaciones en pantalla (lealtad, tecnología, jefes y la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1 de 4.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o DEPENDE. Voz disidente típica: "Los de antes también se iban."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Generación Z no tiene lealtad." con prudencia, sin sobrecorregir.
TIEMPO: ≈40–60 s (revelación + una frase de A).
GUION DEL FACILITADOR: A: "El dato de Estados Unidos, que es el que tiene series largas, muestra que la mitad de las personas de 25 a 34 años lleva tres años o menos con su empleador… exactamente igual que en 1983. Los que hoy tienen 55 a 64 llevan casi diez. Es la edad, no la generación. Y la lealtad, según la investigación sobre contrato psicológico, sigue a la reciprocidad."
PUNTOS A CERRAR
PREGUNTA: —
RESPUESTA ESPERADA: Asentimientos de reconocimiento ("yo también me moví a los 25"). Alguien: "pero antes no se iban por 15 %". Validar y preguntar: "¿Qué más se ofrecía antes para quedarse?"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
[POR CONFIRMAR]
Cifra BLS de enero de 2026 (publicada el 24-sep-2026) confirmada vía resumen de bls.gov en buscador y nota de prensa; abrir bls.gov/news.release/tenure.nr0.htm antes de imprimir. Si no se confirma: usar 2.7 (enero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2 de 4.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Muchos votos DEPENDE; risas de reconocimiento entre directores mayores que usan tecnología intensivamente.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PUNTOS A CERRAR
PREGUNTA: —
RESPUESTA ESPERADA: Directores mayores sonríen; alguien puede citar un caso de rechazo a SAP. Preguntar: "¿Se le explicó para qué le servía a él?"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reserva (oculta): voto sobre una objeción frecuente.
TIEMPO: ≈60 s (lectura, voto, distribución y una voz disidente).
GUION DEL FACILITADOR: A lee en voz alta: "La gente ya no quiere trabajar.".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Voto dividido. Un director puede decir "en planta cuesta mucho cubrir turnos": validar el dato local y separar disposición de condiciones.
TRANSICIÓN: "Veamos qué dice la evidencia."
NOTAS PARA LOS FACILITADORES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gente ya no quiere trabajar." con prudencia, sin sobrecorregir.
TIEMPO: ≈40–60 s (revelación + una frase de A).
GUION DEL FACILITADOR: A: "México es el país de la OCDE donde más horas se trabajan al año. En Estados Unidos, la participación laboral en edad productiva está en máximos de 25 años. Lo que sí está bajo en todo el mundo es el compromiso: uno de cada cinco, y no es cosa de una sola generación. Esa es una conversación de liderazgo."
PUNTOS A CERRAR
PREGUNTA: —
RESPUESTA ESPERADA: Alguien: "en planta no cubrimos turnos". Separar disponibilidad para el trabajo de condiciones del trabajo.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3 de 4.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La pregunta final suele producir silencio: es el momento más fuerte del bloque. No llenarlo.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el compromiso de los jefes de hoy es el que más cayó." Pausa. Leer la pregunta final.
PUNTOS A CERRAR
PREGUNTA: ¿Qué ven cuando nos ven liderar?
RESPUESTA ESPERADA: Silencio. Algún director: "es que el puesto de jefe sí es pesado". Validar: "Exacto. Eso es lo que ven." No llenar la pausa.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reserva (oculta): voto sobre una objeción frecuente.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Aquí la sala acierta en parte: reconocerlo aumenta la credibilidad del bloque.
TRANSICIÓN: "Veamos qué dice la evidencia."
NOTAS PARA LOS FACILITADORES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Generación X y Boomers también lo quiere varias veces al mes. Y el efecto del reconocimiento aparece en todas las edades. Lo que cambia es cada cuánto y de qué forma."
PUNTOS A CERRAR
PREGUNTA: —
RESPUESTA ESPERADA: La sala acierta en parte; decirlo en voz alta aumenta la credibilidad del bloque: "Aquí tenían razón a medias."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4 de 4.
TIEMPO: ≈60 s (lectura, voto, distribución y una voz disidente).
GUION DEL FACILITADOR: A lee en voz alta: "Lo quieren todo ya.".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Contraejemplos de la sala: "yo a los 25 también quería todo ya".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Generación Z no se siente financieramente segura. La prisa se vuelve problema cuando no le mostramos una ruta."
PUNTOS A CERRAR
PREGUNTA: —
RESPUESTA ESPERADA: "Yo a los 25 también quería todo ya." Validar y preguntar: "¿Tenía una ruta visible?"
TRANSICIÓN: A: "Un minuto antes de cerrar este bloque."
NOTAS PARA LOS FACILITADORES
AFIRMACIÓN TOMADA DEL VIDEO (D-18): obligatoria en todas las versiones.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conceptual del Acto 4 (Idea 2): distinguir efecto edad, época y cohorte en lenguaje de directores.
TIEMPO: 1:08–1:10 (1 min escritura + ≈45 s de A).
GUION DEL FACILITADOR: A: "En su cuaderno,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PUNTOS A CERRAR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NOTAS PARA LOS FACILITADORES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Receso con una pregunta que prepara el Acto 5.
TIEMPO: 1:10–1:20 (10 min).
GUION DEL FACILITADOR: A: "Diez minutos. Les dejamos una pregunta para el café." Los facilitadores escuchan conversaciones sin intervenir y recogen frases para el Acto 5.
PUNTOS A CERRAR
PREGUNTA: La de la lámina.
RESPUESTA ESPERADA: Conversaciones informales sobre recortes, cambios de dueño y crisis vividas.
TRANSICIÓN: A reinicia puntual con la lámina de contextos.
NOTAS PARA LOS FACILITADORES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contexto y necesidades.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Reencuadrar las generaciones como contextos (D-17): entender experiencias formativas sin etiquetar a personas.
TIEMPO: Versión corta: 30 s; las cuatro láminas de contexto están ocultas y A enuncia en una frase que cada generación entró a un mundo distinto.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PUNTOS A CERRAR
PREGUNTA: —
RESPUESTA ESPERADA: Curiosidad; directores ubicando su propia historia.
TRANSICIÓN: "Empecemos por quienes entraron a trabajar entre los sesenta y mediados de los ochenta."
NOTAS PARA LOS FACILITADORES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PUNTOS A CERRAR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PUNTOS A CERRAR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3: el contrato laboral cambió de forma documentada, desde las empresas, antes que la gente.
TIEMPO: Versión corta: 2 min.
GUION DEL FACILITADOR: A: "Durante décadas el trato implícito fue el de la izquierda. Muchos en esta sala lo cumplieron y les funcionó. Desde los ochenta, muchas empresas —documentado sobre todo en EE. UU., y la siderurgia mexicana no fue excepción— pasaron a reestructuras, subcontratación y relaciones más de mercado. Quienes entraron después aprendieron el contrato de la derecha. No es mejor ni peor: es una respuesta racional al entorno que encontraron." B lee dos frases del rotafolio "Lo que escuchamos" del Acto 2 que hablen de cambio.
PUNTOS A CERRAR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NOTAS PARA LOS FACILITADORES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4: explorar críticamente "la lealtad se gana" como conversación sobre confianza, reciprocidad y relación jefe–colaborador, no como crítica a la empresa.
TIEMPO: Versión corta: 2 min + 3 min en pares con esta pregunta.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PUNTOS A CERRAR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NOTAS PARA LOS FACILITADORES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 el resultado de toda la muestra, de todas las edades juntas, no de una generación. Un dato que para una siderúrgica importa: la brecha de propósito más grande no es entre generaciones, es entre ejecutivos y primera línea."
PUNTOS A CERRAR
PREGUNTA: —
RESPUESTA ESPERADA: Reconocimiento: "es lo mismo que yo quiero".
TRANSICIÓN: "¿Y dónde sí hay diferencias?"
NOTAS PARA LOS FACILITADORES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PUNTOS A CERRAR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NOTAS PARA LOS FACILITADORES
LIDERA: A.
DATO DE APOYO: Gallup atribuye al gerente al menos 70 % de la varianza del compromiso entre equipos (Gallup 2015, base Q12; análisis propietario, no "causa 70 %"). Compromiso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menos comprometidos que hace un año. Eso no es un reproche: es parte del problema que queremos resolver." B: "En su mapa de motivadores, marquen en silencio la necesidad común que peor están atendiendo, y con quién. Noventa segundos." Después, 4 min en mesa.
PUNTOS A CERRAR
PREGUNTA: "¿Qué necesidad común estamos atendiendo peor, y con quién?"
RESPUESTA ESPERADA: Conversación de mesa; se reconoce el propio desgaste.
TRANSICIÓN: B: "Hasta aquí hemos hablado de otros. Los próximos cinco minutos son sobre ustedes."
NOTAS PARA LOS FACILITADORES
LIDERA: A → B. Versión 120: solo 2 min en mesa, sin escritura.
NO DECIR "70 % del compromiso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práctica.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Introspección fuerte (arco: comprensión). Elegir a "mi persona", el hilo que conecta con la Matriz, el compromiso y el Experimento (D-06).
TIEMPO: Versión 90: 2 min de silencio antes del Laboratorio, solo preguntas 2 y 5 y "mi persona" (G2-11).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PUNTOS A CERRAR
PREGUNTA: Las seis de la lámina (cuaderno).
RESPUESTA ESPERADA: Silencio incómodo los primeros 60–90 segundos; luego escritura concentrada.
TRANSICIÓN: B: "En pares, cinco minutos. Uno habla, el otro solo escucha."
NOTAS PARA LOS FACILITADORES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PUNTOS A CERRAR
PREGUNTA: "¿Qué más?" · "¿Cómo lo sabes?"
RESPUESTA ESPERADA: Algunos pares se ríen al notar que querían aconsejar. Es el aprendizaje.
TRANSICIÓN: B: "Llevemos esto a situaciones reales de planta."
NOTAS PARA LOS FACILITADORES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PUNTOS A CERRAR
PREGUNTA: Preguntas de reto de B por caso (Paquete de actividades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NOTAS PARA LOS FACILITADORES
LIDERA: B · A observa y anota qué mesa confundió "adaptar" con "conceder" y qué mesa confundió "firmeza" con "no escuchar" (se usa en el Acto 9).
CON 4 MESAS: casos A, B, D y E. CON 5: omitir C o F según el perfil de la sala.
La CHRO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referencia en pantalla durante el trabajo de mesa.
TIEMPO: En pantalla 1:57–2:09.
GUION DEL FACILITADOR: Sin guion; B recorre mesas. La pregunta 6 lleva la distinción de D-04 al caso.
PUNTOS A CERRAR
PREGUNTA: Las seis de la lámina.
RESPUESTA ESPERADA: La pregunta 2 (supuestos) es la que más cuesta y la que más cambia la respuesta.
TRANSICIÓN: Galería.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Relevo a A.
PUNTOS A CERRAR
PREGUNTA: ¿En qué caso estuvimos más cerca de ceder algo que no se negocia, y qué nos llevó ahí?
RESPUESTA ESPERADA: Casi nunca ocurre. Mensaje: adaptarse no fue bajar la vara.
TRANSICIÓN: A recibe: "Ese cómo tiene un nombre."
NOTAS PARA LOS FACILITADORES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PUNTOS A CERRAR
PREGUNTA: "¿En cuál de los casos vieron una respuesta rígida que parecía firmeza?"
RESPUESTA ESPERADA: Referencias al Caso D (disponibilidad como compromiso) y al Caso B (capacitación sin preguntar).
TRANSICIÓN: "Para ampliar ese rango proponemos algo muy simple: tres verbos."
NOTAS PARA LOS FACILITADORES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PUNTOS A CERRAR
PREGUNTA: "¿Cuál de los tres verbos se saltaron más en su caso?"
RESPUESTA ESPERADA: Casi siempre LEER: se pasa directo a la respuesta.
TRANSICIÓN: B: "Llevemos los tres verbos a su persona."
NOTAS PARA LOS FACILITADORES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PUNTOS A CERRAR
PREGUNTA: —
RESPUESTA ESPERADA: Asentimientos: la columna derecha es la que hace aceptable el mensaje para una audiencia operativa.
TRANSICIÓN: "Así se ve llena."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Ejemplo resuelto del Caso B para que el llenado individual sea concreto.
TIEMPO: 2:28 (30 s; se deja en pantalla).
GUION DEL FACILITADOR: B lee dos filas: una de cada lado. Luego lee la frase final en voz alta. "Esa frase es la Matriz en una línea."
PUNTOS A CERRAR
PREGUNTA: —
RESPUESTA ESPERADA: Reconocimiento: "así sí".
TRANSICIÓN: B: "Ahora con su persona. Seis minutos en silencio."
NOTAS PARA LOS FACILITADORES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Aplicar la herramienta a una persona real (hilo D-06) y validar concreción y claridad del estándar con un par.
TIEMPO: Versión 90: 6 min individual + 4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PUNTOS A CERRAR
PREGUNTA: Las dos preguntas del par.
RESPUESTA ESPERADA: La pregunta 2 del par suele revelar que el estándar nunca se dijo explícitamente: aprendizaje central.
TRANSICIÓN: B: "Última conversación antes de cerrar, y es distinta a las demás."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compromiso.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trabajo previo, cerrados (D-20). Al final, B pide a dos voluntarios compartir solo la respuesta a la frase 4. Relevo a A: "Parece que lo que queremos se parece más de lo que el Muro sugería."
PUNTOS A CERRAR
PREGUNTA: Frase 4: "Algo que probablemente ambos queremos es…"
RESPUESTA ESPERADA: Respuestas como "que nos tomen en cuenta", "hacer un buen trabajo", "que el jefe sea claro". Emoción contenida; buen clima.
TRANSICIÓN: A: "Cerremos donde empezamos."
NOTAS PARA LOS FACILITADORES
LIDERA: B → A.
SALA HOMOGÉNEA (decidir en T–7 sin consultar edades): ocultar esta lámina y mostrar la variante siguiente ("Invertir el lente con mi persona").
ACORDEÓN: si vamos tarde, 8 min (solo frases 1 y 4).
Evitar parejas jefe–colaborador directo. La CHRO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PUNTOS A CERRAR
PREGUNTA: "¿Cuándo se lo preguntaste por última vez?"
RESPUESTA ESPERADA: Reconocimiento de que "nunca se lo he preguntado". Es el aprendizaje.
TRANSICIÓN: A: "Cerremos donde empezamos."
NOTAS PARA LOS FACILITADORES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el diagnóstico y el trabajo previo: comparar la mirada de entrada con la de salida.
TIEMPO: Versión corta: 2 min (el sobre se entregó durante la Matriz).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PUNTOS A CERRAR
PREGUNTA: ¿Responderían hoy lo mismo?
RESPUESTA ESPERADA: Sonrisas, algún "yo escribí eso…". Silencio.
TRANSICIÓN: "Convirtamos esto en una decisión."
NOTAS PARA LOS FACILITADORES
LIDERA: A.
El sobre y su contenido son del participante; no se recogen. Quien no respondió el trabajo previo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Compromiso personal concreto (DEJAR / EMPEZAR / MANTENER + una persona, una conversación). Nada de compromisos abstractos.
TIEMPO: Versión corta: 4 min individual.
GUION DEL FACILITADOR: A: "Cuatro minutos en silencio, en su cuaderno.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PUNTOS A CERRAR
PREGUNTA: "¿Cómo vas a saber que fue una conversación distinta?"
RESPUESTA ESPERADA: Compromisos concretos; algunos genéricos ("escuchar más"). B recorre y pregunta en privado: "¿Con quién, cuándo y sobre qué?"
TRANSICIÓN: A: "Antes de cerrar, dos minutos para ustedes."
NOTAS PARA LOS FACILITADORES
LIDERA: A.
El compromiso vive en el cuaderno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Encuesta de salida dentro del horario (Nivel 1 y 2 del plan de medición), antes del compromiso de la CHRO, para que la sesión termine en la frase ancla (G3-09, G3-10).
TIEMPO: Versión corta: 2 min encuesta + 1 min con el vecino.
GUION DEL FACILITADOR: A: "Dos minutos, en silencio: la encuesta del código de su mesa. Es anónima." Al terminar: "Díganle a la persona de al lado, en una frase: en siete días voy a…" Sin comentarios. A menciona en una frase la tarjeta del Experimento que está en su sobre.
PUNTOS A CERRAR
PREGUNTA: —
RESPUESTA ESPERADA: Silencio operativo; teléfonos en uso por 2 minutos.
TRANSICIÓN: A cede la palabra a la CHRO: 1 minuto.
NOTAS PARA LOS FACILITADORES
LIDERA: A · B verifica que el QR cargue en la red del recinto; 10 encuestas impresas de respaldo.
CHRO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PUNTOS A CERRAR
PREGUNTA: —
RESPUESTA ESPERADA: Alguien puede preguntar si es obligatorio: "Es una invitación. Los aprendizajes de la sala dependen de quién lo haga."
TRANSICIÓN: —
NOTAS PARA LOS FACILITADORES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la pregunta de apertura: reemplazar la frase de pasillo por una pregunta de liderazgo.
TIEMPO: 30 s.
GUION DEL FACILITADOR: A: "Al inicio les dijimos que al final les propondríamos otra pregunta. Es esta. No es más cómoda. Pero es la que sí depende de nosotros."
PUNTOS A CERRAR
PREGUNTA: La de la lámina.
RESPUESTA ESPERADA: Silencio; asentimientos.
TRANSICIÓN: Última lámina.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 la frase ancla y la regla de seguridad. Sin aplausos ni dinámica final.
TIEMPO: 30 s.
GUION DEL FACILITADOR: A lee las dos líneas y la frase de seguridad. Silencio breve. "Gracias."
PUNTOS A CERRAR
PREGUNTA: —
RESPUESTA ESPERADA: Cierre sobrio.
TRANSICIÓN: Fin. B hace barrido de sala (sobres olvidados) y desmontaje del Muro.
NOTAS PARA LOS FACILITADORES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Respaldo de fuentes para consulta; oculta.
TIEMPO: No se proyecta salvo pregunta.
GUION DEL FACILITADOR: Si un participante pregunta por una fuente: "Está en el Paquete de evidencia, con la muestra y la URL. Se lo compartimos."
PUNTOS A CERRAR
PREGUNTA: —
RESPUESTA ESPERADA: —
TRANSICIÓN: —
NOTAS PARA LOS FACILITADORES
Antes de cada edición, abrir las URL primarias y confirmar cifras (Paquete de evidencia,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Versión de 90 minutos. 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90′</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9</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01</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1 · EXPERIENCIA · ACTO 1</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Primero, cómo reaccionamos nosotros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Ocho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cuaderno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Cuaderno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retroalimentación, hago acompañamiento</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02</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2 · PROVOCACIÓN Y EVIDENCIA · ACTOS 2 A 4</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Lo que creemos, frente a lo que dicen los datos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Opinión de un divulgador, no evidencia.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pregunta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11</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3000" dirty="0">
                <a:solidFill>
                  <a:srgbClr val="1A1A2E"/>
                </a:solidFill>
                <a:latin typeface="Century Gothic" pitchFamily="34" charset="0"/>
                <a:ea typeface="Century Gothic" pitchFamily="34" charset="-122"/>
                <a:cs typeface="Century Gothic" pitchFamily="34" charset="-120"/>
              </a:rPr>
              <a:t>¿Qué cambió: la gente o el trato?</a:t>
            </a:r>
            <a:endParaRPr lang="en-US" sz="3000" dirty="0"/>
          </a:p>
        </p:txBody>
      </p:sp>
      <p:sp>
        <p:nvSpPr>
          <p:cNvPr id="9" name="Shape 5"/>
          <p:cNvSpPr/>
          <p:nvPr/>
        </p:nvSpPr>
        <p:spPr>
          <a:xfrm>
            <a:off x="7680960" y="1600200"/>
            <a:ext cx="3959352" cy="4480560"/>
          </a:xfrm>
          <a:prstGeom prst="roundRect">
            <a:avLst>
              <a:gd name="adj" fmla="val 1848"/>
            </a:avLst>
          </a:prstGeom>
          <a:solidFill>
            <a:srgbClr val="F4F5F9"/>
          </a:solidFill>
          <a:ln/>
        </p:spPr>
      </p:sp>
      <p:sp>
        <p:nvSpPr>
          <p:cNvPr id="10" name="Text 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1" name="Text 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16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10</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(CPS, enero de 2026,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3.0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enero de 2026). En 1983 también era 3.0; en 2000,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(estudios con trabajadores de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uso,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y muestran menos disposición,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Eso puede reflejar que se les ofrece menos o que ven menos retorno a esa edad; lo que sí sabemos es que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trabajadores del conocimiento que usan IA (31 países), 73 % de las personas de 58 años o más la lleva por su cuenta al trabajo (Generación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participación laboral de 25 a 54 años alcanzó a inicios de 2026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(Gallup, datos 2025); no es un problema de una sola generación.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llamada "renuncia silenciosa" describe al grupo no comprometido. En 2022 afectó más a menores de 35, y lo que bajó fue la claridad, el desarrollo y el cuidado del jefe: un fenómeno de gestión más que de voluntad.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2025 y 2026 (≈22,500–23,500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Generación Z y millennials: liderazgo como meta principal hoy (6 %). Generación Z: interés en liderazgo senior algún día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desgaste,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cuyo compromiso más cayó: de 27 % a 22 % en un año (mundo, Gallup).</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"rechazo consciente a ser jefe"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retroalimentación.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Generación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retroalimentación diaria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27</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Generación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en las personas jóvenes y bajan con la edad: un patrón consistente con la etapa de vida.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(dato global); en México se suman vivienda e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
        <p:nvSpPr>
          <p:cNvPr id="8" name="Shape 4"/>
          <p:cNvSpPr/>
          <p:nvPr/>
        </p:nvSpPr>
        <p:spPr>
          <a:xfrm>
            <a:off x="548640" y="1600200"/>
            <a:ext cx="420624" cy="420624"/>
          </a:xfrm>
          <a:prstGeom prst="ellipse">
            <a:avLst/>
          </a:prstGeom>
          <a:solidFill>
            <a:srgbClr val="FF8C47"/>
          </a:solidFill>
          <a:ln/>
        </p:spPr>
      </p:sp>
      <p:sp>
        <p:nvSpPr>
          <p:cNvPr id="9" name="Text 5"/>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10" name="Text 6"/>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1" name="Text 7"/>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2" name="Text 8"/>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3" name="Text 9"/>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4" name="Shape 10"/>
          <p:cNvSpPr/>
          <p:nvPr/>
        </p:nvSpPr>
        <p:spPr>
          <a:xfrm>
            <a:off x="4337304" y="1600200"/>
            <a:ext cx="420624" cy="420624"/>
          </a:xfrm>
          <a:prstGeom prst="ellipse">
            <a:avLst/>
          </a:prstGeom>
          <a:solidFill>
            <a:srgbClr val="FA4642"/>
          </a:solidFill>
          <a:ln/>
        </p:spPr>
      </p:sp>
      <p:sp>
        <p:nvSpPr>
          <p:cNvPr id="15" name="Text 11"/>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6" name="Text 12"/>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7" name="Text 13"/>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8" name="Text 14"/>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relocalización industrial.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9" name="Text 15"/>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20" name="Shape 16"/>
          <p:cNvSpPr/>
          <p:nvPr/>
        </p:nvSpPr>
        <p:spPr>
          <a:xfrm>
            <a:off x="8125968" y="1600200"/>
            <a:ext cx="420624" cy="420624"/>
          </a:xfrm>
          <a:prstGeom prst="ellipse">
            <a:avLst/>
          </a:prstGeom>
          <a:solidFill>
            <a:srgbClr val="AA0582"/>
          </a:solidFill>
          <a:ln/>
        </p:spPr>
      </p:sp>
      <p:sp>
        <p:nvSpPr>
          <p:cNvPr id="21" name="Text 17"/>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2" name="Text 18"/>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3" name="Text 19"/>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4" name="Text 20"/>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Puede existir, pero suele ser pequeña y es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5" name="Text 21"/>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6" name="Text 2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29</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03</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3 · CONTEXTO · ACTOS 5 Y 6</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Cambió el entorno y cambió el trato</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30</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4"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pasa a manos privadas en 1991–92 (Villacero e Ispat).</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alrededor de 6 %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2006–07 ArcelorMittal integra ambas plantas.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34</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retroalimentación,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retroalimentación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relocalización industrial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relocalización industrial: inversión extranjera en niveles récord (2023, cifras preliminares).</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Paquete de evidencia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vivimos: Fundidora 1986, privatización de SICARTSA 1991–92, ArcelorMittal 2006–07.</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4"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37</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Paquete de evidencia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Usar mis fortalezas</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Las cuatro primeras son prioridades en todas las generaciones (Gallup 2022).</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los mayores participan menos, a veces porque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compromiso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American Manager (2015): base de compromiso con millones de empleados, principalmente EE. UU.</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retroalimentación, desarrollo, cuidado— son conductas del jefe, no políticas corporativas.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04</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4 · PRÁCTICA · ACTOS 7 A 10</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Del espejo a la práctica: una persona real</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41</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3" name="Shape 9"/>
          <p:cNvSpPr/>
          <p:nvPr/>
        </p:nvSpPr>
        <p:spPr>
          <a:xfrm>
            <a:off x="4337304" y="1600200"/>
            <a:ext cx="420624" cy="420624"/>
          </a:xfrm>
          <a:prstGeom prst="ellipse">
            <a:avLst/>
          </a:prstGeom>
          <a:solidFill>
            <a:srgbClr val="FA4642"/>
          </a:solidFill>
          <a:ln/>
        </p:spPr>
      </p:sp>
      <p:sp>
        <p:nvSpPr>
          <p:cNvPr id="14" name="Text 10"/>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5" name="Text 11"/>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6" name="Text 12"/>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7" name="Text 13"/>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Retroalimentación,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8" name="Text 14"/>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9" name="Shape 15"/>
          <p:cNvSpPr/>
          <p:nvPr/>
        </p:nvSpPr>
        <p:spPr>
          <a:xfrm>
            <a:off x="8125968" y="1600200"/>
            <a:ext cx="420624" cy="420624"/>
          </a:xfrm>
          <a:prstGeom prst="ellipse">
            <a:avLst/>
          </a:prstGeom>
          <a:solidFill>
            <a:srgbClr val="AA0582"/>
          </a:solidFill>
          <a:ln/>
        </p:spPr>
      </p:sp>
      <p:sp>
        <p:nvSpPr>
          <p:cNvPr id="20" name="Text 16"/>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1" name="Text 17"/>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22" name="Text 18"/>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3" name="Text 19"/>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Rendición de cuentas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4" name="Text 20"/>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5" name="Text 21"/>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Retroalimentación</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Rendición de cuentas</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cuaderno: una columna para su persona (iniciales) y otra, opcional, para un caso.  La seguridad es innegociable.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Retroalimentación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Rendición de cuentas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05</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5 · COMPROMISO · ACTOS 11 Y 12</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Una persona, una conversación, treinta días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52</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4"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trabajo previo. Léanlas en silencio. Miren también su resultado del diagnóstico: ¿qué respuesta necesitan usar más con su persona?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2" name="Shape 8"/>
          <p:cNvSpPr/>
          <p:nvPr/>
        </p:nvSpPr>
        <p:spPr>
          <a:xfrm>
            <a:off x="4337304" y="1600200"/>
            <a:ext cx="420624" cy="420624"/>
          </a:xfrm>
          <a:prstGeom prst="ellipse">
            <a:avLst/>
          </a:prstGeom>
          <a:solidFill>
            <a:srgbClr val="FA4642"/>
          </a:solidFill>
          <a:ln/>
        </p:spPr>
      </p:sp>
      <p:sp>
        <p:nvSpPr>
          <p:cNvPr id="13" name="Text 9"/>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4" name="Text 10"/>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5" name="Text 11"/>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7" name="Shape 13"/>
          <p:cNvSpPr/>
          <p:nvPr/>
        </p:nvSpPr>
        <p:spPr>
          <a:xfrm>
            <a:off x="8125968" y="1600200"/>
            <a:ext cx="420624" cy="420624"/>
          </a:xfrm>
          <a:prstGeom prst="ellipse">
            <a:avLst/>
          </a:prstGeom>
          <a:solidFill>
            <a:srgbClr val="AA0582"/>
          </a:solidFill>
          <a:ln/>
        </p:spPr>
      </p:sp>
      <p:sp>
        <p:nvSpPr>
          <p:cNvPr id="18" name="Text 14"/>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9" name="Text 15"/>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20" name="Text 16"/>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57</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Tres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trabajo previo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58</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4"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59</a:t>
            </a:r>
            <a:endParaRPr lang="en-US" sz="7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sp>
        <p:nvSpPr>
          <p:cNvPr id="5"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6"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60</a:t>
            </a:r>
            <a:endParaRPr lang="en-US" sz="7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61</a:t>
            </a:r>
            <a:endParaRPr lang="en-US" sz="7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Compromiso,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Paquete de evidencia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2026-09-28T23:07:32Z</dcterms:created>
  <dcterms:modified xsi:type="dcterms:W3CDTF">2026-09-28T23:07:32Z</dcterms:modified>
</cp:coreProperties>
</file>