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Century Gothic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Century Gothic"/>
              </a:rPr>
              <a:t>Antigüedad mediana con el empleador (años)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Años</c:v>
                </c:pt>
              </c:strCache>
            </c:strRef>
          </c:tx>
          <c:spPr>
            <a:solidFill>
              <a:srgbClr val="FA464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FFFFFF"/>
                    </a:solidFill>
                    <a:latin typeface="Century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A46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A464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46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8CA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A058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25–34 años · 1983</c:v>
                  </c:pt>
                  <c:pt idx="1">
                    <c:v>25–34 años · 2000</c:v>
                  </c:pt>
                  <c:pt idx="2">
                    <c:v>25–34 años · 2026</c:v>
                  </c:pt>
                  <c:pt idx="3">
                    <c:v>Todos · 2026</c:v>
                  </c:pt>
                  <c:pt idx="4">
                    <c:v>55–64 años · 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2.6</c:v>
                </c:pt>
                <c:pt idx="2">
                  <c:v>3</c:v>
                </c:pt>
                <c:pt idx="3">
                  <c:v>4.1</c:v>
                </c:pt>
                <c:pt idx="4">
                  <c:v>9.6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800" u="none">
                  <a:solidFill>
                    <a:srgbClr val="FFFFFF"/>
                  </a:solidFill>
                  <a:latin typeface="Century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Century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l"/>
        <c:majorGridlines>
          <c:spPr>
            <a:ln w="6350" cap="flat">
              <a:solidFill>
                <a:srgbClr val="E6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CA0"/>
                </a:solidFill>
                <a:latin typeface="Century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Century Gothic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Century Gothic"/>
              </a:rPr>
              <a:t>Gerentes comprometidos en el mundo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Gerentes comprometidos (%)</c:v>
                </c:pt>
              </c:strCache>
            </c:strRef>
          </c:tx>
          <c:spPr>
            <a:solidFill>
              <a:srgbClr val="FA4642"/>
            </a:solidFill>
            <a:ln w="38100" cap="flat">
              <a:solidFill>
                <a:srgbClr val="FA4642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A1A2E"/>
                    </a:solidFill>
                    <a:latin typeface="Century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FA4642"/>
              </a:solidFill>
              <a:ln w="9525" cap="flat">
                <a:solidFill>
                  <a:srgbClr val="FA46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30</c:v>
                </c:pt>
                <c:pt idx="2">
                  <c:v>27</c:v>
                </c:pt>
                <c:pt idx="3">
                  <c:v>22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1" i="0" strike="noStrike" sz="800" u="none">
                  <a:solidFill>
                    <a:srgbClr val="1A1A2E"/>
                  </a:solidFill>
                  <a:latin typeface="Century Gothi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Century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6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CA0"/>
                </a:solidFill>
                <a:latin typeface="Century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Objetivo: validar con la CHRO la narrativa, el tono y el contenido del taller antes de producirlo e impartirlo. Principio rector: personas distintas no necesitan estándares distintos; pueden necesitar un liderazgo distinto.
PUNTOS A CERRAR
Que la CHRO conozca el porqué, la experiencia, los puntos sensibles y las propuestas que requieren su aprobación.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Cuatro mensajes en orden. La recomendación se presenta como propuesta para aprobación, no como decisión tomada.
PUNTOS A CERRAR
Confirmar que la tesis (mismo estándar, más rango) es la conversación que la CHRO quiere tener con los directores.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Los cuatro retos son de negocio y dependen del liderazgo directo. Así lo debe abrir la CHRO: no es un programa de RH, es una conversación sobre cómo lideramos.
PUNTOS A CERRAR
Confirmar que estos cuatro retos reflejan la realidad de AMMX y si hay datos internos (rotación temprana, jubilaciones próximas) que convenga incorporar.
[POR CONFIRMAR]
Datos internos de AMMX por rango de antigüedad para sustituir los ejemplos de EE. UU.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Una sola idea: el estereotipo de "no tienen lealtad" se explica por edad. Datos de EE. UU. porque México no tiene una serie comparable publicada.
PUNTOS A CERRAR
La cifra que más convence a los directores será la de AMMX; proponer pedirla a Analítica de RH solo a nivel de cohorte.
[POR CONFIRMAR]
Cifra BLS de enero de 2026 (confirmar en bls.gov) y serie de antigüedad por rango de edad de AMMX.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Dos datos: el jefe como palanca y el desgaste de los propios jefes. No es un reproche: es parte del problema a resolver.
PUNTOS A CERRAR
Evitar decir que "el jefe causa el 70 %". Es análisis propietario de Gallup, no revisado por pares.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Mostrar que el bloque Mito vs. Dato está equilibrado: varios veredictos son "depende". Una afirmación proviene del video de Simon Sinek, que se presenta como opinión.
PUNTOS A CERRAR
Validar el fragmento del video y su encuadre como opinión, no como evidencia.
[POR CONFIRMAR]
Fragmento exacto del video proporcionado.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El modelo es la herramienta que los directores se llevan (Matriz de Flexibilidad y tarjeta de bolsillo). La columna "no se adapta" es la que hace aceptable el mensaje para una audiencia operativa.
PUNTOS A CERRAR
Validar el lenguaje del modelo.
[POR CONFIRMAR]
Materiales de Speed Absorbent no disponibles al producir esta versión: si se reciben, evaluar su integración sin inventar conceptos.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La secuencia es deliberada: no se empieza enseñando generaciones. La proporción fue calculada por la revisión de diseño instruccional sobre el guion minuto a minuto; la reflexión se completa fuera de la sala con el trabajo previo y la bitácora.
PUNTOS A CERRAR
Arco emocional: curiosidad, incomodidad, reconocimiento, comprensión, práctica, apropiación.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Los casos se ambientan en Lázaro Cárdenas, Monterrey y Celaya. Cada uno tiene un giro que da razón parcial a ambos lados; en el caso D, quien pone límites tiene 41 años y lo hace por cuidado familiar.
PUNTOS A CERRAR
Confirmar denominaciones internas (SAP PM, programa de ingenieros en formación).
[POR CONFIRMAR]
Denominaciones internas de sistemas y programas.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Todas las piezas se generan desde las mismas fuentes (decisiones, evidencia, actividades), de modo que no se contradicen.
PUNTOS A CERRAR
Esta presentación resume; los detalles están en cada entregable.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La versión de 90 minutos cambia conciencia e intención, pero depende casi por completo del trabajo previo y del experimento a 30 días para cambiar conducta.
PUNTOS A CERRAR
Propuesta: impartir la versión completa en la primera cohorte directiva.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El punto más delicado es que la patrocinadora sea la titular de RH: el diseño lo mitiga con encuadre de negocio y la propuesta de co-apertura.
PUNTOS A CERRAR
Validar la co-apertura y los acuerdos de confidencialidad.
[POR CONFIRMAR]
Nombre del director de Operaciones para la co-apertura.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La evaluación no se limita a satisfacción. El nivel 4 se reporta como tendencia contextualizada, nunca como retorno atribuido al taller.
PUNTOS A CERRAR
Confirmar disponibilidad de la encuesta de clima y del HRIS a nivel de cohorte.
[POR CONFIRMAR]
Periodicidad de la encuesta de clima; segmentación por antigüedad en HRIS.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Cada revisión produjo "aprobado" o "cambios requeridos"; los cambios se aplicaron antes de la siguiente. Ningún hallazgo crítico quedó abierto.
PUNTOS A CERRAR
Los reportes completos están disponibles si la CHRO quiere revisar alguno.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
Respaldo; no se presenta salvo pregunta.
PUNTOS A CERRAR
Antes de cada edición, confirmar cifras en las URL primarias.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and-Development-PROYECTS/workshop-liderazgo-intergeneracional/src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PROPUESTA PARA VALIDACIÓN · OCTUBRE 2026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Liderar entre generaciones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Taller ejecutivo para directores: de la pregunta generacional a la capacidad de liderar a personas distintas con el mismo estándar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taller ejecutivo (versiones de 2 h y 90 min)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momentos de trabajo en sala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días de experimento de liderazgo posterior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niveles de medición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10896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Experiencia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92024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9019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Reflexión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697480"/>
            <a:ext cx="365760" cy="365760"/>
          </a:xfrm>
          <a:prstGeom prst="ellipse">
            <a:avLst/>
          </a:prstGeom>
          <a:solidFill>
            <a:srgbClr val="EA3450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6791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Evidencia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47472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4564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Práctica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425196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42336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Compromiso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CHRO · Recursos Humanos · ArcelorMittal México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de Capacitación y Desarrollo. Documentos de soporte: entregables 01 a 10.</a:t>
            </a:r>
            <a:endParaRPr lang="en-US" sz="750" dirty="0"/>
          </a:p>
        </p:txBody>
      </p:sp>
      <p:sp>
        <p:nvSpPr>
          <p:cNvPr id="36" name="Text 3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RESUMEN EJECUTIVO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Mismo estándar para todos; más rango para liderar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Paquete de evidencia (entregable 06), corte 28-sep-2026. Datos de EE. UU. donde México no tiene serie comparable.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56362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pregunta generacional no ayuda a decidir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192938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diferencias entre generaciones en el trabajo son pequeñas y se explican mejor por edad, etapa de vida y época.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715768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67919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jefe directo es la palanca más grande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04495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Casi todo lo que la gente pide —claridad, retroalimentación, desarrollo, trato— son conductas del jefe.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79476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Adaptar el cómo, nunca el qué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16052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ajusta la comunicación, el contexto y el acompañamiento; no se tocan estándares, ética ni seguridad.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491032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Termina en una conducta, no en una intención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527608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director sale con una persona, una conversación en 7 días y un experimento de 30 días.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20840" y="1463040"/>
            <a:ext cx="493776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995160" y="1645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RECOMENDACIÓN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2029968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Validar el taller de 3 horas como primera cohorte con el equipo directivo, con la CHRO como participante y patrocinadora, y una sesión de seguimiento entre los días 35 y 45.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995160" y="3950208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 por siete revisiones de calidad antes de llegar a la sala: psicología, diseño instruccional, operación, evidencia, red team, CHRO y facilitadores.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NECESIDAD DE NEGOCIO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reto no es generacional: es de liderazgo directo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 de negocio planteadas para el diseño; sin cifras internas de AMMX en esta versión.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Sucesión en posiciones críticas de turno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Talento temprano que pide crecer más rápido de lo que el proceso ofrece, en puestos donde se decide seguridad en tiempo real.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Conocimiento crítico que se jubila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Expertos con décadas en planta cuyo criterio no está documentado y que necesitan un rol claro en el nuevo modelo.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Adopción de herramientas digitales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Mantenimiento y calidad adoptan sistemas cuando la herramienta tiene sentido para quien la usa, no por edad.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Retención de talento temprano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mercado con relocalización industrial e informalidad alta ofrece alternativas reales a quien no ve una ruta.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720840" y="1463040"/>
            <a:ext cx="493776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95160" y="1645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TALLER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7205472" y="2258568"/>
            <a:ext cx="0" cy="1481328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040880" y="2075688"/>
            <a:ext cx="329184" cy="329184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7516368" y="20482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Leer a la persona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7040880" y="2569464"/>
            <a:ext cx="329184" cy="329184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7516368" y="25420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Adaptar cómo lidero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7040880" y="3063240"/>
            <a:ext cx="329184" cy="329184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516368" y="30358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Alinear el estándar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7040880" y="3557016"/>
            <a:ext cx="329184" cy="329184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7516368" y="35295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Mismo resultado, más compromiso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6995160" y="423367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Personas distintas no necesitan estándares distintos. Pueden necesitar un liderazgo distinto.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EVIDENCIA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Los jóvenes siempre han cambiado más de empleo: es edad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BLS, Employee Tenure (CPS, enero de 2026); EBRI (2025), Trends in Employee Tenure 1983–2024. EE. UU.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63040"/>
          <a:ext cx="62179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132320" y="1463040"/>
            <a:ext cx="4526280" cy="4754880"/>
          </a:xfrm>
          <a:prstGeom prst="roundRect">
            <a:avLst>
              <a:gd name="adj" fmla="val 1616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406640" y="16459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406640" y="2029968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personas de 25 a 34 años tienen hoy la misma antigüedad mediana que en 1983: rotar más a esa edad no es nuevo.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antigüedad se acumula con la edad y la etapa de vida.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lealtad sigue a la reciprocidad percibida, a cualquier edad (meta-análisis de contrato psicológico).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406640" y="5532120"/>
            <a:ext cx="4023360" cy="41148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498080" y="5532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0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Confirmar cifra 2026 en bls.gov y sumar datos de AMMX.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EVIDENCIA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jefe es la palanca más grande, y está desgastado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Gallup, State of the Global Workplace 2025 y 2026 (encuesta mundial, 100+ países); Gallup, State of the American Manager (2015).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63040"/>
          <a:ext cx="62179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132320" y="1463040"/>
            <a:ext cx="4526280" cy="4754880"/>
          </a:xfrm>
          <a:prstGeom prst="roundRect">
            <a:avLst>
              <a:gd name="adj" fmla="val 1616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406640" y="16459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406640" y="2029968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Gallup asocia al gerente con al menos 70 % de la varianza del compromiso entre equipos (base Q12, principalmente EE. UU.): es la variable que más distingue a un equipo de otro, no una causa directa.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compromiso global es de 20 %, en todas las edades.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eso el taller trabaja con los directores, no sobre "los jóvenes".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EVIDENCIA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Cinco creencias frecuentes, contrastadas con datos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Paquete de evidencia (entregable 06), corte 28-sep-2026. Datos de EE. UU. donde México no tiene serie comparable.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452628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Afirmación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Veredicto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 que dice la evidencia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Fuente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“La Generación Z no tiene lealtad”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Rotar más a los 25 es de edad; la lealtad sigue a la reciprocidad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BLS 2024; Zhao et al. 2007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“Los Boomers se resisten a la tecnología”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Solo 1 de 6 estereotipos se sostiene: participan menos en capacitación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Ng y Feldman 2012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“Los jóvenes no quieren ser jefes”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DEPENDE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6 % lo tiene como meta hoy; 76 % de la Generación Z se interesa algún día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Deloitte 2025–2026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“Necesitan reconocimiento constante”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DEPENDE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Varía la frecuencia; la mitad de Generación X y Boomers también lo quiere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Gallup/Workhuman 2022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“Lo quieren todo ya” (del video)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DEPENDE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Los motivos de crecimiento son más altos en las personas jóvenes (patrón de edad)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Kooij et al. 2011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evidencia no le da la razón a nadie en todo: el taller evita sobrecorregir en cualquier dirección.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MODELO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Leer, adaptar, alinear: tres verbos para recordar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del taller (registro de decisiones D-04 y D-05).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776472" cy="73152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00200"/>
            <a:ext cx="3447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Entender a la persona y el contexto antes de concluir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251960" y="1600200"/>
            <a:ext cx="3776472" cy="73152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16552" y="1600200"/>
            <a:ext cx="3447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244144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Ajustar cómo lidero: comunicación, contexto, retroalimentación, reconocimiento, autonomía, desarrollo, frecuencia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955280" y="1600200"/>
            <a:ext cx="3776472" cy="73152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119872" y="1600200"/>
            <a:ext cx="3447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ALINEAR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244144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Sostener y decir en voz alta lo que no cambia: estándares, ética, seguridad, rendición de cuentas, desempeño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48640" y="361188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37947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SE ADAPTA · EL CÓMO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178808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4470" indent="-204470">
              <a:spcAft>
                <a:spcPts val="69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Comunicación y contexto (el porqué)</a:t>
            </a:r>
            <a:endParaRPr lang="en-US" sz="1150" dirty="0"/>
          </a:p>
          <a:p>
            <a:pPr marL="204470" indent="-204470">
              <a:spcAft>
                <a:spcPts val="69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Retroalimentación, reconocimiento y autonomía</a:t>
            </a:r>
            <a:endParaRPr lang="en-US" sz="1150" dirty="0"/>
          </a:p>
          <a:p>
            <a:pPr marL="204470" indent="-204470">
              <a:spcAft>
                <a:spcPts val="69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Desarrollo, frecuencia y conversaciones de carrera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7920" y="361188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FE3C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92240" y="37947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NO SE ADAPTA · EL QUÉ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4178808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4470" indent="-204470">
              <a:spcAft>
                <a:spcPts val="69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Estándares de desempeño y calidad</a:t>
            </a:r>
            <a:endParaRPr lang="en-US" sz="1150" dirty="0"/>
          </a:p>
          <a:p>
            <a:pPr marL="204470" indent="-204470">
              <a:spcAft>
                <a:spcPts val="69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Ética y seguridad: innegociables en una siderúrgica</a:t>
            </a:r>
            <a:endParaRPr lang="en-US" sz="1150" dirty="0"/>
          </a:p>
          <a:p>
            <a:pPr marL="204470" indent="-204470">
              <a:spcAft>
                <a:spcPts val="69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Rendición de cuentas por resultados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EXPERIENCIA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Primero los directores; al final, una decisión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taller y guion minuto a minuto (entregables 03 y 04).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583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viven los directores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Experiencia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Diagnóstico de 10 situaciones de planta: su respuesta por defecto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Provocación y evidencia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2–4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Video como opinión, Muro de necesidades, cinco creencias contra datos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Contexto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5–6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Cuatro contextos de entrada al trabajo en México; el contrato cambió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Práctica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7–10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Espejo del líder, seis casos industriales, modelo y Matriz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Compromiso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11–12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Invertir el lente; una persona, una conversación en 7 días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452360" y="1463040"/>
            <a:ext cx="4206240" cy="4754880"/>
          </a:xfrm>
          <a:prstGeom prst="roundRect">
            <a:avLst>
              <a:gd name="adj" fmla="val 1739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266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PROPORCIÓN EN SALA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26680" y="20299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≈ 27 %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9326880" y="2029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contenido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726680" y="28986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≈ 21 %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9326880" y="2898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reflexión individual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726680" y="3767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B225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≈ 32 %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9326880" y="37673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conversación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726680" y="46360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A05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≈ 20 %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9326880" y="46360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práctica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726680" y="55504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Ningún bloque conceptual supera 8 minutos.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EXPERIENCIA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Seis casos de planta donde ambas partes tienen algo de razón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ficticios construidos para el taller (paquete de actividades, entregable 05).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83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CASO A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86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“Quince meses y ya quiere la jefatura”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61488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Retención y seguridad en turno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1508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9164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83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CASO B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86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“Una tableta para saber cómo suena un motor”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61488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Trazabilidad y conocimiento experto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46720" y="1508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9164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83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CASO C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86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“Siempre se ha hecho así”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61488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Mejora continua y bloqueo y etiquetado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840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CASO D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17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“Después de las siete, no”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093208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Continuidad en paro de alto horno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297680" y="3840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2336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CASO E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17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“Ya nadie me pregunta nada”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093208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Conocimiento que se jubila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046720" y="3840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2336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796528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CASO F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8229600" y="4617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“Quiero ver más, y pronto”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8229600" y="5093208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Talento de alto potencial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ENTREGABLES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Diez piezas con una sola fuente de verdad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entregables/ del proyecto; registro de decisiones D-01 a D-21.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486400"/>
                <a:gridCol w="2606040"/>
                <a:gridCol w="2011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Entregable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Para quién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Formato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01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del taller (180, 120 y 90 min) con notas del orador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Facilitadores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PPTX + PDF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02 · 03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Cuaderno del participante · Guía del facilitador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Participantes · Facilitadores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PDF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04 · 05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Guion minuto a minuto · Paquete de actividades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Facilitadores · Logística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XLSX + PDF · PDF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06 · 07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Paquete de evidencia · Resumen ejecutivo para la CHRO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Facilitadores · CHRO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PDF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08 · 09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Trabajo previo · Experimento de liderazgo a 30 días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Participantes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PDF + formulario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 de medición (4 niveles, tratamiento de datos)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 · Analítica de RH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PDF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ENTREGABLES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versiones; el seguimiento se mantiene en todas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taller, versiones comprimidas.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2971800"/>
                <a:gridCol w="3017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180 minutos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 minutos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90 minutos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Láminas visibles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56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47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se conserva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Los 12 momentos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Secuencia completa, 3 casos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Activación: evidencia, 2 casos, Matriz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se pierde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Invertir el lente, contextos por separado, receso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Muro, el Espejo formal, Invertir el lente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Trabajo previo y experimento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 (sostienen el cambio de conducta)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Recomendación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Primera cohorte directiva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Cohortes siguientes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Solo como activación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PUNTOS SENSIBLES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puede salir mal, y cómo está resuelto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Revisiones de psicología organizacional, diseño instruccional y operación (Gates 1 a 3).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86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Riesgo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lo resuelve el diseño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 se lea como “otro programa de RH”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CHRO abre con el problema de negocio; propuesta de co-apertura con un director de Operaciones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 se sienta como “nos dicen que lideramos mal”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Los directores descubren sus propios patrones; la experiencia se reconoce como activo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Sesgo contra la experiencia o defensa de la Generación Z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Veredictos equilibrados; lenguaje de “respuesta rígida”, nunca “líder rígido”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video de Sinek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Fragmento seleccionado y encuadrado como opinión; una idea se contrasta con datos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Presencia de la CHRO y confidencialidad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Participa como par; acuerdos firmados; datos individuales solo a Privacidad/Jurídico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Estandarización insuficiente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Tres archivos de deck y acordeón de recortes: nunca se saltan láminas en vivo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MEDICIÓN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Medimos conducta, sin atribuirle al taller lo que no es suyo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medición (entregable 10). Resultados solo agregados, cohortes ≥ 5.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· Experiencia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61488"/>
            <a:ext cx="22860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Relevancia, respeto por la experiencia y acción concreta (encuesta anónima en sala)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64992" y="15087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3547872" y="169164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11480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3547872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· Aprendizaje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547872" y="2761488"/>
            <a:ext cx="22860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Creencias revisadas: pregunta anónima sobre el trabajo previo e ítems de comprensión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81344" y="15087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6364224" y="169164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31152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6364224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· Conducta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364224" y="2761488"/>
            <a:ext cx="22860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Conversación de 7 días, experimento de 30 días, pulso ascendente a 90 días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97696" y="15087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9180576" y="1691640"/>
            <a:ext cx="457200" cy="45720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747504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9180576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· Organización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9180576" y="2761488"/>
            <a:ext cx="22860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Compromiso con el jefe, rotación temprana y de expertos, movilidad interna: tendencias de cohorte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4617720"/>
            <a:ext cx="11109960" cy="1554480"/>
          </a:xfrm>
          <a:prstGeom prst="roundRect">
            <a:avLst>
              <a:gd name="adj" fmla="val 4706"/>
            </a:avLst>
          </a:prstGeom>
          <a:solidFill>
            <a:srgbClr val="F4F5F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22960" y="48006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" y="51846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Contribución, no atribución · Línea base de 6 meses antes de comparar · El diagnóstico y el trabajo previo no son métricas · Datos individuales nunca llegan a la CHRO: solo agregados de cohorte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ASEGURAMIENTO DE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revisiones antes de llegar a la sala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auditoría en la carpeta 06_auditoria del proyecto.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2103120"/>
                <a:gridCol w="38862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Revisión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Enfoque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Resultado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Cambios principales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· Psicología organizacional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Estereotipos, sesgos, seguridad psicológica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Cambios requeridos → aplicados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Muro en primera persona; parejas por trayectoria; acuerdos con la CHRO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· Diseño instruccional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Secuencia, tiempos, proporción, preguntas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Cambios requeridos → aplicados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Tiempos realistas; versiones 120 y 90; preguntas menos obvias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· Training Manager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Operación, logística, privacidad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Cambios requeridos → aplicados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Encuesta en horario; sobres; lista de materiales; tratamiento de datos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· Auditoría de evidencia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74 afirmaciones contra su fuente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Cambios requeridos → aplicados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Antigüedad BLS 2026; cronología SICARTSA; matices de capacitación y Randstad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· Red team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Clichés, sesgos, momentos débiles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Pendiente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· Simulación CHRO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Tono, relevancia, equilibrio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Pendiente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 · Usabilidad para facilitadores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¿Se puede impartir con estos materiales?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Pendiente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PRÓXIMOS PASOS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Propuestas para su aprobación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para aprobación; no implican compromiso presupuestal.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Narrativa, tono y mensajes clave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Mismo estándar, más rango de liderazgo; la generación como lente, no como diagnóstico.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Fragmento del video y su encuadre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Como opinión de un divulgador, contrastada con datos.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Acuerdos de rol y confidencialidad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Firmados en T–14, antes de enviar el trabajo previo.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Apertura de negocio y co-apertura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Sus 2 minutos, más 1 minuto de un director de Operaciones. [POR CONFIRMAR]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1520" y="47731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3152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280160" y="47365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Primera cohorte de 3 horas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280160" y="51389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el equipo directivo; fecha, sala y lista de participantes.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126480" y="45720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9360" y="47731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30936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858000" y="47365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Sesión de seguimiento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858000" y="51389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Entre los días 35 y 45, para compartir aprendizajes del experimento.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ANEXO · FUENTES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Fuentes principales de la evidencia</a:t>
            </a:r>
            <a:endParaRPr lang="en-US" sz="2400" dirty="0"/>
          </a:p>
        </p:txBody>
      </p:sp>
      <p:pic>
        <p:nvPicPr>
          <p:cNvPr id="4" name="Image 0" descr="/home/user/Training-and-Development-PROYECTS/workshop-liderazgo-intergeneracional/src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completas, muestras, geografía, URL y nivel de confianza: Paquete de evidencia (entregable 06).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526280"/>
                <a:gridCol w="25603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Fuente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aporta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Alcance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Costanza et al. (2012); National Academies (2020)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Diferencias generacionales pequeñas; no gestionar por generación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Meta-análisis · consenso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Ng y Feldman (2008, 2012)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Estereotipos sobre trabajadores mayores; edad y seguridad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Meta-análisis · 418 estudios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Rousseau (1995); Zhao et al. (2007)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Contrato psicológico y lealtad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 · meta-análisis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BLS (2026); EBRI (2025)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Antigüedad por edad, 1983–2026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EE. UU.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Gallup (2015, 2025, 2026); Deloitte (2025, 2026)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Compromiso, gerentes, aspiraciones de liderazgo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Global · 44–100+ países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Kooij et al. (2011); OCDE (2023); McKinsey (2021)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Motivos por edad; horas trabajadas; propósito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Meta-análisis · México · EE. UU.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Liderar entre generaciones — Propuesta para la CHRO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2026-09-28T23:07:33Z</dcterms:created>
  <dcterms:modified xsi:type="dcterms:W3CDTF">2026-09-28T23:07:33Z</dcterms:modified>
</cp:coreProperties>
</file>