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Century Gothic"/>
              </a:defRPr>
            </a:pPr>
            <a:r>
              <a:rPr sz="1100" b="0" i="0" u="none" strike="noStrike">
                <a:solidFill>
                  <a:srgbClr val="1A1A2E"/>
                </a:solidFill>
                <a:latin typeface="Century Gothic"/>
              </a:rPr>
              <a:t>Antigüedad mediana con su empleador (años)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Años</c:v>
                </c:pt>
              </c:strCache>
            </c:strRef>
          </c:tx>
          <c:spPr>
            <a:solidFill>
              <a:srgbClr val="FA464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Century Gothic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A464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A464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A464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A0582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25–34 años · 1983</c:v>
                  </c:pt>
                  <c:pt idx="1">
                    <c:v>25–34 años · 2000</c:v>
                  </c:pt>
                  <c:pt idx="2">
                    <c:v>25–34 años · 2026</c:v>
                  </c:pt>
                  <c:pt idx="3">
                    <c:v>55–64 años · 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2.6</c:v>
                </c:pt>
                <c:pt idx="2">
                  <c:v>3</c:v>
                </c:pt>
                <c:pt idx="3">
                  <c:v>9.6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Century Gothic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A1A2E"/>
                </a:solidFill>
                <a:latin typeface="Century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"/>
          <c:min val="0"/>
        </c:scaling>
        <c:delete val="0"/>
        <c:axPos val="l"/>
        <c:majorGridlines>
          <c:spPr>
            <a:ln w="6350" cap="flat">
              <a:solidFill>
                <a:srgbClr val="E6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A8CA0"/>
                </a:solidFill>
                <a:latin typeface="Century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
TIEMPO: Previo y 0:00–0:02
Pantalla de bienvenida mientras llegan los participantes. La CHRO abre con 2 minutos: por qué esto importa al negocio (relevo en posiciones críticas, conocimiento que se jubila, retención del talento joven).
PUNTOS A CERRAR
Que la sala sepa que es un taller práctico, no una clase.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
TIEMPO: 0:02–0:04
Recorrer la línea de izquierda a derecha: cuándo nacieron y a qué mundo entraron a trabajar. No describir personas; describir contextos.
PUNTOS A CERRAR
Mensaje: lo que nos separa es el contexto en el que aprendimos a trabajar, no la calidad de las personas.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
TIEMPO: 0:04–0:06
A lee la pregunta de siempre sin juzgarla: "Todos la hemos escuchado; algunos la hemos dicho". Después, la pregunta de hoy.
PUNTOS A CERRAR
El foco pasa de "ellos" a "yo como líder".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
TIEMPO: 0:06–0:08
El mapa de la sesión: de lo personal (mis reacciones) a lo práctico (qué hago distinto). Mencionar que casi todo es actividad.
PUNTOS A CERRAR
Tres acuerdos en la siguiente lámina.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
TIEMPO: 0:08–0:10
La CHRO confirma con una frase que está de acuerdo. Teléfonos boca abajo.
PUNTOS A CERRAR
Pasar al Módulo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
Transición al primer módulo. B toma la conducción.
PUNTOS A CERRAR
Nadie recibe una etiqueta: el resultado es solo para cada quien.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
TIEMPO: 0:10–0:30
B: "Lean las ocho situaciones del cuaderno. Escriban lo primero que harían o pensarían, no lo ideal. Marquen qué tanto les incomoda, de 1 a 4. Nadie va a ver sus respuestas."
PUNTOS A CERRAR
Después, cada quien encierra las que marcó con 3 o 4: "¿Qué tienen en común?". Pares: "¿Qué descubrí de mí?".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
Cada líder identifica sus detonadores. Normalizar: "Todos los tenemos; no es bueno ni malo, es información."
PUNTOS A CERRAR
Conectar con la siguiente actividad: ¿cuánto de lo que nos incomoda viene de lo que creemos de cada generación?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
TIEMPO: 0:30–0:50
B: "Coloquen cada frase en la generación a la que ustedes la atribuirían. En silencio." Luego: "¿Dónde se juntaron más tarjetas?".
PUNTOS A CERRAR
La revelación está en la siguiente lámina; no anticiparla.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
B lee cinco frases y pregunta quién se identifica. Luego pasa las tarjetas al póster central. Pregunta clave: "¿Estamos describiendo generaciones o personas?". Pausa de 5 segundos.
PUNTOS A CERRAR
Mensaje del módulo: mis reacciones dicen tanto de mí como de la otra persona.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
Transición. A toma la conducción.
PUNTOS A CERRAR
Receso a la 1:20.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
TIEMPO: 0:50–1:05
A recorre el ejemplo de izquierda a derecha (3 min). Después, pares (8 min) y dos o tres voces en plenaria (4 min).
PUNTOS A CERRAR
La pregunta clave: ¿en qué eslabón podría haber cambiado el resultado? Casi siempre es en "mi reacción".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
Explicar el iceberg en 2 minutos: arriba, la reacción que ve la persona; abajo, lo que la provoca. Usar un ejemplo de la sala.
PUNTOS A CERRAR
Puente a la siguiente actividad: practicar responder en lugar de reaccionar.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
TIEMPO: 1:05–1:20
Tríos con tarjetas de situación. Ronda 1: respuesta habitual (3 min). Ronda 2: la misma situación, preguntando primero (3 min). El observador comenta qué cambió y si se movió el estándar (3 min).
PUNTOS A CERRAR
A cierra: "Preguntar primero no es ceder. El estándar se queda igual; cambia cómo llegamos a él." Receso de 10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
Regreso del receso. A conduce.
PUNTOS A CERRAR
Empezar a la hora con quien esté.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
TIEMPO: 1:30–1:40
A lee cada frase; todos votan a la vez; se revela el veredicto. Tip: en PowerPoint, revelar los sellos con animación "aparecer" al hacer clic.
PUNTOS A CERRAR
Pregunta de cierre: "Si las diferencias son menores de lo que creíamos, ¿qué sí cambia?". Respuesta: el contexto en el que entramos a trabajar.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
Una sola idea: el "no son leales" se explica por la edad. Datos de EE. UU. porque México no tiene una serie comparable publicada.
PUNTOS A CERRAR
Si hay datos internos de AMMX por rango de edad, sustituirlos aquí.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
TIEMPO: 1:40–1:50
A presenta las cuatro tarjetas en 10 minutos (2 a 3 min cada una). Insistir: son tendencias, no reglas. La fila "No suponer que…" es la más importante.
PUNTOS A CERRAR
Pregunta a la sala: "¿Quién de aquí no encaja en la tarjeta de su generación?". Siempre hay varios.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
TIEMPO: 1:50–2:05
Centro: necesidades comunes. Anillo exterior: forma y frecuencia. Actividad en mesas (15 min): "Lo que valoramos todos en esta mesa", "Lo que no debo suponer" y "Una persona de mi equipo que no he leído bien (iniciales)".
PUNTOS A CERRAR
Mensaje del módulo: todos queremos casi lo mismo; lo pedimos de forma distinta.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
Transición al módulo práctico.
PUNTOS A CERRAR
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
TIEMPO: 2:05–2:15
A recorre las ocho en 5 minutos, con un ejemplo de planta en dos o tres. Cada líder marca en su cuaderno las tres que más necesita.
PUNTOS A CERRAR
La 8 es la que sostiene todo: se adapta la forma, nunca el estándar.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
Explicar la diana: el centro no se mueve; el anillo exterior sí. Esta es la regla que hace aceptable el mensaje para una planta.
PUNTOS A CERRAR
"En una siderúrgica, la seguridad no se adapta. La forma de liderar sí."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
TIEMPO: 2:15–2:35
B asigna un caso por mesa. Cada mesa responde las tres preguntas y comparte en un minuto. Respuestas de referencia en la hoja de materiales.
PUNTOS A CERRAR
Síntesis: "En todos los casos cambió la forma; en ninguno se negoció la seguridad ni el estándar."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
TIEMPO: 2:35–2:50
Cada líder llena su plan de una página. Solo iniciales. Después lo comparte con un par en una frase: "En siete días voy a…".
PUNTOS A CERRAR
Encuesta QR anónima (2 min) antes del cierre.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
TIEMPO: 2:50–3:00
La CHRO comparte su propio compromiso (1 min). A cierra con la frase final. Sin aplausos ni dinámica: la frase y un breve silencio.
PUNTOS A CERRAR
Seguimiento a los 30 días.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image" Target="../media/image-21-8.png"/><Relationship Id="rId9" Type="http://schemas.openxmlformats.org/officeDocument/2006/relationships/image" Target="../media/image-2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Training-and-Development-PROYECTS/workshop-liderazgo-intergeneracional/src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960120" cy="3965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TALLER PARA LÍDERES · 3 HORAS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9844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Trabajar entre generaciones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Cómo reacciono, qué impacto tiene, qué valora cada generación y cómo trabajar mejor juntos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generaciones en la misma planta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6032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9748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269748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módulos prácticos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0916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actividades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58368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2084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672084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plan personal de 30 días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208008" y="1325880"/>
            <a:ext cx="0" cy="2331720"/>
          </a:xfrm>
          <a:prstGeom prst="line">
            <a:avLst/>
          </a:prstGeom>
          <a:noFill/>
          <a:ln w="12700">
            <a:solidFill>
              <a:srgbClr val="8A8CA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025128" y="1143000"/>
            <a:ext cx="365760" cy="365760"/>
          </a:xfrm>
          <a:prstGeom prst="ellipse">
            <a:avLst/>
          </a:prstGeom>
          <a:solidFill>
            <a:srgbClr val="FF8C47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25128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528048" y="11247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¿Cómo reacciono?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025128" y="1920240"/>
            <a:ext cx="365760" cy="365760"/>
          </a:xfrm>
          <a:prstGeom prst="ellipse">
            <a:avLst/>
          </a:prstGeom>
          <a:solidFill>
            <a:srgbClr val="FA464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025128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528048" y="190195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¿Qué impacto tiene?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025128" y="2697480"/>
            <a:ext cx="365760" cy="365760"/>
          </a:xfrm>
          <a:prstGeom prst="ellipse">
            <a:avLst/>
          </a:prstGeom>
          <a:solidFill>
            <a:srgbClr val="DB2259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025128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528048" y="267919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¿Qué valora cada generación?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9025128" y="3474720"/>
            <a:ext cx="365760" cy="365760"/>
          </a:xfrm>
          <a:prstGeom prst="ellipse">
            <a:avLst/>
          </a:prstGeom>
          <a:solidFill>
            <a:srgbClr val="AA058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025128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9528048" y="34564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¿Cómo trabajo mejor?</a:t>
            </a:r>
            <a:endParaRPr lang="en-US" sz="115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5349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Para: Líderes con equipo a cargo · ArcelorMittal México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548640" y="644652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 de Capacitación y Desarrollo · Patrocina: CHRO</a:t>
            </a:r>
            <a:endParaRPr lang="en-US" sz="750" dirty="0"/>
          </a:p>
        </p:txBody>
      </p:sp>
      <p:sp>
        <p:nvSpPr>
          <p:cNvPr id="33" name="Text 30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 · EL RETO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Hoy trabajan cuatro generaciones en la misma planta</a:t>
            </a:r>
            <a:endParaRPr lang="en-US" sz="2400" dirty="0"/>
          </a:p>
        </p:txBody>
      </p:sp>
      <p:pic>
        <p:nvPicPr>
          <p:cNvPr id="4" name="Image 0" descr="/home/user/Training-and-Development-PROYECTS/workshop-liderazgo-intergeneracional/src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Rangos de Pew Research Center (convención; varían por país). Años de entrada al trabajo aproximados.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822960" y="3977640"/>
            <a:ext cx="10515600" cy="0"/>
          </a:xfrm>
          <a:prstGeom prst="line">
            <a:avLst/>
          </a:prstGeom>
          <a:noFill/>
          <a:ln w="19050">
            <a:solidFill>
              <a:srgbClr val="D6D8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48740" y="3931920"/>
            <a:ext cx="0" cy="91440"/>
          </a:xfrm>
          <a:prstGeom prst="line">
            <a:avLst/>
          </a:prstGeom>
          <a:noFill/>
          <a:ln w="12700">
            <a:solidFill>
              <a:srgbClr val="8A8CA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28700" y="40690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1950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663190" y="3931920"/>
            <a:ext cx="0" cy="91440"/>
          </a:xfrm>
          <a:prstGeom prst="line">
            <a:avLst/>
          </a:prstGeom>
          <a:noFill/>
          <a:ln w="12700">
            <a:solidFill>
              <a:srgbClr val="8A8CA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343150" y="40690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1960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977640" y="3931920"/>
            <a:ext cx="0" cy="91440"/>
          </a:xfrm>
          <a:prstGeom prst="line">
            <a:avLst/>
          </a:prstGeom>
          <a:noFill/>
          <a:ln w="12700">
            <a:solidFill>
              <a:srgbClr val="8A8CA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657600" y="40690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1970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292090" y="3931920"/>
            <a:ext cx="0" cy="91440"/>
          </a:xfrm>
          <a:prstGeom prst="line">
            <a:avLst/>
          </a:prstGeom>
          <a:noFill/>
          <a:ln w="12700">
            <a:solidFill>
              <a:srgbClr val="8A8CA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972050" y="40690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1980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606540" y="3931920"/>
            <a:ext cx="0" cy="91440"/>
          </a:xfrm>
          <a:prstGeom prst="line">
            <a:avLst/>
          </a:prstGeom>
          <a:noFill/>
          <a:ln w="12700">
            <a:solidFill>
              <a:srgbClr val="8A8CA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286500" y="40690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1990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7920990" y="3931920"/>
            <a:ext cx="0" cy="91440"/>
          </a:xfrm>
          <a:prstGeom prst="line">
            <a:avLst/>
          </a:prstGeom>
          <a:noFill/>
          <a:ln w="12700">
            <a:solidFill>
              <a:srgbClr val="8A8CA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600950" y="40690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2000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35440" y="3931920"/>
            <a:ext cx="0" cy="91440"/>
          </a:xfrm>
          <a:prstGeom prst="line">
            <a:avLst/>
          </a:prstGeom>
          <a:noFill/>
          <a:ln w="12700">
            <a:solidFill>
              <a:srgbClr val="8A8CA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915400" y="40690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2010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10549890" y="3931920"/>
            <a:ext cx="0" cy="91440"/>
          </a:xfrm>
          <a:prstGeom prst="line">
            <a:avLst/>
          </a:prstGeom>
          <a:noFill/>
          <a:ln w="12700">
            <a:solidFill>
              <a:srgbClr val="8A8CA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0229850" y="40690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2020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822960" y="3246120"/>
            <a:ext cx="2497455" cy="548640"/>
          </a:xfrm>
          <a:prstGeom prst="roundRect">
            <a:avLst>
              <a:gd name="adj" fmla="val 13333"/>
            </a:avLst>
          </a:prstGeom>
          <a:solidFill>
            <a:srgbClr val="FF8C47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22960" y="3246120"/>
            <a:ext cx="24974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Baby Boomers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 flipV="1">
            <a:off x="2071688" y="2148840"/>
            <a:ext cx="1380173" cy="1051560"/>
          </a:xfrm>
          <a:prstGeom prst="line">
            <a:avLst/>
          </a:prstGeom>
          <a:noFill/>
          <a:ln w="15875">
            <a:solidFill>
              <a:srgbClr val="FF8C47"/>
            </a:solidFill>
            <a:prstDash val="dash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3369564" y="1993392"/>
            <a:ext cx="164592" cy="164592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28" name="Shape 25"/>
          <p:cNvSpPr/>
          <p:nvPr/>
        </p:nvSpPr>
        <p:spPr>
          <a:xfrm>
            <a:off x="3320415" y="3227832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FA464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3320415" y="3246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Generación X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 flipV="1">
            <a:off x="4371975" y="2148840"/>
            <a:ext cx="1577340" cy="1051560"/>
          </a:xfrm>
          <a:prstGeom prst="line">
            <a:avLst/>
          </a:prstGeom>
          <a:noFill/>
          <a:ln w="15875">
            <a:solidFill>
              <a:srgbClr val="FA4642"/>
            </a:solidFill>
            <a:prstDash val="dash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5867019" y="1993392"/>
            <a:ext cx="164592" cy="164592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32" name="Shape 29"/>
          <p:cNvSpPr/>
          <p:nvPr/>
        </p:nvSpPr>
        <p:spPr>
          <a:xfrm>
            <a:off x="5423535" y="3209544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C8136C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5423535" y="3246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Millennials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 flipV="1">
            <a:off x="6475095" y="2148840"/>
            <a:ext cx="1577340" cy="1051560"/>
          </a:xfrm>
          <a:prstGeom prst="line">
            <a:avLst/>
          </a:prstGeom>
          <a:noFill/>
          <a:ln w="15875">
            <a:solidFill>
              <a:srgbClr val="C8136C"/>
            </a:solidFill>
            <a:prstDash val="dash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7970139" y="1993392"/>
            <a:ext cx="164592" cy="164592"/>
          </a:xfrm>
          <a:prstGeom prst="ellipse">
            <a:avLst/>
          </a:prstGeom>
          <a:solidFill>
            <a:srgbClr val="C8136C"/>
          </a:solidFill>
          <a:ln/>
        </p:spPr>
      </p:sp>
      <p:sp>
        <p:nvSpPr>
          <p:cNvPr id="36" name="Shape 33"/>
          <p:cNvSpPr/>
          <p:nvPr/>
        </p:nvSpPr>
        <p:spPr>
          <a:xfrm>
            <a:off x="7526655" y="3191256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5B2A86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7526655" y="3246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Generación Z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 flipV="1">
            <a:off x="8578215" y="2148840"/>
            <a:ext cx="1577340" cy="1051560"/>
          </a:xfrm>
          <a:prstGeom prst="line">
            <a:avLst/>
          </a:prstGeom>
          <a:noFill/>
          <a:ln w="15875">
            <a:solidFill>
              <a:srgbClr val="5B2A86"/>
            </a:solidFill>
            <a:prstDash val="dash"/>
            <a:tailEnd type="triangle"/>
          </a:ln>
        </p:spPr>
      </p:sp>
      <p:sp>
        <p:nvSpPr>
          <p:cNvPr id="39" name="Shape 36"/>
          <p:cNvSpPr/>
          <p:nvPr/>
        </p:nvSpPr>
        <p:spPr>
          <a:xfrm>
            <a:off x="10073259" y="1993392"/>
            <a:ext cx="164592" cy="164592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2400300" y="1417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Entraron con empleo estable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2217420" y="16733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Carrera en una sola empresa</a:t>
            </a:r>
            <a:endParaRPr lang="en-US" sz="900" dirty="0"/>
          </a:p>
        </p:txBody>
      </p:sp>
      <p:sp>
        <p:nvSpPr>
          <p:cNvPr id="42" name="Text 39"/>
          <p:cNvSpPr txBox="1"/>
          <p:nvPr/>
        </p:nvSpPr>
        <p:spPr>
          <a:xfrm>
            <a:off x="4897755" y="1417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Entraron entre crisis</a:t>
            </a:r>
            <a:endParaRPr lang="en-US" sz="1000" dirty="0"/>
          </a:p>
        </p:txBody>
      </p:sp>
      <p:sp>
        <p:nvSpPr>
          <p:cNvPr id="43" name="Text 40"/>
          <p:cNvSpPr txBox="1"/>
          <p:nvPr/>
        </p:nvSpPr>
        <p:spPr>
          <a:xfrm>
            <a:off x="4714875" y="16733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Apertura y privatizaciones</a:t>
            </a:r>
            <a:endParaRPr lang="en-US" sz="900" dirty="0"/>
          </a:p>
        </p:txBody>
      </p:sp>
      <p:sp>
        <p:nvSpPr>
          <p:cNvPr id="44" name="Text 41"/>
          <p:cNvSpPr txBox="1"/>
          <p:nvPr/>
        </p:nvSpPr>
        <p:spPr>
          <a:xfrm>
            <a:off x="7000875" y="1417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136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Entraron sin garantías</a:t>
            </a:r>
            <a:endParaRPr lang="en-US" sz="1000" dirty="0"/>
          </a:p>
        </p:txBody>
      </p:sp>
      <p:sp>
        <p:nvSpPr>
          <p:cNvPr id="45" name="Text 42"/>
          <p:cNvSpPr txBox="1"/>
          <p:nvPr/>
        </p:nvSpPr>
        <p:spPr>
          <a:xfrm>
            <a:off x="6817995" y="16733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Crisis de 2008 y smartphone</a:t>
            </a:r>
            <a:endParaRPr lang="en-US" sz="900" dirty="0"/>
          </a:p>
        </p:txBody>
      </p:sp>
      <p:sp>
        <p:nvSpPr>
          <p:cNvPr id="46" name="Text 43"/>
          <p:cNvSpPr txBox="1"/>
          <p:nvPr/>
        </p:nvSpPr>
        <p:spPr>
          <a:xfrm>
            <a:off x="9103995" y="1417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2A8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Entraron con pandemia e IA</a:t>
            </a:r>
            <a:endParaRPr lang="en-US" sz="1000" dirty="0"/>
          </a:p>
        </p:txBody>
      </p:sp>
      <p:sp>
        <p:nvSpPr>
          <p:cNvPr id="47" name="Text 44"/>
          <p:cNvSpPr txBox="1"/>
          <p:nvPr/>
        </p:nvSpPr>
        <p:spPr>
          <a:xfrm>
            <a:off x="8921115" y="16733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Trabajo a distancia</a:t>
            </a:r>
            <a:endParaRPr lang="en-US" sz="900" dirty="0"/>
          </a:p>
        </p:txBody>
      </p:sp>
      <p:sp>
        <p:nvSpPr>
          <p:cNvPr id="48" name="Text 45"/>
          <p:cNvSpPr txBox="1"/>
          <p:nvPr/>
        </p:nvSpPr>
        <p:spPr>
          <a:xfrm>
            <a:off x="822960" y="2788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NACIMIENTO</a:t>
            </a:r>
            <a:endParaRPr lang="en-US" sz="850" dirty="0"/>
          </a:p>
        </p:txBody>
      </p:sp>
      <p:sp>
        <p:nvSpPr>
          <p:cNvPr id="49" name="Text 46"/>
          <p:cNvSpPr txBox="1"/>
          <p:nvPr/>
        </p:nvSpPr>
        <p:spPr>
          <a:xfrm>
            <a:off x="822960" y="19385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ENTRADA AL TRABAJO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548640" y="4754880"/>
            <a:ext cx="11109960" cy="1234440"/>
          </a:xfrm>
          <a:prstGeom prst="roundRect">
            <a:avLst>
              <a:gd name="adj" fmla="val 5926"/>
            </a:avLst>
          </a:prstGeom>
          <a:solidFill>
            <a:srgbClr val="F4F5F9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868680" y="484632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Cada generación aprendió a trabajar en un mundo distinto. Por eso a veces nos cuesta entendernos: no es mala voluntad, es contexto.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 · EL RETO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120640" cy="3291840"/>
          </a:xfrm>
          <a:prstGeom prst="roundRect">
            <a:avLst>
              <a:gd name="adj" fmla="val 2778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8BAC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PREGUNTA DE SIEMPRE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01168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“¿Qué les pasa a estas nuevas generaciones?”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852160" y="2651760"/>
            <a:ext cx="685800" cy="731520"/>
          </a:xfrm>
          <a:prstGeom prst="rightArrow">
            <a:avLst/>
          </a:prstGeom>
          <a:solidFill>
            <a:srgbClr val="FF8C47"/>
          </a:solidFill>
          <a:ln/>
        </p:spPr>
      </p:sp>
      <p:sp>
        <p:nvSpPr>
          <p:cNvPr id="7" name="Shape 5"/>
          <p:cNvSpPr/>
          <p:nvPr/>
        </p:nvSpPr>
        <p:spPr>
          <a:xfrm>
            <a:off x="6720840" y="1371600"/>
            <a:ext cx="4937760" cy="3291840"/>
          </a:xfrm>
          <a:prstGeom prst="roundRect">
            <a:avLst>
              <a:gd name="adj" fmla="val 2778"/>
            </a:avLst>
          </a:prstGeom>
          <a:solidFill>
            <a:srgbClr val="FF8C4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040880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PREGUNTA DE HOY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040880" y="2011680"/>
            <a:ext cx="4389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“¿Cómo reacciono yo, y cómo puedo trabajar mejor con cada persona?”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074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Hoy no venimos a cambiar a nadie más. Venimos a ver nuestras reacciones y a llevarnos prácticas que funcionan.</a:t>
            </a:r>
            <a:endParaRPr lang="en-US" sz="1500" dirty="0"/>
          </a:p>
        </p:txBody>
      </p:sp>
      <p:pic>
        <p:nvPicPr>
          <p:cNvPr id="11" name="Image 0" descr="/home/user/Training-and-Development-PROYECTS/workshop-liderazgo-intergeneracional/src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 · EL RECORRIDO DE HOY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Cuatro preguntas, de lo personal a lo práctico</a:t>
            </a:r>
            <a:endParaRPr lang="en-US" sz="2400" dirty="0"/>
          </a:p>
        </p:txBody>
      </p:sp>
      <p:pic>
        <p:nvPicPr>
          <p:cNvPr id="4" name="Image 0" descr="/home/user/Training-and-Development-PROYECTS/workshop-liderazgo-intergeneracional/src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1938528" y="2148840"/>
            <a:ext cx="8449056" cy="0"/>
          </a:xfrm>
          <a:prstGeom prst="line">
            <a:avLst/>
          </a:prstGeom>
          <a:noFill/>
          <a:ln w="101600">
            <a:solidFill>
              <a:srgbClr val="D6D8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417320" y="1691640"/>
            <a:ext cx="914400" cy="914400"/>
          </a:xfrm>
          <a:prstGeom prst="ellipse">
            <a:avLst/>
          </a:prstGeom>
          <a:solidFill>
            <a:srgbClr val="FF8C47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417320" y="1691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1417320" y="274320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8C47">
              <a:alpha val="15000"/>
            </a:srgbClr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417320" y="2743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40 min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2004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¿Cómo reacciono?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39319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 doy cuenta de mis reacciones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233672" y="1691640"/>
            <a:ext cx="914400" cy="914400"/>
          </a:xfrm>
          <a:prstGeom prst="ellipse">
            <a:avLst/>
          </a:prstGeom>
          <a:solidFill>
            <a:srgbClr val="FA4642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233672" y="1691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Shape 12"/>
          <p:cNvSpPr/>
          <p:nvPr/>
        </p:nvSpPr>
        <p:spPr>
          <a:xfrm>
            <a:off x="4233672" y="274320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A4642">
              <a:alpha val="15000"/>
            </a:srgbClr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233672" y="2743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30 min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3364992" y="32004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¿Qué impacto tiene?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3456432" y="39319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Veo lo que provocan en la persona y en el equipo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050024" y="1691640"/>
            <a:ext cx="914400" cy="914400"/>
          </a:xfrm>
          <a:prstGeom prst="ellipse">
            <a:avLst/>
          </a:prstGeom>
          <a:solidFill>
            <a:srgbClr val="C8136C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050024" y="1691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Shape 18"/>
          <p:cNvSpPr/>
          <p:nvPr/>
        </p:nvSpPr>
        <p:spPr>
          <a:xfrm>
            <a:off x="7050024" y="274320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C8136C">
              <a:alpha val="15000"/>
            </a:srgbClr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050024" y="2743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8136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35 min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6181344" y="32004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¿Qué valora cada generación?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6272784" y="39319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Entiendo el contexto y lo que nos importa a todos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9866376" y="1691640"/>
            <a:ext cx="914400" cy="914400"/>
          </a:xfrm>
          <a:prstGeom prst="ellipse">
            <a:avLst/>
          </a:prstGeom>
          <a:solidFill>
            <a:srgbClr val="5B2A86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866376" y="1691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2600" dirty="0"/>
          </a:p>
        </p:txBody>
      </p:sp>
      <p:sp>
        <p:nvSpPr>
          <p:cNvPr id="27" name="Shape 24"/>
          <p:cNvSpPr/>
          <p:nvPr/>
        </p:nvSpPr>
        <p:spPr>
          <a:xfrm>
            <a:off x="9866376" y="274320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5B2A86">
              <a:alpha val="15000"/>
            </a:srgbClr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9866376" y="2743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2A8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45 min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8997696" y="32004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¿Cómo trabajo mejor?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9089136" y="39319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 llevo prácticas, casos y un plan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48640" y="5029200"/>
            <a:ext cx="11109960" cy="731520"/>
          </a:xfrm>
          <a:prstGeom prst="roundRect">
            <a:avLst>
              <a:gd name="adj" fmla="val 10000"/>
            </a:avLst>
          </a:prstGeom>
          <a:solidFill>
            <a:srgbClr val="F4F5F9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822960" y="50292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70 % actividades y conversación · 30 % contenido · Al final: un plan personal para los próximos 30 días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 · ACUERDOS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Tres acuerdos para hablar con confianza</a:t>
            </a:r>
            <a:endParaRPr lang="en-US" sz="2400" dirty="0"/>
          </a:p>
        </p:txBody>
      </p:sp>
      <p:pic>
        <p:nvPicPr>
          <p:cNvPr id="4" name="Image 0" descr="/home/user/Training-and-Development-PROYECTS/workshop-liderazgo-intergeneracional/src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4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847088" y="1965960"/>
            <a:ext cx="914400" cy="914400"/>
          </a:xfrm>
          <a:prstGeom prst="ellipse">
            <a:avLst/>
          </a:prstGeom>
          <a:solidFill>
            <a:srgbClr val="FF8C4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688" y="2194560"/>
            <a:ext cx="457200" cy="457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77240" y="30632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 usa, no se atribuye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361188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 que se dice aquí se puede aprovechar, pero nadie lo atribuye a una persona.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297680" y="164592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4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5596128" y="1965960"/>
            <a:ext cx="914400" cy="914400"/>
          </a:xfrm>
          <a:prstGeom prst="ellipse">
            <a:avLst/>
          </a:prstGeom>
          <a:solidFill>
            <a:srgbClr val="EA345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4728" y="219456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526280" y="30632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 vale no estar de acuerdo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572000" y="361188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los datos, con los facilitadores y entre nosotros.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046720" y="164592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4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9345168" y="1965960"/>
            <a:ext cx="914400" cy="914400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3768" y="219456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275320" y="30632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Puedo pasar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8321040" y="361188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Nadie está obligado a compartir. Lo que escribo en mi cuaderno es mío.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Aplica a todas las personas en la sala, incluida la dirección.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737360"/>
            <a:ext cx="1371600" cy="137160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7373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2240280" y="1828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MÓDULO 1 · 40 MINUTOS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240280" y="219456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¿Cómo reacciono?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2240280" y="29718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Antes de hablar de generaciones, miramos nuestras propias reacciones.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5120640"/>
            <a:ext cx="2651760" cy="109728"/>
          </a:xfrm>
          <a:prstGeom prst="roundRect">
            <a:avLst/>
          </a:prstGeom>
          <a:solidFill>
            <a:srgbClr val="FF8C4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5303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¿Cómo reacciono?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64992" y="5120640"/>
            <a:ext cx="2651760" cy="109728"/>
          </a:xfrm>
          <a:prstGeom prst="roundRect">
            <a:avLst/>
          </a:prstGeom>
          <a:solidFill>
            <a:srgbClr val="3A3A5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364992" y="5303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¿Qué impacto tiene?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81344" y="5120640"/>
            <a:ext cx="2651760" cy="109728"/>
          </a:xfrm>
          <a:prstGeom prst="roundRect">
            <a:avLst/>
          </a:prstGeom>
          <a:solidFill>
            <a:srgbClr val="3A3A5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81344" y="5303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¿Qué valora cada generación?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97696" y="5120640"/>
            <a:ext cx="2651760" cy="109728"/>
          </a:xfrm>
          <a:prstGeom prst="roundRect">
            <a:avLst/>
          </a:prstGeom>
          <a:solidFill>
            <a:srgbClr val="3A3A5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997696" y="5303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¿Cómo trabajo mejor?</a:t>
            </a:r>
            <a:endParaRPr lang="en-US" sz="1000" dirty="0"/>
          </a:p>
        </p:txBody>
      </p:sp>
      <p:pic>
        <p:nvPicPr>
          <p:cNvPr id="15" name="Image 0" descr="/home/user/Training-and-Development-PROYECTS/workshop-liderazgo-intergeneracional/src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· ACTIVIDAD 1 · MI PRIMERA REACCIÓN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Ocho situaciones. Escribe tu primera reacción, no la ideal</a:t>
            </a:r>
            <a:endParaRPr lang="en-US" sz="2400" dirty="0"/>
          </a:p>
        </p:txBody>
      </p:sp>
      <p:pic>
        <p:nvPicPr>
          <p:cNvPr id="4" name="Image 0" descr="/home/user/Training-and-Development-PROYECTS/workshop-liderazgo-intergeneracional/src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9646920" y="27432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FF8C4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46920" y="2743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MÓDULO 1 · 40 MIN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48640" y="1600200"/>
            <a:ext cx="2011680" cy="1691640"/>
          </a:xfrm>
          <a:prstGeom prst="roundRect">
            <a:avLst>
              <a:gd name="adj" fmla="val 4324"/>
            </a:avLst>
          </a:prstGeom>
          <a:solidFill>
            <a:srgbClr val="F4F5F9"/>
          </a:solidFill>
          <a:ln/>
        </p:spPr>
      </p:sp>
      <p:sp>
        <p:nvSpPr>
          <p:cNvPr id="9" name="Shape 6"/>
          <p:cNvSpPr/>
          <p:nvPr/>
        </p:nvSpPr>
        <p:spPr>
          <a:xfrm>
            <a:off x="731520" y="1783080"/>
            <a:ext cx="548640" cy="548640"/>
          </a:xfrm>
          <a:prstGeom prst="ellipse">
            <a:avLst/>
          </a:prstGeom>
          <a:solidFill>
            <a:srgbClr val="FF8C4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202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103120" y="1783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731520" y="24231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Pide ser jefa de turno a los 14 meses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697480" y="1600200"/>
            <a:ext cx="2011680" cy="1691640"/>
          </a:xfrm>
          <a:prstGeom prst="roundRect">
            <a:avLst>
              <a:gd name="adj" fmla="val 4324"/>
            </a:avLst>
          </a:prstGeom>
          <a:solidFill>
            <a:srgbClr val="F4F5F9"/>
          </a:solidFill>
          <a:ln/>
        </p:spPr>
      </p:sp>
      <p:sp>
        <p:nvSpPr>
          <p:cNvPr id="14" name="Shape 10"/>
          <p:cNvSpPr/>
          <p:nvPr/>
        </p:nvSpPr>
        <p:spPr>
          <a:xfrm>
            <a:off x="2880360" y="1783080"/>
            <a:ext cx="548640" cy="548640"/>
          </a:xfrm>
          <a:prstGeom prst="ellipse">
            <a:avLst/>
          </a:prstGeom>
          <a:solidFill>
            <a:srgbClr val="FC6A45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192024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251960" y="1783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2880360" y="24231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 experto no quiere usar la tableta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846320" y="1600200"/>
            <a:ext cx="2011680" cy="1691640"/>
          </a:xfrm>
          <a:prstGeom prst="roundRect">
            <a:avLst>
              <a:gd name="adj" fmla="val 4324"/>
            </a:avLst>
          </a:prstGeom>
          <a:solidFill>
            <a:srgbClr val="F4F5F9"/>
          </a:solidFill>
          <a:ln/>
        </p:spPr>
      </p:sp>
      <p:sp>
        <p:nvSpPr>
          <p:cNvPr id="19" name="Shape 14"/>
          <p:cNvSpPr/>
          <p:nvPr/>
        </p:nvSpPr>
        <p:spPr>
          <a:xfrm>
            <a:off x="5029200" y="1783080"/>
            <a:ext cx="548640" cy="548640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192024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400800" y="1783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5029200" y="24231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“¿por qué?” a cada instrucción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6995160" y="1600200"/>
            <a:ext cx="2011680" cy="1691640"/>
          </a:xfrm>
          <a:prstGeom prst="roundRect">
            <a:avLst>
              <a:gd name="adj" fmla="val 4324"/>
            </a:avLst>
          </a:prstGeom>
          <a:solidFill>
            <a:srgbClr val="F4F5F9"/>
          </a:solidFill>
          <a:ln/>
        </p:spPr>
      </p:sp>
      <p:sp>
        <p:nvSpPr>
          <p:cNvPr id="24" name="Shape 18"/>
          <p:cNvSpPr/>
          <p:nvPr/>
        </p:nvSpPr>
        <p:spPr>
          <a:xfrm>
            <a:off x="7178040" y="1783080"/>
            <a:ext cx="548640" cy="548640"/>
          </a:xfrm>
          <a:prstGeom prst="ellipse">
            <a:avLst/>
          </a:prstGeom>
          <a:solidFill>
            <a:srgbClr val="EA3450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192024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8549640" y="1783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7178040" y="24231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Pide trabajar desde casa dos días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548640" y="3474720"/>
            <a:ext cx="2011680" cy="1691640"/>
          </a:xfrm>
          <a:prstGeom prst="roundRect">
            <a:avLst>
              <a:gd name="adj" fmla="val 4324"/>
            </a:avLst>
          </a:prstGeom>
          <a:solidFill>
            <a:srgbClr val="F4F5F9"/>
          </a:solidFill>
          <a:ln/>
        </p:spPr>
      </p:sp>
      <p:sp>
        <p:nvSpPr>
          <p:cNvPr id="29" name="Shape 22"/>
          <p:cNvSpPr/>
          <p:nvPr/>
        </p:nvSpPr>
        <p:spPr>
          <a:xfrm>
            <a:off x="731520" y="3657600"/>
            <a:ext cx="548640" cy="548640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3794760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2103120" y="3657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24"/>
          <p:cNvSpPr txBox="1"/>
          <p:nvPr/>
        </p:nvSpPr>
        <p:spPr>
          <a:xfrm>
            <a:off x="731520" y="42976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“Eso ya lo intentamos y no funcionó”</a:t>
            </a:r>
            <a:endParaRPr lang="en-US" sz="1100" dirty="0"/>
          </a:p>
        </p:txBody>
      </p:sp>
      <p:sp>
        <p:nvSpPr>
          <p:cNvPr id="33" name="Shape 25"/>
          <p:cNvSpPr/>
          <p:nvPr/>
        </p:nvSpPr>
        <p:spPr>
          <a:xfrm>
            <a:off x="2697480" y="3474720"/>
            <a:ext cx="2011680" cy="1691640"/>
          </a:xfrm>
          <a:prstGeom prst="roundRect">
            <a:avLst>
              <a:gd name="adj" fmla="val 4324"/>
            </a:avLst>
          </a:prstGeom>
          <a:solidFill>
            <a:srgbClr val="F4F5F9"/>
          </a:solidFill>
          <a:ln/>
        </p:spPr>
      </p:sp>
      <p:sp>
        <p:nvSpPr>
          <p:cNvPr id="34" name="Shape 26"/>
          <p:cNvSpPr/>
          <p:nvPr/>
        </p:nvSpPr>
        <p:spPr>
          <a:xfrm>
            <a:off x="2880360" y="3657600"/>
            <a:ext cx="548640" cy="548640"/>
          </a:xfrm>
          <a:prstGeom prst="ellipse">
            <a:avLst/>
          </a:prstGeom>
          <a:solidFill>
            <a:srgbClr val="C8136C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17520" y="3794760"/>
            <a:ext cx="274320" cy="27432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4251960" y="3657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28"/>
          <p:cNvSpPr txBox="1"/>
          <p:nvPr/>
        </p:nvSpPr>
        <p:spPr>
          <a:xfrm>
            <a:off x="2880360" y="42976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contesta mensajes después de las 7 p.m.</a:t>
            </a:r>
            <a:endParaRPr lang="en-US" sz="1100" dirty="0"/>
          </a:p>
        </p:txBody>
      </p:sp>
      <p:sp>
        <p:nvSpPr>
          <p:cNvPr id="38" name="Shape 29"/>
          <p:cNvSpPr/>
          <p:nvPr/>
        </p:nvSpPr>
        <p:spPr>
          <a:xfrm>
            <a:off x="4846320" y="3474720"/>
            <a:ext cx="2011680" cy="1691640"/>
          </a:xfrm>
          <a:prstGeom prst="roundRect">
            <a:avLst>
              <a:gd name="adj" fmla="val 4324"/>
            </a:avLst>
          </a:prstGeom>
          <a:solidFill>
            <a:srgbClr val="F4F5F9"/>
          </a:solidFill>
          <a:ln/>
        </p:spPr>
      </p:sp>
      <p:sp>
        <p:nvSpPr>
          <p:cNvPr id="39" name="Shape 30"/>
          <p:cNvSpPr/>
          <p:nvPr/>
        </p:nvSpPr>
        <p:spPr>
          <a:xfrm>
            <a:off x="5029200" y="3657600"/>
            <a:ext cx="548640" cy="548640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66360" y="3794760"/>
            <a:ext cx="274320" cy="274320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6400800" y="3657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400" dirty="0"/>
          </a:p>
        </p:txBody>
      </p:sp>
      <p:sp>
        <p:nvSpPr>
          <p:cNvPr id="42" name="Text 32"/>
          <p:cNvSpPr txBox="1"/>
          <p:nvPr/>
        </p:nvSpPr>
        <p:spPr>
          <a:xfrm>
            <a:off x="5029200" y="42976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“¿cómo voy?” cada semana</a:t>
            </a:r>
            <a:endParaRPr lang="en-US" sz="1100" dirty="0"/>
          </a:p>
        </p:txBody>
      </p:sp>
      <p:sp>
        <p:nvSpPr>
          <p:cNvPr id="43" name="Shape 33"/>
          <p:cNvSpPr/>
          <p:nvPr/>
        </p:nvSpPr>
        <p:spPr>
          <a:xfrm>
            <a:off x="6995160" y="3474720"/>
            <a:ext cx="2011680" cy="1691640"/>
          </a:xfrm>
          <a:prstGeom prst="roundRect">
            <a:avLst>
              <a:gd name="adj" fmla="val 4324"/>
            </a:avLst>
          </a:prstGeom>
          <a:solidFill>
            <a:srgbClr val="F4F5F9"/>
          </a:solidFill>
          <a:ln/>
        </p:spPr>
      </p:sp>
      <p:sp>
        <p:nvSpPr>
          <p:cNvPr id="44" name="Shape 34"/>
          <p:cNvSpPr/>
          <p:nvPr/>
        </p:nvSpPr>
        <p:spPr>
          <a:xfrm>
            <a:off x="7178040" y="3657600"/>
            <a:ext cx="548640" cy="548640"/>
          </a:xfrm>
          <a:prstGeom prst="ellipse">
            <a:avLst/>
          </a:prstGeom>
          <a:solidFill>
            <a:srgbClr val="5B2A86"/>
          </a:solidFill>
          <a:ln/>
        </p:spPr>
      </p:sp>
      <p:pic>
        <p:nvPicPr>
          <p:cNvPr id="4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0" y="3794760"/>
            <a:ext cx="274320" cy="274320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8549640" y="3657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400" dirty="0"/>
          </a:p>
        </p:txBody>
      </p:sp>
      <p:sp>
        <p:nvSpPr>
          <p:cNvPr id="47" name="Text 36"/>
          <p:cNvSpPr txBox="1"/>
          <p:nvPr/>
        </p:nvSpPr>
        <p:spPr>
          <a:xfrm>
            <a:off x="7178040" y="42976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“Ya nadie me pregunta nada”</a:t>
            </a:r>
            <a:endParaRPr lang="en-US" sz="1100" dirty="0"/>
          </a:p>
        </p:txBody>
      </p:sp>
      <p:sp>
        <p:nvSpPr>
          <p:cNvPr id="48" name="Shape 37"/>
          <p:cNvSpPr/>
          <p:nvPr/>
        </p:nvSpPr>
        <p:spPr>
          <a:xfrm>
            <a:off x="9326880" y="1600200"/>
            <a:ext cx="2331720" cy="3611880"/>
          </a:xfrm>
          <a:prstGeom prst="roundRect">
            <a:avLst>
              <a:gd name="adj" fmla="val 3137"/>
            </a:avLst>
          </a:prstGeom>
          <a:solidFill>
            <a:srgbClr val="1A1A2E"/>
          </a:solidFill>
          <a:ln/>
        </p:spPr>
      </p:sp>
      <p:sp>
        <p:nvSpPr>
          <p:cNvPr id="49" name="Text 38"/>
          <p:cNvSpPr txBox="1"/>
          <p:nvPr/>
        </p:nvSpPr>
        <p:spPr>
          <a:xfrm>
            <a:off x="9509760" y="1783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¿QUÉ TANTO ME INCOMODA?</a:t>
            </a:r>
            <a:endParaRPr lang="en-US" sz="900" dirty="0"/>
          </a:p>
        </p:txBody>
      </p:sp>
      <p:sp>
        <p:nvSpPr>
          <p:cNvPr id="50" name="Shape 39"/>
          <p:cNvSpPr/>
          <p:nvPr/>
        </p:nvSpPr>
        <p:spPr>
          <a:xfrm>
            <a:off x="9555480" y="2377440"/>
            <a:ext cx="457200" cy="45720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51" name="Text 40"/>
          <p:cNvSpPr txBox="1"/>
          <p:nvPr/>
        </p:nvSpPr>
        <p:spPr>
          <a:xfrm>
            <a:off x="955548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300" dirty="0"/>
          </a:p>
        </p:txBody>
      </p:sp>
      <p:sp>
        <p:nvSpPr>
          <p:cNvPr id="52" name="Text 41"/>
          <p:cNvSpPr txBox="1"/>
          <p:nvPr/>
        </p:nvSpPr>
        <p:spPr>
          <a:xfrm>
            <a:off x="10149840" y="2377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Nada</a:t>
            </a:r>
            <a:endParaRPr lang="en-US" sz="1200" dirty="0"/>
          </a:p>
        </p:txBody>
      </p:sp>
      <p:sp>
        <p:nvSpPr>
          <p:cNvPr id="53" name="Shape 42"/>
          <p:cNvSpPr/>
          <p:nvPr/>
        </p:nvSpPr>
        <p:spPr>
          <a:xfrm>
            <a:off x="9555480" y="3035808"/>
            <a:ext cx="457200" cy="45720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54" name="Text 43"/>
          <p:cNvSpPr txBox="1"/>
          <p:nvPr/>
        </p:nvSpPr>
        <p:spPr>
          <a:xfrm>
            <a:off x="955548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300" dirty="0"/>
          </a:p>
        </p:txBody>
      </p:sp>
      <p:sp>
        <p:nvSpPr>
          <p:cNvPr id="55" name="Text 44"/>
          <p:cNvSpPr txBox="1"/>
          <p:nvPr/>
        </p:nvSpPr>
        <p:spPr>
          <a:xfrm>
            <a:off x="10149840" y="30358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Poco</a:t>
            </a:r>
            <a:endParaRPr lang="en-US" sz="1200" dirty="0"/>
          </a:p>
        </p:txBody>
      </p:sp>
      <p:sp>
        <p:nvSpPr>
          <p:cNvPr id="56" name="Shape 45"/>
          <p:cNvSpPr/>
          <p:nvPr/>
        </p:nvSpPr>
        <p:spPr>
          <a:xfrm>
            <a:off x="9555480" y="3694176"/>
            <a:ext cx="457200" cy="45720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57" name="Text 46"/>
          <p:cNvSpPr txBox="1"/>
          <p:nvPr/>
        </p:nvSpPr>
        <p:spPr>
          <a:xfrm>
            <a:off x="9555480" y="3694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300" dirty="0"/>
          </a:p>
        </p:txBody>
      </p:sp>
      <p:sp>
        <p:nvSpPr>
          <p:cNvPr id="58" name="Text 47"/>
          <p:cNvSpPr txBox="1"/>
          <p:nvPr/>
        </p:nvSpPr>
        <p:spPr>
          <a:xfrm>
            <a:off x="10149840" y="369417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Bastante</a:t>
            </a:r>
            <a:endParaRPr lang="en-US" sz="1200" dirty="0"/>
          </a:p>
        </p:txBody>
      </p:sp>
      <p:sp>
        <p:nvSpPr>
          <p:cNvPr id="59" name="Shape 48"/>
          <p:cNvSpPr/>
          <p:nvPr/>
        </p:nvSpPr>
        <p:spPr>
          <a:xfrm>
            <a:off x="9555480" y="4352544"/>
            <a:ext cx="457200" cy="45720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60" name="Text 49"/>
          <p:cNvSpPr txBox="1"/>
          <p:nvPr/>
        </p:nvSpPr>
        <p:spPr>
          <a:xfrm>
            <a:off x="9555480" y="4352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300" dirty="0"/>
          </a:p>
        </p:txBody>
      </p:sp>
      <p:sp>
        <p:nvSpPr>
          <p:cNvPr id="61" name="Text 50"/>
          <p:cNvSpPr txBox="1"/>
          <p:nvPr/>
        </p:nvSpPr>
        <p:spPr>
          <a:xfrm>
            <a:off x="10149840" y="435254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Mucho</a:t>
            </a:r>
            <a:endParaRPr lang="en-US" sz="1200" dirty="0"/>
          </a:p>
        </p:txBody>
      </p:sp>
      <p:sp>
        <p:nvSpPr>
          <p:cNvPr id="62" name="Text 51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 min individual · 5 min en pares: ¿qué descubrí de mí?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· ACTIVIDAD 1 · MI PERFIL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Mis detonadores: lo que más me incomoda dice mucho de mí</a:t>
            </a:r>
            <a:endParaRPr lang="en-US" sz="2400" dirty="0"/>
          </a:p>
        </p:txBody>
      </p:sp>
      <p:pic>
        <p:nvPicPr>
          <p:cNvPr id="4" name="Image 0" descr="/home/user/Training-and-Development-PROYECTS/workshop-liderazgo-intergeneracional/src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9646920" y="27432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FF8C4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46920" y="2743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MÓDULO 1 · 40 MIN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22960" y="2103120"/>
            <a:ext cx="1463040" cy="502920"/>
          </a:xfrm>
          <a:prstGeom prst="rect">
            <a:avLst/>
          </a:prstGeom>
          <a:solidFill>
            <a:srgbClr val="C9D6F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" y="21031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286000" y="2103120"/>
            <a:ext cx="1463040" cy="502920"/>
          </a:xfrm>
          <a:prstGeom prst="rect">
            <a:avLst/>
          </a:prstGeom>
          <a:solidFill>
            <a:srgbClr val="F8D4C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286000" y="21031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749040" y="2103120"/>
            <a:ext cx="1463040" cy="502920"/>
          </a:xfrm>
          <a:prstGeom prst="rect">
            <a:avLst/>
          </a:prstGeom>
          <a:solidFill>
            <a:srgbClr val="FF8C47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749040" y="21031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212080" y="2103120"/>
            <a:ext cx="1463040" cy="502920"/>
          </a:xfrm>
          <a:prstGeom prst="rect">
            <a:avLst/>
          </a:prstGeom>
          <a:solidFill>
            <a:srgbClr val="FA464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212080" y="21031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 incomoda poco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4480560" y="2697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 detona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749040" y="1600200"/>
            <a:ext cx="2926080" cy="365760"/>
          </a:xfrm>
          <a:prstGeom prst="roundRect">
            <a:avLst>
              <a:gd name="adj" fmla="val 50000"/>
            </a:avLst>
          </a:prstGeom>
          <a:solidFill>
            <a:srgbClr val="FA4642">
              <a:alpha val="15000"/>
            </a:srgbClr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3749040" y="1600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Aquí están mis detonadores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822960" y="3337560"/>
            <a:ext cx="457200" cy="457200"/>
          </a:xfrm>
          <a:prstGeom prst="ellipse">
            <a:avLst/>
          </a:prstGeom>
          <a:solidFill>
            <a:srgbClr val="1A1A2E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2296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1463040" y="331012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¿Qué tienen en común las situaciones que marqué con 3 o 4?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822960" y="4206240"/>
            <a:ext cx="457200" cy="457200"/>
          </a:xfrm>
          <a:prstGeom prst="ellipse">
            <a:avLst/>
          </a:prstGeom>
          <a:solidFill>
            <a:srgbClr val="1A1A2E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2296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1463040" y="417880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¿Me incomoda la conducta… o lo que creo que significa?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822960" y="5074920"/>
            <a:ext cx="457200" cy="457200"/>
          </a:xfrm>
          <a:prstGeom prst="ellipse">
            <a:avLst/>
          </a:prstGeom>
          <a:solidFill>
            <a:srgbClr val="1A1A2E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82296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1463040" y="504748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¿Me pasa más con personas mayores, más jóvenes o con ambas?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7223760" y="1600200"/>
            <a:ext cx="4434840" cy="4526280"/>
          </a:xfrm>
          <a:prstGeom prst="roundRect">
            <a:avLst>
              <a:gd name="adj" fmla="val 1649"/>
            </a:avLst>
          </a:prstGeom>
          <a:solidFill>
            <a:srgbClr val="F4F5F9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749808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 QUE ESTO NO 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7498080" y="2167128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31140" indent="-231140">
              <a:spcAft>
                <a:spcPts val="78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es una prueba ni mide personalidad.</a:t>
            </a:r>
            <a:endParaRPr lang="en-US" sz="1300" dirty="0"/>
          </a:p>
          <a:p>
            <a:pPr marL="231140" indent="-231140">
              <a:spcAft>
                <a:spcPts val="78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tiene relación con tu edad.</a:t>
            </a:r>
            <a:endParaRPr lang="en-US" sz="1300" dirty="0"/>
          </a:p>
          <a:p>
            <a:pPr marL="231140" indent="-231140">
              <a:spcAft>
                <a:spcPts val="78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se entrega ni se compara con nadie.</a:t>
            </a:r>
            <a:endParaRPr lang="en-US" sz="1300" dirty="0"/>
          </a:p>
          <a:p>
            <a:pPr marL="231140" indent="-231140">
              <a:spcAft>
                <a:spcPts val="78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 una foto de hoy: sirve para liderar mejor mañana.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· ACTIVIDAD 2 · EL MURO DE LAS GENERACIONES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¿A qué generación pertenece cada frase?</a:t>
            </a:r>
            <a:endParaRPr lang="en-US" sz="2400" dirty="0"/>
          </a:p>
        </p:txBody>
      </p:sp>
      <p:pic>
        <p:nvPicPr>
          <p:cNvPr id="4" name="Image 0" descr="/home/user/Training-and-Development-PROYECTS/workshop-liderazgo-intergeneracional/src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9646920" y="27432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FF8C4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46920" y="2743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MÓDULO 1 · 40 MIN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48640" y="1600200"/>
            <a:ext cx="1965960" cy="3291840"/>
          </a:xfrm>
          <a:prstGeom prst="rect">
            <a:avLst/>
          </a:prstGeom>
          <a:solidFill>
            <a:srgbClr val="EEEFF3"/>
          </a:solidFill>
          <a:ln w="9525">
            <a:solidFill>
              <a:srgbClr val="D6D8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1600200"/>
            <a:ext cx="1965960" cy="502920"/>
          </a:xfrm>
          <a:prstGeom prst="rect">
            <a:avLst/>
          </a:prstGeom>
          <a:solidFill>
            <a:srgbClr val="FF8C4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16002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Baby Boomers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 rot="-240000">
            <a:off x="731520" y="2286000"/>
            <a:ext cx="10058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8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554480" y="3108960"/>
            <a:ext cx="10058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8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rot="240000">
            <a:off x="731520" y="3931920"/>
            <a:ext cx="10058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8E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697480" y="1600200"/>
            <a:ext cx="1965960" cy="3291840"/>
          </a:xfrm>
          <a:prstGeom prst="rect">
            <a:avLst/>
          </a:prstGeom>
          <a:solidFill>
            <a:srgbClr val="EEEFF3"/>
          </a:solidFill>
          <a:ln w="9525">
            <a:solidFill>
              <a:srgbClr val="D6D8E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697480" y="1600200"/>
            <a:ext cx="1965960" cy="502920"/>
          </a:xfrm>
          <a:prstGeom prst="rect">
            <a:avLst/>
          </a:prstGeom>
          <a:solidFill>
            <a:srgbClr val="FA464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2697480" y="16002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Generación X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 rot="-240000">
            <a:off x="2880360" y="2286000"/>
            <a:ext cx="10058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8E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703320" y="3108960"/>
            <a:ext cx="10058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8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846320" y="1600200"/>
            <a:ext cx="1965960" cy="3291840"/>
          </a:xfrm>
          <a:prstGeom prst="rect">
            <a:avLst/>
          </a:prstGeom>
          <a:solidFill>
            <a:srgbClr val="EEEFF3"/>
          </a:solidFill>
          <a:ln w="9525">
            <a:solidFill>
              <a:srgbClr val="D6D8E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846320" y="1600200"/>
            <a:ext cx="1965960" cy="502920"/>
          </a:xfrm>
          <a:prstGeom prst="rect">
            <a:avLst/>
          </a:prstGeom>
          <a:solidFill>
            <a:srgbClr val="C8136C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846320" y="16002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Millennials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 rot="-240000">
            <a:off x="5029200" y="2286000"/>
            <a:ext cx="10058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8E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852160" y="3108960"/>
            <a:ext cx="10058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8E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 rot="240000">
            <a:off x="5029200" y="3931920"/>
            <a:ext cx="10058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8E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995160" y="1600200"/>
            <a:ext cx="1965960" cy="3291840"/>
          </a:xfrm>
          <a:prstGeom prst="rect">
            <a:avLst/>
          </a:prstGeom>
          <a:solidFill>
            <a:srgbClr val="EEEFF3"/>
          </a:solidFill>
          <a:ln w="9525">
            <a:solidFill>
              <a:srgbClr val="D6D8E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995160" y="1600200"/>
            <a:ext cx="1965960" cy="502920"/>
          </a:xfrm>
          <a:prstGeom prst="rect">
            <a:avLst/>
          </a:prstGeom>
          <a:solidFill>
            <a:srgbClr val="5B2A86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995160" y="16002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Generación Z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 rot="-240000">
            <a:off x="7178040" y="2286000"/>
            <a:ext cx="10058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8E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001000" y="3108960"/>
            <a:ext cx="10058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8E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 rot="240000">
            <a:off x="7178040" y="3931920"/>
            <a:ext cx="10058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8E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235440" y="1600200"/>
            <a:ext cx="2423160" cy="3291840"/>
          </a:xfrm>
          <a:prstGeom prst="roundRect">
            <a:avLst>
              <a:gd name="adj" fmla="val 3019"/>
            </a:avLst>
          </a:prstGeom>
          <a:solidFill>
            <a:srgbClr val="F4F5F9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9509760" y="17830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LAS FRASES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9464040" y="2167128"/>
            <a:ext cx="2103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“Quiero estabilidad”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“Quiero que reconozcan lo que aporto”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“Quiero crecer”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“Necesito entender el porqué”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“Quiero flexibilidad”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… y 7 más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48640" y="5166360"/>
            <a:ext cx="2827782" cy="548640"/>
          </a:xfrm>
          <a:prstGeom prst="homePlate">
            <a:avLst/>
          </a:prstGeom>
          <a:solidFill>
            <a:srgbClr val="FF8C47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713232" y="5166360"/>
            <a:ext cx="24985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Colocar en silencio · 5 min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3303270" y="5166360"/>
            <a:ext cx="2827782" cy="548640"/>
          </a:xfrm>
          <a:prstGeom prst="chevron">
            <a:avLst/>
          </a:prstGeom>
          <a:solidFill>
            <a:srgbClr val="FA4642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3467862" y="5166360"/>
            <a:ext cx="24985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Observar el muro · 3 min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6057900" y="5166360"/>
            <a:ext cx="2827782" cy="548640"/>
          </a:xfrm>
          <a:prstGeom prst="chevron">
            <a:avLst/>
          </a:prstGeom>
          <a:solidFill>
            <a:srgbClr val="C8136C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6222492" y="5166360"/>
            <a:ext cx="24985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Revelación · 7 min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8812530" y="5166360"/>
            <a:ext cx="2827782" cy="548640"/>
          </a:xfrm>
          <a:prstGeom prst="chevron">
            <a:avLst/>
          </a:prstGeom>
          <a:solidFill>
            <a:srgbClr val="5B2A86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8977122" y="5166360"/>
            <a:ext cx="24985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Conversación · 5 min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· ACTIVIDAD 2 · LA REVELACIÓN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¿Estamos describiendo generaciones… o personas?</a:t>
            </a:r>
            <a:endParaRPr lang="en-US" sz="2400" dirty="0"/>
          </a:p>
        </p:txBody>
      </p:sp>
      <p:pic>
        <p:nvPicPr>
          <p:cNvPr id="4" name="Image 0" descr="/home/user/Training-and-Development-PROYECTS/workshop-liderazgo-intergeneracional/src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9646920" y="27432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FF8C4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46920" y="2743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MÓDULO 1 · 40 MIN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48640" y="160020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48640" y="16002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Baby Boomers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017520" y="2011680"/>
            <a:ext cx="2514600" cy="1600200"/>
          </a:xfrm>
          <a:prstGeom prst="line">
            <a:avLst/>
          </a:prstGeom>
          <a:noFill/>
          <a:ln w="25400">
            <a:solidFill>
              <a:srgbClr val="FF8C47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548640" y="269748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FA464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48640" y="26974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Generación X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017520" y="3108960"/>
            <a:ext cx="2514600" cy="502920"/>
          </a:xfrm>
          <a:prstGeom prst="line">
            <a:avLst/>
          </a:prstGeom>
          <a:noFill/>
          <a:ln w="25400">
            <a:solidFill>
              <a:srgbClr val="FA4642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548640" y="379476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C8136C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48640" y="37947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Millennials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 flipV="1">
            <a:off x="3017520" y="3611880"/>
            <a:ext cx="2514600" cy="594360"/>
          </a:xfrm>
          <a:prstGeom prst="line">
            <a:avLst/>
          </a:prstGeom>
          <a:noFill/>
          <a:ln w="25400">
            <a:solidFill>
              <a:srgbClr val="C8136C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548640" y="489204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5B2A86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48640" y="48920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Generación Z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 flipV="1">
            <a:off x="3017520" y="3611880"/>
            <a:ext cx="2514600" cy="1691640"/>
          </a:xfrm>
          <a:prstGeom prst="line">
            <a:avLst/>
          </a:prstGeom>
          <a:noFill/>
          <a:ln w="25400">
            <a:solidFill>
              <a:srgbClr val="5B2A86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5577840" y="1920240"/>
            <a:ext cx="3383280" cy="3383280"/>
          </a:xfrm>
          <a:prstGeom prst="ellipse">
            <a:avLst/>
          </a:prstGeom>
          <a:solidFill>
            <a:srgbClr val="1A1A2E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577840" y="1920240"/>
            <a:ext cx="3383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 que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valoramos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todos</a:t>
            </a:r>
            <a:endParaRPr lang="en-US" sz="2400" dirty="0"/>
          </a:p>
        </p:txBody>
      </p:sp>
      <p:sp>
        <p:nvSpPr>
          <p:cNvPr id="22" name="Shape 19"/>
          <p:cNvSpPr/>
          <p:nvPr/>
        </p:nvSpPr>
        <p:spPr>
          <a:xfrm>
            <a:off x="6446520" y="1417320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FFE3CF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446520" y="1417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Estabilidad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9483939" y="2423160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FFE3CF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9483939" y="2423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Reconocimiento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9483939" y="4434840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FFE3CF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9483939" y="4434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Crecimiento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446520" y="5440680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FFE3CF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446520" y="5440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Respeto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669280" y="4434840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FFE3CF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5669280" y="4434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 buen jefe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669280" y="2423160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FFE3CF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5669280" y="2423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Sentido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9418320" y="1600200"/>
            <a:ext cx="2240280" cy="4480560"/>
          </a:xfrm>
          <a:prstGeom prst="roundRect">
            <a:avLst>
              <a:gd name="adj" fmla="val 3265"/>
            </a:avLst>
          </a:prstGeom>
          <a:solidFill>
            <a:srgbClr val="F4F5F9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9692640" y="17830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A LA SALA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9646920" y="2167128"/>
            <a:ext cx="1828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“¿Quién en esta sala se identifica con esta frase?”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Las manos se levantan en todas las edades.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737360"/>
            <a:ext cx="1371600" cy="137160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7373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2240280" y="1828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MÓDULO 2 · 30 MINUTOS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240280" y="219456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¿Qué impacto tiene mi reacción?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2240280" y="29718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Una reacción dura segundos. Su efecto en la persona y en el equipo puede durar meses.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5120640"/>
            <a:ext cx="2651760" cy="109728"/>
          </a:xfrm>
          <a:prstGeom prst="roundRect">
            <a:avLst/>
          </a:prstGeom>
          <a:solidFill>
            <a:srgbClr val="3A3A5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5303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¿Cómo reacciono?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64992" y="5120640"/>
            <a:ext cx="2651760" cy="109728"/>
          </a:xfrm>
          <a:prstGeom prst="roundRect">
            <a:avLst/>
          </a:prstGeom>
          <a:solidFill>
            <a:srgbClr val="FA464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364992" y="5303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¿Qué impacto tiene?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81344" y="5120640"/>
            <a:ext cx="2651760" cy="109728"/>
          </a:xfrm>
          <a:prstGeom prst="roundRect">
            <a:avLst/>
          </a:prstGeom>
          <a:solidFill>
            <a:srgbClr val="3A3A5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81344" y="5303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¿Qué valora cada generación?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97696" y="5120640"/>
            <a:ext cx="2651760" cy="109728"/>
          </a:xfrm>
          <a:prstGeom prst="roundRect">
            <a:avLst/>
          </a:prstGeom>
          <a:solidFill>
            <a:srgbClr val="3A3A5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997696" y="5303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¿Cómo trabajo mejor?</a:t>
            </a:r>
            <a:endParaRPr lang="en-US" sz="1000" dirty="0"/>
          </a:p>
        </p:txBody>
      </p:sp>
      <p:pic>
        <p:nvPicPr>
          <p:cNvPr id="15" name="Image 0" descr="/home/user/Training-and-Development-PROYECTS/workshop-liderazgo-intergeneracional/src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· ACTIVIDAD 3 · LA CADENA DE LA REACCIÓN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Una reacción de segundos se vuelve un resultado de equipo</a:t>
            </a:r>
            <a:endParaRPr lang="en-US" sz="2400" dirty="0"/>
          </a:p>
        </p:txBody>
      </p:sp>
      <p:pic>
        <p:nvPicPr>
          <p:cNvPr id="4" name="Image 0" descr="/home/user/Training-and-Development-PROYECTS/workshop-liderazgo-intergeneracional/src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9646920" y="27432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FA464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46920" y="2743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MÓDULO 2 · 30 MIN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48640" y="1645920"/>
            <a:ext cx="2258568" cy="685800"/>
          </a:xfrm>
          <a:prstGeom prst="homePlat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58368" y="16459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Situación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1335024" y="2560320"/>
            <a:ext cx="685800" cy="685800"/>
          </a:xfrm>
          <a:prstGeom prst="ellipse">
            <a:avLst/>
          </a:prstGeom>
          <a:solidFill>
            <a:srgbClr val="F4F5F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6474" y="273177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40080" y="33832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 colaborador nuevo pregunta “¿por qué?”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2743200" y="1645920"/>
            <a:ext cx="2258568" cy="685800"/>
          </a:xfrm>
          <a:prstGeom prst="chevron">
            <a:avLst/>
          </a:prstGeom>
          <a:solidFill>
            <a:srgbClr val="FA464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3017520" y="16459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 reacción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3529584" y="2560320"/>
            <a:ext cx="685800" cy="685800"/>
          </a:xfrm>
          <a:prstGeom prst="ellipse">
            <a:avLst/>
          </a:prstGeom>
          <a:solidFill>
            <a:srgbClr val="F4F5F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1034" y="2731770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2834640" y="33832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“Porque así se hace aquí.”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937760" y="1645920"/>
            <a:ext cx="2258568" cy="68580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5212080" y="16459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 que entiende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724144" y="2560320"/>
            <a:ext cx="685800" cy="685800"/>
          </a:xfrm>
          <a:prstGeom prst="ellipse">
            <a:avLst/>
          </a:prstGeom>
          <a:solidFill>
            <a:srgbClr val="F4F5F9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5594" y="2731770"/>
            <a:ext cx="342900" cy="3429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029200" y="33832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“Mis preguntas molestan.”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7132320" y="1645920"/>
            <a:ext cx="2258568" cy="685800"/>
          </a:xfrm>
          <a:prstGeom prst="chevron">
            <a:avLst/>
          </a:prstGeom>
          <a:solidFill>
            <a:srgbClr val="AA0582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7406640" y="16459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 que hace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7918704" y="2560320"/>
            <a:ext cx="685800" cy="685800"/>
          </a:xfrm>
          <a:prstGeom prst="ellipse">
            <a:avLst/>
          </a:prstGeom>
          <a:solidFill>
            <a:srgbClr val="F4F5F9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0154" y="2731770"/>
            <a:ext cx="342900" cy="3429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223760" y="33832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Deja de preguntar y de proponer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9326880" y="1645920"/>
            <a:ext cx="2258568" cy="685800"/>
          </a:xfrm>
          <a:prstGeom prst="chevron">
            <a:avLst/>
          </a:prstGeom>
          <a:solidFill>
            <a:srgbClr val="5B2A86"/>
          </a:solidFill>
          <a:ln/>
        </p:spPr>
      </p:sp>
      <p:sp>
        <p:nvSpPr>
          <p:cNvPr id="29" name="Text 22"/>
          <p:cNvSpPr txBox="1"/>
          <p:nvPr/>
        </p:nvSpPr>
        <p:spPr>
          <a:xfrm>
            <a:off x="9601200" y="16459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 el equipo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10113264" y="2560320"/>
            <a:ext cx="685800" cy="685800"/>
          </a:xfrm>
          <a:prstGeom prst="ellipse">
            <a:avLst/>
          </a:prstGeom>
          <a:solidFill>
            <a:srgbClr val="F4F5F9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4714" y="2731770"/>
            <a:ext cx="342900" cy="3429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418320" y="33832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 pierden ideas y errores que nadie advierte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548640" y="4526280"/>
            <a:ext cx="11109960" cy="1554480"/>
          </a:xfrm>
          <a:prstGeom prst="roundRect">
            <a:avLst>
              <a:gd name="adj" fmla="val 4706"/>
            </a:avLst>
          </a:prstGeom>
          <a:solidFill>
            <a:srgbClr val="F4F5F9"/>
          </a:solidFill>
          <a:ln/>
        </p:spPr>
      </p:sp>
      <p:sp>
        <p:nvSpPr>
          <p:cNvPr id="34" name="Text 26"/>
          <p:cNvSpPr txBox="1"/>
          <p:nvPr/>
        </p:nvSpPr>
        <p:spPr>
          <a:xfrm>
            <a:off x="822960" y="4663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 PARES · 8 MIN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822960" y="498348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Toma la situación que más te incomodó en la Actividad 1 y llena tu propia cadena en el cuaderno.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¿En qué eslabón podría haber cambiado el resultado?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· LO QUE NO SE VE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 que ves es mi reacción; lo que la provoca está abajo</a:t>
            </a:r>
            <a:endParaRPr lang="en-US" sz="2400" dirty="0"/>
          </a:p>
        </p:txBody>
      </p:sp>
      <p:pic>
        <p:nvPicPr>
          <p:cNvPr id="4" name="Image 0" descr="/home/user/Training-and-Development-PROYECTS/workshop-liderazgo-intergeneracional/src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9646920" y="27432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FA464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46920" y="2743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MÓDULO 2 · 30 MIN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48640" y="2788920"/>
            <a:ext cx="6492240" cy="3429000"/>
          </a:xfrm>
          <a:prstGeom prst="rect">
            <a:avLst/>
          </a:prstGeom>
          <a:solidFill>
            <a:srgbClr val="DCE6F7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1554480"/>
            <a:ext cx="6492240" cy="123444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10" name="Shape 7"/>
          <p:cNvSpPr/>
          <p:nvPr/>
        </p:nvSpPr>
        <p:spPr>
          <a:xfrm>
            <a:off x="548640" y="2788920"/>
            <a:ext cx="6492240" cy="0"/>
          </a:xfrm>
          <a:prstGeom prst="line">
            <a:avLst/>
          </a:prstGeom>
          <a:noFill/>
          <a:ln w="25400">
            <a:solidFill>
              <a:srgbClr val="3F6FD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606040" y="1691640"/>
            <a:ext cx="2377440" cy="1097280"/>
          </a:xfrm>
          <a:prstGeom prst="triangle">
            <a:avLst/>
          </a:prstGeom>
          <a:solidFill>
            <a:srgbClr val="FFFFFF"/>
          </a:solidFill>
          <a:ln w="19050">
            <a:solidFill>
              <a:srgbClr val="3F6FD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flipV="1">
            <a:off x="1234440" y="2788920"/>
            <a:ext cx="5120640" cy="3246120"/>
          </a:xfrm>
          <a:prstGeom prst="trapezoid">
            <a:avLst/>
          </a:prstGeom>
          <a:solidFill>
            <a:srgbClr val="1A1A2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606040" y="2148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 reacción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554480" y="30175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Mis supuestos: “así son ellos”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1828800" y="37033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 experiencia: “a mí nadie me explicaba”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2103120" y="43891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Mis emociones: sentir que se cuestiona mi autoridad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2377440" y="50749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Mis valores: cómo aprendí lo que es “compromiso”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1645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3F6FD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 QUE SE VE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731520" y="56692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3F6FD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 QUE</a:t>
            </a:r>
            <a:endParaRPr lang="en-US" sz="850" dirty="0"/>
          </a:p>
          <a:p>
            <a:pPr indent="0" marL="0">
              <a:buNone/>
            </a:pPr>
            <a:r>
              <a:rPr lang="en-US" sz="850" b="1" spc="150" kern="0" dirty="0">
                <a:solidFill>
                  <a:srgbClr val="3F6FD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SE VE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406640" y="1554480"/>
            <a:ext cx="4251960" cy="4663440"/>
          </a:xfrm>
          <a:prstGeom prst="roundRect">
            <a:avLst>
              <a:gd name="adj" fmla="val 1720"/>
            </a:avLst>
          </a:prstGeom>
          <a:solidFill>
            <a:srgbClr val="F4F5F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680960" y="173736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 LIDERAR MEJOR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7680960" y="2121408"/>
            <a:ext cx="3749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31140" indent="-231140">
              <a:spcAft>
                <a:spcPts val="78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Antes de reaccionar, identifica qué supuesto hay debajo.</a:t>
            </a:r>
            <a:endParaRPr lang="en-US" sz="1300" dirty="0"/>
          </a:p>
          <a:p>
            <a:pPr marL="231140" indent="-231140">
              <a:spcAft>
                <a:spcPts val="78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Pregunta: ¿qué sé de esta persona y qué estoy imaginando?</a:t>
            </a:r>
            <a:endParaRPr lang="en-US" sz="1300" dirty="0"/>
          </a:p>
          <a:p>
            <a:pPr marL="231140" indent="-231140">
              <a:spcAft>
                <a:spcPts val="78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Separa la conducta (lo que hizo) de la interpretación (lo que creo que significa).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7680960" y="49834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Cambiar lo de abajo cambia lo de arriba.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· ACTIVIDAD 4 · DOS RESPUESTAS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Entre lo que pasa y lo que respondo, hay un espacio</a:t>
            </a:r>
            <a:endParaRPr lang="en-US" sz="2400" dirty="0"/>
          </a:p>
        </p:txBody>
      </p:sp>
      <p:pic>
        <p:nvPicPr>
          <p:cNvPr id="4" name="Image 0" descr="/home/user/Training-and-Development-PROYECTS/workshop-liderazgo-intergeneracional/src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9646920" y="27432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FA464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46920" y="2743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MÓDULO 2 · 30 MIN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48640" y="1600200"/>
            <a:ext cx="1737360" cy="1188720"/>
          </a:xfrm>
          <a:prstGeom prst="roundRect">
            <a:avLst>
              <a:gd name="adj" fmla="val 6154"/>
            </a:avLst>
          </a:prstGeom>
          <a:solidFill>
            <a:srgbClr val="F4F5F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48640" y="160020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 que pasa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 flipV="1">
            <a:off x="2377440" y="1783080"/>
            <a:ext cx="3108960" cy="137160"/>
          </a:xfrm>
          <a:prstGeom prst="line">
            <a:avLst/>
          </a:prstGeom>
          <a:noFill/>
          <a:ln w="31750">
            <a:solidFill>
              <a:srgbClr val="8A8CA0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5577840" y="146304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EEEFF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577840" y="14630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Reacciono en automático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412480" y="1874520"/>
            <a:ext cx="731520" cy="914"/>
          </a:xfrm>
          <a:prstGeom prst="line">
            <a:avLst/>
          </a:prstGeom>
          <a:noFill/>
          <a:ln w="25400">
            <a:solidFill>
              <a:srgbClr val="8A8CA0"/>
            </a:solidFill>
            <a:prstDash val="solid"/>
            <a:tailEnd type="triangle"/>
          </a:ln>
        </p:spPr>
      </p:sp>
      <p:sp>
        <p:nvSpPr>
          <p:cNvPr id="14" name="Text 11"/>
          <p:cNvSpPr txBox="1"/>
          <p:nvPr/>
        </p:nvSpPr>
        <p:spPr>
          <a:xfrm>
            <a:off x="9235440" y="14630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persona se cierra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377440" y="2514600"/>
            <a:ext cx="731520" cy="822960"/>
          </a:xfrm>
          <a:prstGeom prst="line">
            <a:avLst/>
          </a:prstGeom>
          <a:noFill/>
          <a:ln w="31750">
            <a:solidFill>
              <a:srgbClr val="FA4642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3154680" y="2971800"/>
            <a:ext cx="1371600" cy="137160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3154680" y="2971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Pausa 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0" y="3657600"/>
            <a:ext cx="914400" cy="914"/>
          </a:xfrm>
          <a:prstGeom prst="line">
            <a:avLst/>
          </a:prstGeom>
          <a:noFill/>
          <a:ln w="31750">
            <a:solidFill>
              <a:srgbClr val="FA4642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5577840" y="324612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FA464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577840" y="32461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Respondo con intención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412480" y="3657600"/>
            <a:ext cx="731520" cy="914"/>
          </a:xfrm>
          <a:prstGeom prst="line">
            <a:avLst/>
          </a:prstGeom>
          <a:noFill/>
          <a:ln w="25400">
            <a:solidFill>
              <a:srgbClr val="FA4642"/>
            </a:solidFill>
            <a:prstDash val="solid"/>
            <a:tailEnd type="triangle"/>
          </a:ln>
        </p:spPr>
      </p:sp>
      <p:sp>
        <p:nvSpPr>
          <p:cNvPr id="22" name="Text 19"/>
          <p:cNvSpPr txBox="1"/>
          <p:nvPr/>
        </p:nvSpPr>
        <p:spPr>
          <a:xfrm>
            <a:off x="9235440" y="324612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persona se abre; el estándar se mantiene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4572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Preguntas que abren: “¿Qué te lleva a pedirlo?” · “¿Qué necesitas para lograrlo?” · “¿Qué ves tú que yo no veo?”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548640" y="5257800"/>
            <a:ext cx="2827782" cy="548640"/>
          </a:xfrm>
          <a:prstGeom prst="homePlate">
            <a:avLst/>
          </a:prstGeom>
          <a:solidFill>
            <a:srgbClr val="FF8C47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713232" y="5257800"/>
            <a:ext cx="24985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Tríos: líder · colaborador · observador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3303270" y="5257800"/>
            <a:ext cx="2827782" cy="548640"/>
          </a:xfrm>
          <a:prstGeom prst="chevron">
            <a:avLst/>
          </a:prstGeom>
          <a:solidFill>
            <a:srgbClr val="FA464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3467862" y="5257800"/>
            <a:ext cx="24985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Ronda 1: como siempre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057900" y="5257800"/>
            <a:ext cx="2827782" cy="548640"/>
          </a:xfrm>
          <a:prstGeom prst="chevron">
            <a:avLst/>
          </a:prstGeom>
          <a:solidFill>
            <a:srgbClr val="C8136C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222492" y="5257800"/>
            <a:ext cx="24985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Ronda 2: pregunto primero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812530" y="5257800"/>
            <a:ext cx="2827782" cy="548640"/>
          </a:xfrm>
          <a:prstGeom prst="chevron">
            <a:avLst/>
          </a:prstGeom>
          <a:solidFill>
            <a:srgbClr val="5B2A86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8977122" y="5257800"/>
            <a:ext cx="24985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Observador: ¿qué cambió?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737360"/>
            <a:ext cx="1371600" cy="1371600"/>
          </a:xfrm>
          <a:prstGeom prst="ellipse">
            <a:avLst/>
          </a:prstGeom>
          <a:solidFill>
            <a:srgbClr val="C8136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7373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2240280" y="1828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MÓDULO 3 · 35 MINUTOS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240280" y="219456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¿Qué valora cada generación?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2240280" y="29718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Las generaciones sirven para entender el contexto. No sirven para adivinar cómo es una persona.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5120640"/>
            <a:ext cx="2651760" cy="109728"/>
          </a:xfrm>
          <a:prstGeom prst="roundRect">
            <a:avLst/>
          </a:prstGeom>
          <a:solidFill>
            <a:srgbClr val="3A3A5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5303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¿Cómo reacciono?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64992" y="5120640"/>
            <a:ext cx="2651760" cy="109728"/>
          </a:xfrm>
          <a:prstGeom prst="roundRect">
            <a:avLst/>
          </a:prstGeom>
          <a:solidFill>
            <a:srgbClr val="3A3A5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364992" y="5303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¿Qué impacto tiene?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81344" y="5120640"/>
            <a:ext cx="2651760" cy="109728"/>
          </a:xfrm>
          <a:prstGeom prst="roundRect">
            <a:avLst/>
          </a:prstGeom>
          <a:solidFill>
            <a:srgbClr val="C8136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81344" y="5303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¿Qué valora cada generación?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97696" y="5120640"/>
            <a:ext cx="2651760" cy="109728"/>
          </a:xfrm>
          <a:prstGeom prst="roundRect">
            <a:avLst/>
          </a:prstGeom>
          <a:solidFill>
            <a:srgbClr val="3A3A5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997696" y="5303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¿Cómo trabajo mejor?</a:t>
            </a:r>
            <a:endParaRPr lang="en-US" sz="1000" dirty="0"/>
          </a:p>
        </p:txBody>
      </p:sp>
      <p:pic>
        <p:nvPicPr>
          <p:cNvPr id="15" name="Image 0" descr="/home/user/Training-and-Development-PROYECTS/workshop-liderazgo-intergeneracional/src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ACTIVIDAD 5 · MITO O REALIDAD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Cuatro frases que escuchamos. ¿Qué dicen los datos?</a:t>
            </a:r>
            <a:endParaRPr lang="en-US" sz="2400" dirty="0"/>
          </a:p>
        </p:txBody>
      </p:sp>
      <p:pic>
        <p:nvPicPr>
          <p:cNvPr id="4" name="Image 0" descr="/home/user/Training-and-Development-PROYECTS/workshop-liderazgo-intergeneracional/src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BLS 2026 y EBRI 2025 (EE. UU.); Ng y Feldman 2012; Deloitte 2025–2026; Gallup y Workhuman 2022.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9646920" y="27432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C8136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646920" y="2743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MÓDULO 3 · 35 MIN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48640" y="160020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4F5F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2960" y="17830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“Los jóvenes no son leales.”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 rot="-360000">
            <a:off x="4480560" y="187452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FA4642"/>
          </a:solidFill>
          <a:ln/>
        </p:spPr>
      </p:sp>
      <p:sp>
        <p:nvSpPr>
          <p:cNvPr id="12" name="Text 9"/>
          <p:cNvSpPr txBox="1"/>
          <p:nvPr/>
        </p:nvSpPr>
        <p:spPr>
          <a:xfrm rot="-360000">
            <a:off x="4480560" y="18745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FALSO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26517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Siempre han cambiado más de empleo: es la edad, no la generación.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153912" y="160020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4F5F9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428232" y="17830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“Los mayores se resisten a la tecnología.”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 rot="-360000">
            <a:off x="10085832" y="187452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FA4642"/>
          </a:solidFill>
          <a:ln/>
        </p:spPr>
      </p:sp>
      <p:sp>
        <p:nvSpPr>
          <p:cNvPr id="17" name="Text 14"/>
          <p:cNvSpPr txBox="1"/>
          <p:nvPr/>
        </p:nvSpPr>
        <p:spPr>
          <a:xfrm rot="-360000">
            <a:off x="10085832" y="18745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FALSO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428232" y="26517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 418 estudios, “resistencia al cambio” no se sostiene.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370332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4F5F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22960" y="38862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“Los jóvenes no quieren ser jefes.”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 rot="-360000">
            <a:off x="4480560" y="397764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AA0582"/>
          </a:solidFill>
          <a:ln/>
        </p:spPr>
      </p:sp>
      <p:sp>
        <p:nvSpPr>
          <p:cNvPr id="22" name="Text 19"/>
          <p:cNvSpPr txBox="1"/>
          <p:nvPr/>
        </p:nvSpPr>
        <p:spPr>
          <a:xfrm rot="-360000">
            <a:off x="4480560" y="39776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DEPENDE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822960" y="47548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6 % lo busca hoy; 76 % de la Generación Z, algún día.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153912" y="370332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4F5F9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428232" y="38862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“Necesitan reconocimiento todo el tiempo.”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 rot="-360000">
            <a:off x="10085832" y="397764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AA0582"/>
          </a:solidFill>
          <a:ln/>
        </p:spPr>
      </p:sp>
      <p:sp>
        <p:nvSpPr>
          <p:cNvPr id="27" name="Text 24"/>
          <p:cNvSpPr txBox="1"/>
          <p:nvPr/>
        </p:nvSpPr>
        <p:spPr>
          <a:xfrm rot="-360000">
            <a:off x="10085832" y="39776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DEPENDE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6428232" y="47548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 quieren más seguido, pero la mitad de los mayores también.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Voten al mismo tiempo con sus tarjetas: CIERTO · FALSO · DEPENDE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DATO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Los jóvenes de hoy duran en su empleo lo mismo que en 1983</a:t>
            </a:r>
            <a:endParaRPr lang="en-US" sz="2400" dirty="0"/>
          </a:p>
        </p:txBody>
      </p:sp>
      <p:pic>
        <p:nvPicPr>
          <p:cNvPr id="4" name="Image 0" descr="/home/user/Training-and-Development-PROYECTS/workshop-liderazgo-intergeneracional/src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BLS, Employee Tenure (CPS, enero de 2026); EBRI (2025), Trends in Employee Tenure 1983–2024. EE. UU. [Por confirmar la cifra 2026 en bls.gov].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9646920" y="27432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C8136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646920" y="2743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MÓDULO 3 · 35 MIN</a:t>
            </a:r>
            <a:endParaRPr lang="en-US" sz="8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1463040"/>
          <a:ext cx="65836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7498080" y="1463040"/>
            <a:ext cx="4160520" cy="4754880"/>
          </a:xfrm>
          <a:prstGeom prst="roundRect">
            <a:avLst>
              <a:gd name="adj" fmla="val 1758"/>
            </a:avLst>
          </a:prstGeom>
          <a:solidFill>
            <a:srgbClr val="F4F5F9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7772400" y="16459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7772400" y="2029968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2250" indent="-222250">
              <a:spcAft>
                <a:spcPts val="75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los 25–34 años, casi todos cambiamos más de empleo: pasaba igual hace 40 años.</a:t>
            </a:r>
            <a:endParaRPr lang="en-US" sz="1250" dirty="0"/>
          </a:p>
          <a:p>
            <a:pPr marL="222250" indent="-222250">
              <a:spcAft>
                <a:spcPts val="75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antigüedad crece con la edad y la etapa de vida.</a:t>
            </a:r>
            <a:endParaRPr lang="en-US" sz="1250" dirty="0"/>
          </a:p>
          <a:p>
            <a:pPr marL="222250" indent="-222250">
              <a:spcAft>
                <a:spcPts val="75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lealtad responde a cómo se trata a la persona, a cualquier edad.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7772400" y="50292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es la generación: es la edad y el trato.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QUÉ VALORA CADA GENERACIÓN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Cuatro contextos, cuatro formas de pedir lo mismo</a:t>
            </a:r>
            <a:endParaRPr lang="en-US" sz="2400" dirty="0"/>
          </a:p>
        </p:txBody>
      </p:sp>
      <p:pic>
        <p:nvPicPr>
          <p:cNvPr id="4" name="Image 0" descr="/home/user/Training-and-Development-PROYECTS/workshop-liderazgo-intergeneracional/src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Tendencias generales, no reglas: dentro de cada generación hay personas muy distintas. Fuente: Paquete de evidencia del taller.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9646920" y="27432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C8136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646920" y="2743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MÓDULO 3 · 35 MIN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48640" y="1554480"/>
            <a:ext cx="2651760" cy="4663440"/>
          </a:xfrm>
          <a:prstGeom prst="roundRect">
            <a:avLst>
              <a:gd name="adj" fmla="val 3448"/>
            </a:avLst>
          </a:prstGeom>
          <a:solidFill>
            <a:srgbClr val="F4F5F9"/>
          </a:solidFill>
          <a:ln/>
        </p:spPr>
      </p:sp>
      <p:sp>
        <p:nvSpPr>
          <p:cNvPr id="10" name="Shape 7"/>
          <p:cNvSpPr/>
          <p:nvPr/>
        </p:nvSpPr>
        <p:spPr>
          <a:xfrm>
            <a:off x="548640" y="1554480"/>
            <a:ext cx="2651760" cy="1325880"/>
          </a:xfrm>
          <a:prstGeom prst="rect">
            <a:avLst/>
          </a:prstGeom>
          <a:solidFill>
            <a:srgbClr val="FF8C47"/>
          </a:solidFill>
          <a:ln/>
        </p:spPr>
      </p:sp>
      <p:sp>
        <p:nvSpPr>
          <p:cNvPr id="11" name="Shape 8"/>
          <p:cNvSpPr/>
          <p:nvPr/>
        </p:nvSpPr>
        <p:spPr>
          <a:xfrm>
            <a:off x="731520" y="1764792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993392"/>
            <a:ext cx="457200" cy="4572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737360" y="17830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Baby Boomers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737360" y="22402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1946–1964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731520" y="30175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SUELEN VALORAR</a:t>
            </a:r>
            <a:endParaRPr lang="en-US" sz="800" dirty="0"/>
          </a:p>
        </p:txBody>
      </p:sp>
      <p:sp>
        <p:nvSpPr>
          <p:cNvPr id="16" name="Text 12"/>
          <p:cNvSpPr txBox="1"/>
          <p:nvPr/>
        </p:nvSpPr>
        <p:spPr>
          <a:xfrm>
            <a:off x="731520" y="3273552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Estabilidad · Respeto a su experiencia · Compromiso a largo plazo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731520" y="4206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COMUNICACIÓN</a:t>
            </a:r>
            <a:endParaRPr lang="en-US" sz="800" dirty="0"/>
          </a:p>
        </p:txBody>
      </p:sp>
      <p:sp>
        <p:nvSpPr>
          <p:cNvPr id="18" name="Text 14"/>
          <p:cNvSpPr txBox="1"/>
          <p:nvPr/>
        </p:nvSpPr>
        <p:spPr>
          <a:xfrm>
            <a:off x="731520" y="446227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 persona · Reconocimiento formal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85800" y="5166360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8EA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822960" y="521208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SUPONER QUE…</a:t>
            </a:r>
            <a:endParaRPr lang="en-US" sz="750" dirty="0"/>
          </a:p>
        </p:txBody>
      </p:sp>
      <p:sp>
        <p:nvSpPr>
          <p:cNvPr id="21" name="Text 17"/>
          <p:cNvSpPr txBox="1"/>
          <p:nvPr/>
        </p:nvSpPr>
        <p:spPr>
          <a:xfrm>
            <a:off x="822960" y="54406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quieren aprender herramientas nuevas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364992" y="1554480"/>
            <a:ext cx="2651760" cy="4663440"/>
          </a:xfrm>
          <a:prstGeom prst="roundRect">
            <a:avLst>
              <a:gd name="adj" fmla="val 3448"/>
            </a:avLst>
          </a:prstGeom>
          <a:solidFill>
            <a:srgbClr val="F4F5F9"/>
          </a:solidFill>
          <a:ln/>
        </p:spPr>
      </p:sp>
      <p:sp>
        <p:nvSpPr>
          <p:cNvPr id="23" name="Shape 19"/>
          <p:cNvSpPr/>
          <p:nvPr/>
        </p:nvSpPr>
        <p:spPr>
          <a:xfrm>
            <a:off x="3364992" y="1554480"/>
            <a:ext cx="2651760" cy="1325880"/>
          </a:xfrm>
          <a:prstGeom prst="rect">
            <a:avLst/>
          </a:prstGeom>
          <a:solidFill>
            <a:srgbClr val="FA4642"/>
          </a:solidFill>
          <a:ln/>
        </p:spPr>
      </p:sp>
      <p:sp>
        <p:nvSpPr>
          <p:cNvPr id="24" name="Shape 20"/>
          <p:cNvSpPr/>
          <p:nvPr/>
        </p:nvSpPr>
        <p:spPr>
          <a:xfrm>
            <a:off x="3547872" y="1764792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6472" y="1993392"/>
            <a:ext cx="457200" cy="45720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4553712" y="17830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Generación X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4553712" y="22402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1965–1980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3547872" y="30175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SUELEN VALORAR</a:t>
            </a:r>
            <a:endParaRPr lang="en-US" sz="800" dirty="0"/>
          </a:p>
        </p:txBody>
      </p:sp>
      <p:sp>
        <p:nvSpPr>
          <p:cNvPr id="29" name="Text 24"/>
          <p:cNvSpPr txBox="1"/>
          <p:nvPr/>
        </p:nvSpPr>
        <p:spPr>
          <a:xfrm>
            <a:off x="3547872" y="3273552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Autonomía · Resultados · Equilibrio</a:t>
            </a:r>
            <a:endParaRPr lang="en-US" sz="1150" dirty="0"/>
          </a:p>
        </p:txBody>
      </p:sp>
      <p:sp>
        <p:nvSpPr>
          <p:cNvPr id="30" name="Text 25"/>
          <p:cNvSpPr txBox="1"/>
          <p:nvPr/>
        </p:nvSpPr>
        <p:spPr>
          <a:xfrm>
            <a:off x="3547872" y="4206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COMUNICACIÓN</a:t>
            </a:r>
            <a:endParaRPr lang="en-US" sz="800" dirty="0"/>
          </a:p>
        </p:txBody>
      </p:sp>
      <p:sp>
        <p:nvSpPr>
          <p:cNvPr id="31" name="Text 26"/>
          <p:cNvSpPr txBox="1"/>
          <p:nvPr/>
        </p:nvSpPr>
        <p:spPr>
          <a:xfrm>
            <a:off x="3547872" y="446227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Directa y breve · Poca supervisión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3502152" y="5166360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8EA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3639312" y="521208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SUPONER QUE…</a:t>
            </a:r>
            <a:endParaRPr lang="en-US" sz="750" dirty="0"/>
          </a:p>
        </p:txBody>
      </p:sp>
      <p:sp>
        <p:nvSpPr>
          <p:cNvPr id="34" name="Text 29"/>
          <p:cNvSpPr txBox="1"/>
          <p:nvPr/>
        </p:nvSpPr>
        <p:spPr>
          <a:xfrm>
            <a:off x="3639312" y="54406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 escepticismo es falta de compromiso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6181344" y="1554480"/>
            <a:ext cx="2651760" cy="4663440"/>
          </a:xfrm>
          <a:prstGeom prst="roundRect">
            <a:avLst>
              <a:gd name="adj" fmla="val 3448"/>
            </a:avLst>
          </a:prstGeom>
          <a:solidFill>
            <a:srgbClr val="F4F5F9"/>
          </a:solidFill>
          <a:ln/>
        </p:spPr>
      </p:sp>
      <p:sp>
        <p:nvSpPr>
          <p:cNvPr id="36" name="Shape 31"/>
          <p:cNvSpPr/>
          <p:nvPr/>
        </p:nvSpPr>
        <p:spPr>
          <a:xfrm>
            <a:off x="6181344" y="1554480"/>
            <a:ext cx="2651760" cy="1325880"/>
          </a:xfrm>
          <a:prstGeom prst="rect">
            <a:avLst/>
          </a:prstGeom>
          <a:solidFill>
            <a:srgbClr val="C8136C"/>
          </a:solidFill>
          <a:ln/>
        </p:spPr>
      </p:sp>
      <p:sp>
        <p:nvSpPr>
          <p:cNvPr id="37" name="Shape 32"/>
          <p:cNvSpPr/>
          <p:nvPr/>
        </p:nvSpPr>
        <p:spPr>
          <a:xfrm>
            <a:off x="6364224" y="1764792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824" y="1993392"/>
            <a:ext cx="457200" cy="457200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7370064" y="17830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Millennials</a:t>
            </a:r>
            <a:endParaRPr lang="en-US" sz="1300" dirty="0"/>
          </a:p>
        </p:txBody>
      </p:sp>
      <p:sp>
        <p:nvSpPr>
          <p:cNvPr id="40" name="Text 34"/>
          <p:cNvSpPr txBox="1"/>
          <p:nvPr/>
        </p:nvSpPr>
        <p:spPr>
          <a:xfrm>
            <a:off x="7370064" y="22402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1981–1996</a:t>
            </a:r>
            <a:endParaRPr lang="en-US" sz="1000" dirty="0"/>
          </a:p>
        </p:txBody>
      </p:sp>
      <p:sp>
        <p:nvSpPr>
          <p:cNvPr id="41" name="Text 35"/>
          <p:cNvSpPr txBox="1"/>
          <p:nvPr/>
        </p:nvSpPr>
        <p:spPr>
          <a:xfrm>
            <a:off x="6364224" y="30175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C8136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SUELEN VALORAR</a:t>
            </a:r>
            <a:endParaRPr lang="en-US" sz="800" dirty="0"/>
          </a:p>
        </p:txBody>
      </p:sp>
      <p:sp>
        <p:nvSpPr>
          <p:cNvPr id="42" name="Text 36"/>
          <p:cNvSpPr txBox="1"/>
          <p:nvPr/>
        </p:nvSpPr>
        <p:spPr>
          <a:xfrm>
            <a:off x="6364224" y="3273552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Desarrollo · Retroalimentación · Propósito</a:t>
            </a:r>
            <a:endParaRPr lang="en-US" sz="1150" dirty="0"/>
          </a:p>
        </p:txBody>
      </p:sp>
      <p:sp>
        <p:nvSpPr>
          <p:cNvPr id="43" name="Text 37"/>
          <p:cNvSpPr txBox="1"/>
          <p:nvPr/>
        </p:nvSpPr>
        <p:spPr>
          <a:xfrm>
            <a:off x="6364224" y="4206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C8136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COMUNICACIÓN</a:t>
            </a:r>
            <a:endParaRPr lang="en-US" sz="800" dirty="0"/>
          </a:p>
        </p:txBody>
      </p:sp>
      <p:sp>
        <p:nvSpPr>
          <p:cNvPr id="44" name="Text 38"/>
          <p:cNvSpPr txBox="1"/>
          <p:nvPr/>
        </p:nvSpPr>
        <p:spPr>
          <a:xfrm>
            <a:off x="6364224" y="446227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Frecuente · Reconocimiento visible</a:t>
            </a:r>
            <a:endParaRPr lang="en-US" sz="1050" dirty="0"/>
          </a:p>
        </p:txBody>
      </p:sp>
      <p:sp>
        <p:nvSpPr>
          <p:cNvPr id="45" name="Shape 39"/>
          <p:cNvSpPr/>
          <p:nvPr/>
        </p:nvSpPr>
        <p:spPr>
          <a:xfrm>
            <a:off x="6318504" y="5166360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8EA"/>
            </a:solidFill>
            <a:prstDash val="solid"/>
          </a:ln>
        </p:spPr>
      </p:sp>
      <p:sp>
        <p:nvSpPr>
          <p:cNvPr id="46" name="Text 40"/>
          <p:cNvSpPr txBox="1"/>
          <p:nvPr/>
        </p:nvSpPr>
        <p:spPr>
          <a:xfrm>
            <a:off x="6455664" y="521208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SUPONER QUE…</a:t>
            </a:r>
            <a:endParaRPr lang="en-US" sz="750" dirty="0"/>
          </a:p>
        </p:txBody>
      </p:sp>
      <p:sp>
        <p:nvSpPr>
          <p:cNvPr id="47" name="Text 41"/>
          <p:cNvSpPr txBox="1"/>
          <p:nvPr/>
        </p:nvSpPr>
        <p:spPr>
          <a:xfrm>
            <a:off x="6455664" y="54406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Querer crecer rápido es deslealtad</a:t>
            </a:r>
            <a:endParaRPr lang="en-US" sz="1000" dirty="0"/>
          </a:p>
        </p:txBody>
      </p:sp>
      <p:sp>
        <p:nvSpPr>
          <p:cNvPr id="48" name="Shape 42"/>
          <p:cNvSpPr/>
          <p:nvPr/>
        </p:nvSpPr>
        <p:spPr>
          <a:xfrm>
            <a:off x="8997696" y="1554480"/>
            <a:ext cx="2651760" cy="4663440"/>
          </a:xfrm>
          <a:prstGeom prst="roundRect">
            <a:avLst>
              <a:gd name="adj" fmla="val 3448"/>
            </a:avLst>
          </a:prstGeom>
          <a:solidFill>
            <a:srgbClr val="F4F5F9"/>
          </a:solidFill>
          <a:ln/>
        </p:spPr>
      </p:sp>
      <p:sp>
        <p:nvSpPr>
          <p:cNvPr id="49" name="Shape 43"/>
          <p:cNvSpPr/>
          <p:nvPr/>
        </p:nvSpPr>
        <p:spPr>
          <a:xfrm>
            <a:off x="8997696" y="1554480"/>
            <a:ext cx="2651760" cy="1325880"/>
          </a:xfrm>
          <a:prstGeom prst="rect">
            <a:avLst/>
          </a:prstGeom>
          <a:solidFill>
            <a:srgbClr val="5B2A86"/>
          </a:solidFill>
          <a:ln/>
        </p:spPr>
      </p:sp>
      <p:sp>
        <p:nvSpPr>
          <p:cNvPr id="50" name="Shape 44"/>
          <p:cNvSpPr/>
          <p:nvPr/>
        </p:nvSpPr>
        <p:spPr>
          <a:xfrm>
            <a:off x="9180576" y="1764792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9176" y="1993392"/>
            <a:ext cx="457200" cy="457200"/>
          </a:xfrm>
          <a:prstGeom prst="rect">
            <a:avLst/>
          </a:prstGeom>
        </p:spPr>
      </p:pic>
      <p:sp>
        <p:nvSpPr>
          <p:cNvPr id="52" name="Text 45"/>
          <p:cNvSpPr txBox="1"/>
          <p:nvPr/>
        </p:nvSpPr>
        <p:spPr>
          <a:xfrm>
            <a:off x="10186416" y="17830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Generación Z</a:t>
            </a:r>
            <a:endParaRPr lang="en-US" sz="1300" dirty="0"/>
          </a:p>
        </p:txBody>
      </p:sp>
      <p:sp>
        <p:nvSpPr>
          <p:cNvPr id="53" name="Text 46"/>
          <p:cNvSpPr txBox="1"/>
          <p:nvPr/>
        </p:nvSpPr>
        <p:spPr>
          <a:xfrm>
            <a:off x="10186416" y="22402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1997–2012</a:t>
            </a:r>
            <a:endParaRPr lang="en-US" sz="1000" dirty="0"/>
          </a:p>
        </p:txBody>
      </p:sp>
      <p:sp>
        <p:nvSpPr>
          <p:cNvPr id="54" name="Text 47"/>
          <p:cNvSpPr txBox="1"/>
          <p:nvPr/>
        </p:nvSpPr>
        <p:spPr>
          <a:xfrm>
            <a:off x="9180576" y="30175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5B2A8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SUELEN VALORAR</a:t>
            </a:r>
            <a:endParaRPr lang="en-US" sz="800" dirty="0"/>
          </a:p>
        </p:txBody>
      </p:sp>
      <p:sp>
        <p:nvSpPr>
          <p:cNvPr id="55" name="Text 48"/>
          <p:cNvSpPr txBox="1"/>
          <p:nvPr/>
        </p:nvSpPr>
        <p:spPr>
          <a:xfrm>
            <a:off x="9180576" y="3273552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Claridad · Aprender rápido · Bienestar</a:t>
            </a:r>
            <a:endParaRPr lang="en-US" sz="1150" dirty="0"/>
          </a:p>
        </p:txBody>
      </p:sp>
      <p:sp>
        <p:nvSpPr>
          <p:cNvPr id="56" name="Text 49"/>
          <p:cNvSpPr txBox="1"/>
          <p:nvPr/>
        </p:nvSpPr>
        <p:spPr>
          <a:xfrm>
            <a:off x="9180576" y="4206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5B2A8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COMUNICACIÓN</a:t>
            </a:r>
            <a:endParaRPr lang="en-US" sz="800" dirty="0"/>
          </a:p>
        </p:txBody>
      </p:sp>
      <p:sp>
        <p:nvSpPr>
          <p:cNvPr id="57" name="Text 50"/>
          <p:cNvSpPr txBox="1"/>
          <p:nvPr/>
        </p:nvSpPr>
        <p:spPr>
          <a:xfrm>
            <a:off x="9180576" y="446227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Clara y rápida · En persona para lo importante</a:t>
            </a:r>
            <a:endParaRPr lang="en-US" sz="1050" dirty="0"/>
          </a:p>
        </p:txBody>
      </p:sp>
      <p:sp>
        <p:nvSpPr>
          <p:cNvPr id="58" name="Shape 51"/>
          <p:cNvSpPr/>
          <p:nvPr/>
        </p:nvSpPr>
        <p:spPr>
          <a:xfrm>
            <a:off x="9134856" y="5166360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8EA"/>
            </a:solidFill>
            <a:prstDash val="solid"/>
          </a:ln>
        </p:spPr>
      </p:sp>
      <p:sp>
        <p:nvSpPr>
          <p:cNvPr id="59" name="Text 52"/>
          <p:cNvSpPr txBox="1"/>
          <p:nvPr/>
        </p:nvSpPr>
        <p:spPr>
          <a:xfrm>
            <a:off x="9272016" y="521208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SUPONER QUE…</a:t>
            </a:r>
            <a:endParaRPr lang="en-US" sz="750" dirty="0"/>
          </a:p>
        </p:txBody>
      </p:sp>
      <p:sp>
        <p:nvSpPr>
          <p:cNvPr id="60" name="Text 53"/>
          <p:cNvSpPr txBox="1"/>
          <p:nvPr/>
        </p:nvSpPr>
        <p:spPr>
          <a:xfrm>
            <a:off x="9272016" y="54406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aguantan la presión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LO QUE NOS UNE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Todos queremos casi lo mismo; lo pedimos de forma distinta</a:t>
            </a:r>
            <a:endParaRPr lang="en-US" sz="2400" dirty="0"/>
          </a:p>
        </p:txBody>
      </p:sp>
      <p:pic>
        <p:nvPicPr>
          <p:cNvPr id="4" name="Image 0" descr="/home/user/Training-and-Development-PROYECTS/workshop-liderazgo-intergeneracional/src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9646920" y="27432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C8136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46920" y="2743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MÓDULO 3 · 35 MIN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731520" y="1554480"/>
            <a:ext cx="4754880" cy="4572000"/>
          </a:xfrm>
          <a:prstGeom prst="ellipse">
            <a:avLst/>
          </a:prstGeom>
          <a:solidFill>
            <a:srgbClr val="FFE3CF"/>
          </a:solidFill>
          <a:ln/>
        </p:spPr>
      </p:sp>
      <p:sp>
        <p:nvSpPr>
          <p:cNvPr id="9" name="Shape 6"/>
          <p:cNvSpPr/>
          <p:nvPr/>
        </p:nvSpPr>
        <p:spPr>
          <a:xfrm>
            <a:off x="1508760" y="2286000"/>
            <a:ext cx="3200400" cy="310896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508760" y="2286000"/>
            <a:ext cx="3200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 que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valoramos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todos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1188720" y="1783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FORMA Y LA FRECUENCIA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035040" y="1645920"/>
            <a:ext cx="685800" cy="685800"/>
          </a:xfrm>
          <a:prstGeom prst="ellipse">
            <a:avLst/>
          </a:prstGeom>
          <a:solidFill>
            <a:srgbClr val="FC6A45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6490" y="1817370"/>
            <a:ext cx="342900" cy="3429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858000" y="16459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Salario justo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869680" y="1645920"/>
            <a:ext cx="685800" cy="685800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1130" y="1817370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692640" y="16459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Estabilidad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035040" y="2788920"/>
            <a:ext cx="685800" cy="685800"/>
          </a:xfrm>
          <a:prstGeom prst="ellipse">
            <a:avLst/>
          </a:prstGeom>
          <a:solidFill>
            <a:srgbClr val="EA3450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6490" y="2960370"/>
            <a:ext cx="342900" cy="3429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858000" y="27889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Respeto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8869680" y="2788920"/>
            <a:ext cx="685800" cy="685800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1130" y="2960370"/>
            <a:ext cx="342900" cy="34290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692640" y="27889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Crecimiento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6035040" y="3931920"/>
            <a:ext cx="685800" cy="685800"/>
          </a:xfrm>
          <a:prstGeom prst="ellipse">
            <a:avLst/>
          </a:prstGeom>
          <a:solidFill>
            <a:srgbClr val="C8136C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6490" y="4103370"/>
            <a:ext cx="342900" cy="34290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858000" y="39319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 buen jefe</a:t>
            </a:r>
            <a:endParaRPr lang="en-US" sz="1400" dirty="0"/>
          </a:p>
        </p:txBody>
      </p:sp>
      <p:sp>
        <p:nvSpPr>
          <p:cNvPr id="27" name="Shape 19"/>
          <p:cNvSpPr/>
          <p:nvPr/>
        </p:nvSpPr>
        <p:spPr>
          <a:xfrm>
            <a:off x="8869680" y="3931920"/>
            <a:ext cx="685800" cy="685800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1130" y="4103370"/>
            <a:ext cx="342900" cy="342900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9692640" y="39319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Trabajo con sentido</a:t>
            </a:r>
            <a:endParaRPr lang="en-US" sz="1400" dirty="0"/>
          </a:p>
        </p:txBody>
      </p:sp>
      <p:sp>
        <p:nvSpPr>
          <p:cNvPr id="30" name="Shape 21"/>
          <p:cNvSpPr/>
          <p:nvPr/>
        </p:nvSpPr>
        <p:spPr>
          <a:xfrm>
            <a:off x="6035040" y="5120640"/>
            <a:ext cx="5623560" cy="1005840"/>
          </a:xfrm>
          <a:prstGeom prst="roundRect">
            <a:avLst>
              <a:gd name="adj" fmla="val 7273"/>
            </a:avLst>
          </a:prstGeom>
          <a:solidFill>
            <a:srgbClr val="1A1A2E"/>
          </a:solidFill>
          <a:ln/>
        </p:spPr>
      </p:sp>
      <p:sp>
        <p:nvSpPr>
          <p:cNvPr id="31" name="Text 22"/>
          <p:cNvSpPr txBox="1"/>
          <p:nvPr/>
        </p:nvSpPr>
        <p:spPr>
          <a:xfrm>
            <a:off x="6263640" y="5120640"/>
            <a:ext cx="5257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 que cambia entre generaciones es cómo y cada cuánto lo piden. Eso depende más de la etapa de vida que del año de nacimiento.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737360"/>
            <a:ext cx="1371600" cy="137160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7373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2240280" y="1828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MÓDULO 4 · 45 MINUTOS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240280" y="2194560"/>
            <a:ext cx="9418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¿Cómo trabajo mejor con otras generaciones?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2240280" y="36118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Ocho prácticas, cuatro casos de planta y un plan personal.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5120640"/>
            <a:ext cx="2651760" cy="109728"/>
          </a:xfrm>
          <a:prstGeom prst="roundRect">
            <a:avLst/>
          </a:prstGeom>
          <a:solidFill>
            <a:srgbClr val="3A3A5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5303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¿Cómo reacciono?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64992" y="5120640"/>
            <a:ext cx="2651760" cy="109728"/>
          </a:xfrm>
          <a:prstGeom prst="roundRect">
            <a:avLst/>
          </a:prstGeom>
          <a:solidFill>
            <a:srgbClr val="3A3A5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364992" y="5303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¿Qué impacto tiene?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81344" y="5120640"/>
            <a:ext cx="2651760" cy="109728"/>
          </a:xfrm>
          <a:prstGeom prst="roundRect">
            <a:avLst/>
          </a:prstGeom>
          <a:solidFill>
            <a:srgbClr val="3A3A5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81344" y="5303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¿Qué valora cada generación?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97696" y="5120640"/>
            <a:ext cx="2651760" cy="109728"/>
          </a:xfrm>
          <a:prstGeom prst="roundRect">
            <a:avLst/>
          </a:prstGeom>
          <a:solidFill>
            <a:srgbClr val="5B2A8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997696" y="5303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¿Cómo trabajo mejor?</a:t>
            </a:r>
            <a:endParaRPr lang="en-US" sz="1000" dirty="0"/>
          </a:p>
        </p:txBody>
      </p:sp>
      <p:pic>
        <p:nvPicPr>
          <p:cNvPr id="15" name="Image 0" descr="/home/user/Training-and-Development-PROYECTS/workshop-liderazgo-intergeneracional/src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· BUENAS PRÁCTICAS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Ocho prácticas para liderar a varias generaciones</a:t>
            </a:r>
            <a:endParaRPr lang="en-US" sz="2400" dirty="0"/>
          </a:p>
        </p:txBody>
      </p:sp>
      <p:pic>
        <p:nvPicPr>
          <p:cNvPr id="4" name="Image 0" descr="/home/user/Training-and-Development-PROYECTS/workshop-liderazgo-intergeneracional/src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9646920" y="27432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5B2A8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46920" y="2743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MÓDULO 4 · 45 MIN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48640" y="1600200"/>
            <a:ext cx="2651760" cy="2057400"/>
          </a:xfrm>
          <a:prstGeom prst="roundRect">
            <a:avLst>
              <a:gd name="adj" fmla="val 3556"/>
            </a:avLst>
          </a:prstGeom>
          <a:solidFill>
            <a:srgbClr val="F4F5F9"/>
          </a:solidFill>
          <a:ln/>
        </p:spPr>
      </p:sp>
      <p:sp>
        <p:nvSpPr>
          <p:cNvPr id="9" name="Shape 6"/>
          <p:cNvSpPr/>
          <p:nvPr/>
        </p:nvSpPr>
        <p:spPr>
          <a:xfrm>
            <a:off x="731520" y="1783080"/>
            <a:ext cx="640080" cy="640080"/>
          </a:xfrm>
          <a:prstGeom prst="ellipse">
            <a:avLst/>
          </a:prstGeom>
          <a:solidFill>
            <a:srgbClr val="FF8C4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194310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468880" y="1783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731520" y="25146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antes de suponer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731520" y="31089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“¿Qué te lleva a pedirlo?”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364992" y="1600200"/>
            <a:ext cx="2651760" cy="2057400"/>
          </a:xfrm>
          <a:prstGeom prst="roundRect">
            <a:avLst>
              <a:gd name="adj" fmla="val 3556"/>
            </a:avLst>
          </a:prstGeom>
          <a:solidFill>
            <a:srgbClr val="F4F5F9"/>
          </a:solidFill>
          <a:ln/>
        </p:spPr>
      </p:sp>
      <p:sp>
        <p:nvSpPr>
          <p:cNvPr id="15" name="Shape 11"/>
          <p:cNvSpPr/>
          <p:nvPr/>
        </p:nvSpPr>
        <p:spPr>
          <a:xfrm>
            <a:off x="3547872" y="1783080"/>
            <a:ext cx="640080" cy="640080"/>
          </a:xfrm>
          <a:prstGeom prst="ellipse">
            <a:avLst/>
          </a:prstGeom>
          <a:solidFill>
            <a:srgbClr val="FC6A4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7892" y="194310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285232" y="1783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3547872" y="25146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Explica el porqué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3547872" y="31089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razón de negocio o de seguridad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181344" y="1600200"/>
            <a:ext cx="2651760" cy="2057400"/>
          </a:xfrm>
          <a:prstGeom prst="roundRect">
            <a:avLst>
              <a:gd name="adj" fmla="val 3556"/>
            </a:avLst>
          </a:prstGeom>
          <a:solidFill>
            <a:srgbClr val="F4F5F9"/>
          </a:solidFill>
          <a:ln/>
        </p:spPr>
      </p:sp>
      <p:sp>
        <p:nvSpPr>
          <p:cNvPr id="21" name="Shape 16"/>
          <p:cNvSpPr/>
          <p:nvPr/>
        </p:nvSpPr>
        <p:spPr>
          <a:xfrm>
            <a:off x="6364224" y="1783080"/>
            <a:ext cx="640080" cy="640080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244" y="194310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101584" y="1783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6364224" y="25146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Acuerda la retroalimentación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6364224" y="31089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Cada cuánto y de qué forma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8997696" y="1600200"/>
            <a:ext cx="2651760" cy="2057400"/>
          </a:xfrm>
          <a:prstGeom prst="roundRect">
            <a:avLst>
              <a:gd name="adj" fmla="val 3556"/>
            </a:avLst>
          </a:prstGeom>
          <a:solidFill>
            <a:srgbClr val="F4F5F9"/>
          </a:solidFill>
          <a:ln/>
        </p:spPr>
      </p:sp>
      <p:sp>
        <p:nvSpPr>
          <p:cNvPr id="27" name="Shape 21"/>
          <p:cNvSpPr/>
          <p:nvPr/>
        </p:nvSpPr>
        <p:spPr>
          <a:xfrm>
            <a:off x="9180576" y="1783080"/>
            <a:ext cx="640080" cy="640080"/>
          </a:xfrm>
          <a:prstGeom prst="ellipse">
            <a:avLst/>
          </a:prstGeom>
          <a:solidFill>
            <a:srgbClr val="EA3450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0596" y="1943100"/>
            <a:ext cx="320040" cy="32004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0917936" y="1783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9180576" y="25146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Reconoce como le importa</a:t>
            </a:r>
            <a:endParaRPr lang="en-US" sz="1300" dirty="0"/>
          </a:p>
        </p:txBody>
      </p:sp>
      <p:sp>
        <p:nvSpPr>
          <p:cNvPr id="31" name="Text 24"/>
          <p:cNvSpPr txBox="1"/>
          <p:nvPr/>
        </p:nvSpPr>
        <p:spPr>
          <a:xfrm>
            <a:off x="9180576" y="31089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Público, privado, un encargo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548640" y="3840480"/>
            <a:ext cx="2651760" cy="2057400"/>
          </a:xfrm>
          <a:prstGeom prst="roundRect">
            <a:avLst>
              <a:gd name="adj" fmla="val 3556"/>
            </a:avLst>
          </a:prstGeom>
          <a:solidFill>
            <a:srgbClr val="F4F5F9"/>
          </a:solidFill>
          <a:ln/>
        </p:spPr>
      </p:sp>
      <p:sp>
        <p:nvSpPr>
          <p:cNvPr id="33" name="Shape 26"/>
          <p:cNvSpPr/>
          <p:nvPr/>
        </p:nvSpPr>
        <p:spPr>
          <a:xfrm>
            <a:off x="731520" y="4023360"/>
            <a:ext cx="640080" cy="640080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540" y="4183380"/>
            <a:ext cx="320040" cy="320040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2468880" y="4023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1400" dirty="0"/>
          </a:p>
        </p:txBody>
      </p:sp>
      <p:sp>
        <p:nvSpPr>
          <p:cNvPr id="36" name="Text 28"/>
          <p:cNvSpPr txBox="1"/>
          <p:nvPr/>
        </p:nvSpPr>
        <p:spPr>
          <a:xfrm>
            <a:off x="731520" y="47548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Muestra la ruta de crecimiento</a:t>
            </a:r>
            <a:endParaRPr lang="en-US" sz="1300" dirty="0"/>
          </a:p>
        </p:txBody>
      </p:sp>
      <p:sp>
        <p:nvSpPr>
          <p:cNvPr id="37" name="Text 29"/>
          <p:cNvSpPr txBox="1"/>
          <p:nvPr/>
        </p:nvSpPr>
        <p:spPr>
          <a:xfrm>
            <a:off x="731520" y="53492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Qué falta, cómo y en qué plazo</a:t>
            </a:r>
            <a:endParaRPr lang="en-US" sz="1050" dirty="0"/>
          </a:p>
        </p:txBody>
      </p:sp>
      <p:sp>
        <p:nvSpPr>
          <p:cNvPr id="38" name="Shape 30"/>
          <p:cNvSpPr/>
          <p:nvPr/>
        </p:nvSpPr>
        <p:spPr>
          <a:xfrm>
            <a:off x="3364992" y="3840480"/>
            <a:ext cx="2651760" cy="2057400"/>
          </a:xfrm>
          <a:prstGeom prst="roundRect">
            <a:avLst>
              <a:gd name="adj" fmla="val 3556"/>
            </a:avLst>
          </a:prstGeom>
          <a:solidFill>
            <a:srgbClr val="F4F5F9"/>
          </a:solidFill>
          <a:ln/>
        </p:spPr>
      </p:sp>
      <p:sp>
        <p:nvSpPr>
          <p:cNvPr id="39" name="Shape 31"/>
          <p:cNvSpPr/>
          <p:nvPr/>
        </p:nvSpPr>
        <p:spPr>
          <a:xfrm>
            <a:off x="3547872" y="4023360"/>
            <a:ext cx="640080" cy="640080"/>
          </a:xfrm>
          <a:prstGeom prst="ellipse">
            <a:avLst/>
          </a:prstGeom>
          <a:solidFill>
            <a:srgbClr val="C8136C"/>
          </a:solidFill>
          <a:ln/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7892" y="4183380"/>
            <a:ext cx="320040" cy="320040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5285232" y="4023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</a:t>
            </a:r>
            <a:endParaRPr lang="en-US" sz="1400" dirty="0"/>
          </a:p>
        </p:txBody>
      </p:sp>
      <p:sp>
        <p:nvSpPr>
          <p:cNvPr id="42" name="Text 33"/>
          <p:cNvSpPr txBox="1"/>
          <p:nvPr/>
        </p:nvSpPr>
        <p:spPr>
          <a:xfrm>
            <a:off x="3547872" y="47548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Mentoría en ambos sentidos</a:t>
            </a:r>
            <a:endParaRPr lang="en-US" sz="1300" dirty="0"/>
          </a:p>
        </p:txBody>
      </p:sp>
      <p:sp>
        <p:nvSpPr>
          <p:cNvPr id="43" name="Text 34"/>
          <p:cNvSpPr txBox="1"/>
          <p:nvPr/>
        </p:nvSpPr>
        <p:spPr>
          <a:xfrm>
            <a:off x="3547872" y="53492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Experiencia ↔ herramientas nuevas</a:t>
            </a:r>
            <a:endParaRPr lang="en-US" sz="1050" dirty="0"/>
          </a:p>
        </p:txBody>
      </p:sp>
      <p:sp>
        <p:nvSpPr>
          <p:cNvPr id="44" name="Shape 35"/>
          <p:cNvSpPr/>
          <p:nvPr/>
        </p:nvSpPr>
        <p:spPr>
          <a:xfrm>
            <a:off x="6181344" y="3840480"/>
            <a:ext cx="2651760" cy="2057400"/>
          </a:xfrm>
          <a:prstGeom prst="roundRect">
            <a:avLst>
              <a:gd name="adj" fmla="val 3556"/>
            </a:avLst>
          </a:prstGeom>
          <a:solidFill>
            <a:srgbClr val="F4F5F9"/>
          </a:solidFill>
          <a:ln/>
        </p:spPr>
      </p:sp>
      <p:sp>
        <p:nvSpPr>
          <p:cNvPr id="45" name="Shape 36"/>
          <p:cNvSpPr/>
          <p:nvPr/>
        </p:nvSpPr>
        <p:spPr>
          <a:xfrm>
            <a:off x="6364224" y="4023360"/>
            <a:ext cx="640080" cy="640080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4244" y="4183380"/>
            <a:ext cx="320040" cy="320040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8101584" y="4023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</a:t>
            </a:r>
            <a:endParaRPr lang="en-US" sz="1400" dirty="0"/>
          </a:p>
        </p:txBody>
      </p:sp>
      <p:sp>
        <p:nvSpPr>
          <p:cNvPr id="48" name="Text 38"/>
          <p:cNvSpPr txBox="1"/>
          <p:nvPr/>
        </p:nvSpPr>
        <p:spPr>
          <a:xfrm>
            <a:off x="6364224" y="47548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Acuerda canales y horarios</a:t>
            </a:r>
            <a:endParaRPr lang="en-US" sz="1300" dirty="0"/>
          </a:p>
        </p:txBody>
      </p:sp>
      <p:sp>
        <p:nvSpPr>
          <p:cNvPr id="49" name="Text 39"/>
          <p:cNvSpPr txBox="1"/>
          <p:nvPr/>
        </p:nvSpPr>
        <p:spPr>
          <a:xfrm>
            <a:off x="6364224" y="53492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Mensaje, en persona o urgencia</a:t>
            </a:r>
            <a:endParaRPr lang="en-US" sz="1050" dirty="0"/>
          </a:p>
        </p:txBody>
      </p:sp>
      <p:sp>
        <p:nvSpPr>
          <p:cNvPr id="50" name="Shape 40"/>
          <p:cNvSpPr/>
          <p:nvPr/>
        </p:nvSpPr>
        <p:spPr>
          <a:xfrm>
            <a:off x="8997696" y="3840480"/>
            <a:ext cx="2651760" cy="2057400"/>
          </a:xfrm>
          <a:prstGeom prst="roundRect">
            <a:avLst>
              <a:gd name="adj" fmla="val 3556"/>
            </a:avLst>
          </a:prstGeom>
          <a:solidFill>
            <a:srgbClr val="1A1A2E"/>
          </a:solidFill>
          <a:ln/>
        </p:spPr>
      </p:sp>
      <p:sp>
        <p:nvSpPr>
          <p:cNvPr id="51" name="Shape 41"/>
          <p:cNvSpPr/>
          <p:nvPr/>
        </p:nvSpPr>
        <p:spPr>
          <a:xfrm>
            <a:off x="9180576" y="4023360"/>
            <a:ext cx="640080" cy="640080"/>
          </a:xfrm>
          <a:prstGeom prst="ellipse">
            <a:avLst/>
          </a:prstGeom>
          <a:solidFill>
            <a:srgbClr val="5B2A86"/>
          </a:solidFill>
          <a:ln/>
        </p:spPr>
      </p:sp>
      <p:pic>
        <p:nvPicPr>
          <p:cNvPr id="5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40596" y="4183380"/>
            <a:ext cx="320040" cy="320040"/>
          </a:xfrm>
          <a:prstGeom prst="rect">
            <a:avLst/>
          </a:prstGeom>
        </p:spPr>
      </p:pic>
      <p:sp>
        <p:nvSpPr>
          <p:cNvPr id="53" name="Text 42"/>
          <p:cNvSpPr txBox="1"/>
          <p:nvPr/>
        </p:nvSpPr>
        <p:spPr>
          <a:xfrm>
            <a:off x="10917936" y="4023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</a:t>
            </a:r>
            <a:endParaRPr lang="en-US" sz="1400" dirty="0"/>
          </a:p>
        </p:txBody>
      </p:sp>
      <p:sp>
        <p:nvSpPr>
          <p:cNvPr id="54" name="Text 43"/>
          <p:cNvSpPr txBox="1"/>
          <p:nvPr/>
        </p:nvSpPr>
        <p:spPr>
          <a:xfrm>
            <a:off x="9180576" y="47548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Flexibiliza la forma, no el estándar</a:t>
            </a:r>
            <a:endParaRPr lang="en-US" sz="1300" dirty="0"/>
          </a:p>
        </p:txBody>
      </p:sp>
      <p:sp>
        <p:nvSpPr>
          <p:cNvPr id="55" name="Text 44"/>
          <p:cNvSpPr txBox="1"/>
          <p:nvPr/>
        </p:nvSpPr>
        <p:spPr>
          <a:xfrm>
            <a:off x="9180576" y="53492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Seguridad y calidad, iguales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· LA REGLA DE ORO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Flexible en la forma, firme en el estándar</a:t>
            </a:r>
            <a:endParaRPr lang="en-US" sz="2400" dirty="0"/>
          </a:p>
        </p:txBody>
      </p:sp>
      <p:pic>
        <p:nvPicPr>
          <p:cNvPr id="4" name="Image 0" descr="/home/user/Training-and-Development-PROYECTS/workshop-liderazgo-intergeneracional/src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9646920" y="27432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5B2A8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46920" y="2743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MÓDULO 4 · 45 MIN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22960" y="1508760"/>
            <a:ext cx="4846320" cy="4663440"/>
          </a:xfrm>
          <a:prstGeom prst="ellipse">
            <a:avLst/>
          </a:prstGeom>
          <a:solidFill>
            <a:srgbClr val="FFE3CF"/>
          </a:solidFill>
          <a:ln/>
        </p:spPr>
      </p:sp>
      <p:sp>
        <p:nvSpPr>
          <p:cNvPr id="9" name="Shape 6"/>
          <p:cNvSpPr/>
          <p:nvPr/>
        </p:nvSpPr>
        <p:spPr>
          <a:xfrm>
            <a:off x="1828800" y="2468880"/>
            <a:ext cx="2834640" cy="2743200"/>
          </a:xfrm>
          <a:prstGeom prst="ellipse">
            <a:avLst/>
          </a:prstGeom>
          <a:solidFill>
            <a:srgbClr val="1A1A2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828800" y="2743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ESTÁNDAR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828800" y="306324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Seguridad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Calidad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Ética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Resultados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FORMA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30740" y="453604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Comunicación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530409" y="3050061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Reconocimiento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1624226" y="1964683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Retroalimentación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3222094" y="1964683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Autonomía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4315911" y="3050061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Desarrollo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4215580" y="453604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Horarios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217920" y="150876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4F5F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492240" y="16916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 QUE ADAPTO · LA FORMA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6492240" y="2075688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Cómo me comunico, cómo reconozco, cada cuánto doy retroalimentación, cuánta autonomía doy, cómo desarrollo y qué horarios acuerdo.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217920" y="384048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1A1A2E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492240" y="402336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 QUE NO ADAPTO · EL ESTÁNDAR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6492240" y="4407408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Seguridad, calidad, ética y resultados son iguales para todas las personas, de cualquier edad.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· ACTIVIDAD 6 · CASOS DE PLANTA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Cuatro casos: una mesa, un caso, tres preguntas</a:t>
            </a:r>
            <a:endParaRPr lang="en-US" sz="2400" dirty="0"/>
          </a:p>
        </p:txBody>
      </p:sp>
      <p:pic>
        <p:nvPicPr>
          <p:cNvPr id="4" name="Image 0" descr="/home/user/Training-and-Development-PROYECTS/workshop-liderazgo-intergeneracional/src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ficticios construidos para el taller.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9646920" y="27432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5B2A8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646920" y="2743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MÓDULO 4 · 45 MIN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48640" y="1554480"/>
            <a:ext cx="2011680" cy="3246120"/>
          </a:xfrm>
          <a:prstGeom prst="roundRect">
            <a:avLst>
              <a:gd name="adj" fmla="val 3636"/>
            </a:avLst>
          </a:prstGeom>
          <a:solidFill>
            <a:srgbClr val="F4F5F9"/>
          </a:solidFill>
          <a:ln/>
        </p:spPr>
      </p:sp>
      <p:sp>
        <p:nvSpPr>
          <p:cNvPr id="10" name="Shape 7"/>
          <p:cNvSpPr/>
          <p:nvPr/>
        </p:nvSpPr>
        <p:spPr>
          <a:xfrm>
            <a:off x="731520" y="1737360"/>
            <a:ext cx="685800" cy="68580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31520" y="1737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25603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Quiere ascender ya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320040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Daniela, 27 años, 15 meses en la acería. Pide ser jefa de turno.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389120"/>
            <a:ext cx="182880" cy="2286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960120" y="43708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Lázaro Cárdenas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2697480" y="1554480"/>
            <a:ext cx="2011680" cy="3246120"/>
          </a:xfrm>
          <a:prstGeom prst="roundRect">
            <a:avLst>
              <a:gd name="adj" fmla="val 3636"/>
            </a:avLst>
          </a:prstGeom>
          <a:solidFill>
            <a:srgbClr val="F4F5F9"/>
          </a:solidFill>
          <a:ln/>
        </p:spPr>
      </p:sp>
      <p:sp>
        <p:nvSpPr>
          <p:cNvPr id="17" name="Shape 13"/>
          <p:cNvSpPr/>
          <p:nvPr/>
        </p:nvSpPr>
        <p:spPr>
          <a:xfrm>
            <a:off x="2880360" y="1737360"/>
            <a:ext cx="685800" cy="68580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2880360" y="1737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2200" dirty="0"/>
          </a:p>
        </p:txBody>
      </p:sp>
      <p:sp>
        <p:nvSpPr>
          <p:cNvPr id="19" name="Text 15"/>
          <p:cNvSpPr txBox="1"/>
          <p:nvPr/>
        </p:nvSpPr>
        <p:spPr>
          <a:xfrm>
            <a:off x="2880360" y="25603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experto y la tableta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2880360" y="320040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Rogelio, 58 años, detecta fallas por sonido; no registra en la tableta.</a:t>
            </a:r>
            <a:endParaRPr lang="en-US" sz="10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4389120"/>
            <a:ext cx="18288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3108960" y="43708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Monterrey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4846320" y="1554480"/>
            <a:ext cx="2011680" cy="3246120"/>
          </a:xfrm>
          <a:prstGeom prst="roundRect">
            <a:avLst>
              <a:gd name="adj" fmla="val 3636"/>
            </a:avLst>
          </a:prstGeom>
          <a:solidFill>
            <a:srgbClr val="F4F5F9"/>
          </a:solidFill>
          <a:ln/>
        </p:spPr>
      </p:sp>
      <p:sp>
        <p:nvSpPr>
          <p:cNvPr id="24" name="Shape 19"/>
          <p:cNvSpPr/>
          <p:nvPr/>
        </p:nvSpPr>
        <p:spPr>
          <a:xfrm>
            <a:off x="5029200" y="1737360"/>
            <a:ext cx="685800" cy="68580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5029200" y="1737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</a:t>
            </a:r>
            <a:endParaRPr lang="en-US" sz="2200" dirty="0"/>
          </a:p>
        </p:txBody>
      </p:sp>
      <p:sp>
        <p:nvSpPr>
          <p:cNvPr id="26" name="Text 21"/>
          <p:cNvSpPr txBox="1"/>
          <p:nvPr/>
        </p:nvSpPr>
        <p:spPr>
          <a:xfrm>
            <a:off x="5029200" y="25603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Después de las siete, no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5029200" y="320040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Verónica, 41 años, no contesta de noche; viene un paro de alto horno.</a:t>
            </a:r>
            <a:endParaRPr lang="en-US" sz="10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4389120"/>
            <a:ext cx="182880" cy="22860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5257800" y="43708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Monterrey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6995160" y="1554480"/>
            <a:ext cx="2011680" cy="3246120"/>
          </a:xfrm>
          <a:prstGeom prst="roundRect">
            <a:avLst>
              <a:gd name="adj" fmla="val 3636"/>
            </a:avLst>
          </a:prstGeom>
          <a:solidFill>
            <a:srgbClr val="F4F5F9"/>
          </a:solidFill>
          <a:ln/>
        </p:spPr>
      </p:sp>
      <p:sp>
        <p:nvSpPr>
          <p:cNvPr id="31" name="Shape 25"/>
          <p:cNvSpPr/>
          <p:nvPr/>
        </p:nvSpPr>
        <p:spPr>
          <a:xfrm>
            <a:off x="7178040" y="1737360"/>
            <a:ext cx="685800" cy="68580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7178040" y="1737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</a:t>
            </a:r>
            <a:endParaRPr lang="en-US" sz="2200" dirty="0"/>
          </a:p>
        </p:txBody>
      </p:sp>
      <p:sp>
        <p:nvSpPr>
          <p:cNvPr id="33" name="Text 27"/>
          <p:cNvSpPr txBox="1"/>
          <p:nvPr/>
        </p:nvSpPr>
        <p:spPr>
          <a:xfrm>
            <a:off x="7178040" y="25603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 nadie me pregunta</a:t>
            </a:r>
            <a:endParaRPr lang="en-US" sz="1300" dirty="0"/>
          </a:p>
        </p:txBody>
      </p:sp>
      <p:sp>
        <p:nvSpPr>
          <p:cNvPr id="34" name="Text 28"/>
          <p:cNvSpPr txBox="1"/>
          <p:nvPr/>
        </p:nvSpPr>
        <p:spPr>
          <a:xfrm>
            <a:off x="7178040" y="320040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Jesús, 61 años, metalurgista; un equipo de analítica lo desplazó.</a:t>
            </a:r>
            <a:endParaRPr lang="en-US" sz="1000" dirty="0"/>
          </a:p>
        </p:txBody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4389120"/>
            <a:ext cx="182880" cy="228600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7406640" y="43708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Lázaro Cárdenas</a:t>
            </a:r>
            <a:endParaRPr lang="en-US" sz="900" dirty="0"/>
          </a:p>
        </p:txBody>
      </p:sp>
      <p:sp>
        <p:nvSpPr>
          <p:cNvPr id="37" name="Shape 30"/>
          <p:cNvSpPr/>
          <p:nvPr/>
        </p:nvSpPr>
        <p:spPr>
          <a:xfrm>
            <a:off x="9235440" y="1554480"/>
            <a:ext cx="2423160" cy="3246120"/>
          </a:xfrm>
          <a:prstGeom prst="roundRect">
            <a:avLst>
              <a:gd name="adj" fmla="val 3019"/>
            </a:avLst>
          </a:prstGeom>
          <a:solidFill>
            <a:srgbClr val="1A1A2E"/>
          </a:solidFill>
          <a:ln/>
        </p:spPr>
      </p:sp>
      <p:sp>
        <p:nvSpPr>
          <p:cNvPr id="38" name="Text 31"/>
          <p:cNvSpPr txBox="1"/>
          <p:nvPr/>
        </p:nvSpPr>
        <p:spPr>
          <a:xfrm>
            <a:off x="9418320" y="1737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TRES PREGUNTAS</a:t>
            </a:r>
            <a:endParaRPr lang="en-US" sz="900" dirty="0"/>
          </a:p>
        </p:txBody>
      </p:sp>
      <p:sp>
        <p:nvSpPr>
          <p:cNvPr id="39" name="Text 32"/>
          <p:cNvSpPr txBox="1"/>
          <p:nvPr/>
        </p:nvSpPr>
        <p:spPr>
          <a:xfrm>
            <a:off x="9418320" y="21488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1. ¿Qué podría necesitar la persona?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9418320" y="30175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2. ¿Qué prácticas usarías?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9418320" y="38862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3. ¿Qué no vas a negociar?</a:t>
            </a:r>
            <a:endParaRPr lang="en-US" sz="1200" dirty="0"/>
          </a:p>
        </p:txBody>
      </p:sp>
      <p:sp>
        <p:nvSpPr>
          <p:cNvPr id="42" name="Shape 35"/>
          <p:cNvSpPr/>
          <p:nvPr/>
        </p:nvSpPr>
        <p:spPr>
          <a:xfrm>
            <a:off x="548640" y="5120640"/>
            <a:ext cx="2827782" cy="548640"/>
          </a:xfrm>
          <a:prstGeom prst="homePlate">
            <a:avLst/>
          </a:prstGeom>
          <a:solidFill>
            <a:srgbClr val="FF8C47"/>
          </a:solidFill>
          <a:ln/>
        </p:spPr>
      </p:sp>
      <p:sp>
        <p:nvSpPr>
          <p:cNvPr id="43" name="Text 36"/>
          <p:cNvSpPr txBox="1"/>
          <p:nvPr/>
        </p:nvSpPr>
        <p:spPr>
          <a:xfrm>
            <a:off x="713232" y="5120640"/>
            <a:ext cx="24985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Leer el caso · 2 min</a:t>
            </a:r>
            <a:endParaRPr lang="en-US" sz="900" dirty="0"/>
          </a:p>
        </p:txBody>
      </p:sp>
      <p:sp>
        <p:nvSpPr>
          <p:cNvPr id="44" name="Shape 37"/>
          <p:cNvSpPr/>
          <p:nvPr/>
        </p:nvSpPr>
        <p:spPr>
          <a:xfrm>
            <a:off x="3303270" y="5120640"/>
            <a:ext cx="2827782" cy="548640"/>
          </a:xfrm>
          <a:prstGeom prst="chevron">
            <a:avLst/>
          </a:prstGeom>
          <a:solidFill>
            <a:srgbClr val="FA4642"/>
          </a:solidFill>
          <a:ln/>
        </p:spPr>
      </p:sp>
      <p:sp>
        <p:nvSpPr>
          <p:cNvPr id="45" name="Text 38"/>
          <p:cNvSpPr txBox="1"/>
          <p:nvPr/>
        </p:nvSpPr>
        <p:spPr>
          <a:xfrm>
            <a:off x="3467862" y="5120640"/>
            <a:ext cx="24985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Trabajo en mesa · 8 min</a:t>
            </a:r>
            <a:endParaRPr lang="en-US" sz="900" dirty="0"/>
          </a:p>
        </p:txBody>
      </p:sp>
      <p:sp>
        <p:nvSpPr>
          <p:cNvPr id="46" name="Shape 39"/>
          <p:cNvSpPr/>
          <p:nvPr/>
        </p:nvSpPr>
        <p:spPr>
          <a:xfrm>
            <a:off x="6057900" y="5120640"/>
            <a:ext cx="2827782" cy="548640"/>
          </a:xfrm>
          <a:prstGeom prst="chevron">
            <a:avLst/>
          </a:prstGeom>
          <a:solidFill>
            <a:srgbClr val="C8136C"/>
          </a:solidFill>
          <a:ln/>
        </p:spPr>
      </p:sp>
      <p:sp>
        <p:nvSpPr>
          <p:cNvPr id="47" name="Text 40"/>
          <p:cNvSpPr txBox="1"/>
          <p:nvPr/>
        </p:nvSpPr>
        <p:spPr>
          <a:xfrm>
            <a:off x="6222492" y="5120640"/>
            <a:ext cx="24985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Cada mesa comparte · 1 min</a:t>
            </a:r>
            <a:endParaRPr lang="en-US" sz="900" dirty="0"/>
          </a:p>
        </p:txBody>
      </p:sp>
      <p:sp>
        <p:nvSpPr>
          <p:cNvPr id="48" name="Shape 41"/>
          <p:cNvSpPr/>
          <p:nvPr/>
        </p:nvSpPr>
        <p:spPr>
          <a:xfrm>
            <a:off x="8812530" y="5120640"/>
            <a:ext cx="2827782" cy="548640"/>
          </a:xfrm>
          <a:prstGeom prst="chevron">
            <a:avLst/>
          </a:prstGeom>
          <a:solidFill>
            <a:srgbClr val="5B2A86"/>
          </a:solidFill>
          <a:ln/>
        </p:spPr>
      </p:sp>
      <p:sp>
        <p:nvSpPr>
          <p:cNvPr id="49" name="Text 42"/>
          <p:cNvSpPr txBox="1"/>
          <p:nvPr/>
        </p:nvSpPr>
        <p:spPr>
          <a:xfrm>
            <a:off x="8977122" y="5120640"/>
            <a:ext cx="24985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Síntesis · 2 min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· ACTIVIDAD 7 · MI PLAN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Una persona, una conversación, tres prácticas</a:t>
            </a:r>
            <a:endParaRPr lang="en-US" sz="2400" dirty="0"/>
          </a:p>
        </p:txBody>
      </p:sp>
      <p:pic>
        <p:nvPicPr>
          <p:cNvPr id="4" name="Image 0" descr="/home/user/Training-and-Development-PROYECTS/workshop-liderazgo-intergeneracional/src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9646920" y="27432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5B2A8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46920" y="2743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MÓDULO 4 · 45 MIN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188720" y="2194560"/>
            <a:ext cx="9692640" cy="0"/>
          </a:xfrm>
          <a:prstGeom prst="line">
            <a:avLst/>
          </a:prstGeom>
          <a:noFill/>
          <a:ln w="38100">
            <a:solidFill>
              <a:srgbClr val="D6D8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417320" y="1645920"/>
            <a:ext cx="1097280" cy="1097280"/>
          </a:xfrm>
          <a:prstGeom prst="ellipse">
            <a:avLst/>
          </a:prstGeom>
          <a:solidFill>
            <a:srgbClr val="FF8C4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1920240"/>
            <a:ext cx="548640" cy="5486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234440" y="288036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1A1A2E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234440" y="28803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Hoy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34290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Una persona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1520" y="38862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 mi equipo, de otra generación (iniciales)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233672" y="1645920"/>
            <a:ext cx="1097280" cy="1097280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992" y="1920240"/>
            <a:ext cx="548640" cy="54864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4050792" y="288036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1A1A2E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4050792" y="28803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 días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3364992" y="34290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Una conversación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3547872" y="38862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Empiezo con una pregunta, no con una conclusión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7050024" y="1645920"/>
            <a:ext cx="1097280" cy="1097280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4344" y="1920240"/>
            <a:ext cx="548640" cy="54864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867144" y="288036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1A1A2E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6867144" y="28803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30 días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6181344" y="34290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Tres prácticas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6364224" y="38862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Las que marqué como las que más necesito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9866376" y="1645920"/>
            <a:ext cx="1097280" cy="1097280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0696" y="1920240"/>
            <a:ext cx="548640" cy="548640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9683496" y="288036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1A1A2E"/>
          </a:solidFill>
          <a:ln/>
        </p:spPr>
      </p:sp>
      <p:sp>
        <p:nvSpPr>
          <p:cNvPr id="30" name="Text 23"/>
          <p:cNvSpPr txBox="1"/>
          <p:nvPr/>
        </p:nvSpPr>
        <p:spPr>
          <a:xfrm>
            <a:off x="9683496" y="28803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Siempre</a:t>
            </a:r>
            <a:endParaRPr lang="en-US" sz="1000" dirty="0"/>
          </a:p>
        </p:txBody>
      </p:sp>
      <p:sp>
        <p:nvSpPr>
          <p:cNvPr id="31" name="Text 24"/>
          <p:cNvSpPr txBox="1"/>
          <p:nvPr/>
        </p:nvSpPr>
        <p:spPr>
          <a:xfrm>
            <a:off x="8997696" y="34290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 que no negocio</a:t>
            </a:r>
            <a:endParaRPr lang="en-US" sz="1600" dirty="0"/>
          </a:p>
        </p:txBody>
      </p:sp>
      <p:sp>
        <p:nvSpPr>
          <p:cNvPr id="32" name="Text 25"/>
          <p:cNvSpPr txBox="1"/>
          <p:nvPr/>
        </p:nvSpPr>
        <p:spPr>
          <a:xfrm>
            <a:off x="9180576" y="38862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estándar que se mantiene igual</a:t>
            </a:r>
            <a:endParaRPr lang="en-US" sz="1150" dirty="0"/>
          </a:p>
        </p:txBody>
      </p:sp>
      <p:sp>
        <p:nvSpPr>
          <p:cNvPr id="33" name="Shape 26"/>
          <p:cNvSpPr/>
          <p:nvPr/>
        </p:nvSpPr>
        <p:spPr>
          <a:xfrm>
            <a:off x="548640" y="4983480"/>
            <a:ext cx="11109960" cy="1143000"/>
          </a:xfrm>
          <a:prstGeom prst="roundRect">
            <a:avLst>
              <a:gd name="adj" fmla="val 6400"/>
            </a:avLst>
          </a:prstGeom>
          <a:solidFill>
            <a:srgbClr val="F4F5F9"/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822960" y="4983480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min individual en el cuaderno · 5 min lo comparto con un par · A los 30 días: sesión de 60 minutos para compartir qué funcionó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CIERRE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84048" cy="384048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51560" y="1234440"/>
            <a:ext cx="384048" cy="384048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554480" y="1234440"/>
            <a:ext cx="384048" cy="384048"/>
          </a:xfrm>
          <a:prstGeom prst="ellipse">
            <a:avLst/>
          </a:prstGeom>
          <a:solidFill>
            <a:srgbClr val="C8136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5544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57400" y="1234440"/>
            <a:ext cx="384048" cy="384048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05740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178308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Cada generación puede necesitar un trato distinto.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154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Todos cumplimos el mismo estándar.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548640" y="438912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3891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 di cuenta de cómo reacciono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364992" y="438912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547872" y="43891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Vi el impacto en mi equipo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81344" y="438912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64224" y="43891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Entendí lo que valora cada generación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997696" y="438912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80576" y="43891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 llevo prácticas y un plan</a:t>
            </a:r>
            <a:endParaRPr lang="en-US" sz="1250" dirty="0"/>
          </a:p>
        </p:txBody>
      </p:sp>
      <p:pic>
        <p:nvPicPr>
          <p:cNvPr id="21" name="Image 0" descr="/home/user/Training-and-Development-PROYECTS/workshop-liderazgo-intergeneracional/src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ArcelorMittal México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Trabajar con distintas generaciones</dc:title>
  <dc:subject>PptxGenJS Presentation</dc:subject>
  <dc:creator>Gerencia de Capacitación y Desarrollo</dc:creator>
  <cp:lastModifiedBy>Gerencia de Capacitación y Desarrollo</cp:lastModifiedBy>
  <cp:revision>1</cp:revision>
  <dcterms:created xsi:type="dcterms:W3CDTF">2026-09-28T23:24:12Z</dcterms:created>
  <dcterms:modified xsi:type="dcterms:W3CDTF">2026-09-28T23:24:12Z</dcterms:modified>
</cp:coreProperties>
</file>